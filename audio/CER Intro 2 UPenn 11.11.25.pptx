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6"/>
  </p:notesMasterIdLst>
  <p:handoutMasterIdLst>
    <p:handoutMasterId r:id="rId47"/>
  </p:handoutMasterIdLst>
  <p:sldIdLst>
    <p:sldId id="273" r:id="rId2"/>
    <p:sldId id="403" r:id="rId3"/>
    <p:sldId id="402" r:id="rId4"/>
    <p:sldId id="416" r:id="rId5"/>
    <p:sldId id="413" r:id="rId6"/>
    <p:sldId id="426" r:id="rId7"/>
    <p:sldId id="414" r:id="rId8"/>
    <p:sldId id="320" r:id="rId9"/>
    <p:sldId id="321" r:id="rId10"/>
    <p:sldId id="322" r:id="rId11"/>
    <p:sldId id="419" r:id="rId12"/>
    <p:sldId id="417" r:id="rId13"/>
    <p:sldId id="330" r:id="rId14"/>
    <p:sldId id="328" r:id="rId15"/>
    <p:sldId id="420" r:id="rId16"/>
    <p:sldId id="421" r:id="rId17"/>
    <p:sldId id="430" r:id="rId18"/>
    <p:sldId id="326" r:id="rId19"/>
    <p:sldId id="314" r:id="rId20"/>
    <p:sldId id="422" r:id="rId21"/>
    <p:sldId id="434" r:id="rId22"/>
    <p:sldId id="316" r:id="rId23"/>
    <p:sldId id="435" r:id="rId24"/>
    <p:sldId id="436" r:id="rId25"/>
    <p:sldId id="423" r:id="rId26"/>
    <p:sldId id="425" r:id="rId27"/>
    <p:sldId id="427" r:id="rId28"/>
    <p:sldId id="309" r:id="rId29"/>
    <p:sldId id="437" r:id="rId30"/>
    <p:sldId id="338" r:id="rId31"/>
    <p:sldId id="441" r:id="rId32"/>
    <p:sldId id="428" r:id="rId33"/>
    <p:sldId id="439" r:id="rId34"/>
    <p:sldId id="438" r:id="rId35"/>
    <p:sldId id="440" r:id="rId36"/>
    <p:sldId id="429" r:id="rId37"/>
    <p:sldId id="442" r:id="rId38"/>
    <p:sldId id="443" r:id="rId39"/>
    <p:sldId id="444" r:id="rId40"/>
    <p:sldId id="445" r:id="rId41"/>
    <p:sldId id="446" r:id="rId42"/>
    <p:sldId id="448" r:id="rId43"/>
    <p:sldId id="447" r:id="rId44"/>
    <p:sldId id="449"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slide" id="{0146595F-3F14-4A14-B700-AA16C36FC921}">
          <p14:sldIdLst>
            <p14:sldId id="273"/>
          </p14:sldIdLst>
        </p14:section>
        <p14:section name="Title and content" id="{D44DEEB9-BF3B-4945-B1A1-696CBA975282}">
          <p14:sldIdLst>
            <p14:sldId id="403"/>
            <p14:sldId id="402"/>
            <p14:sldId id="416"/>
            <p14:sldId id="413"/>
            <p14:sldId id="426"/>
            <p14:sldId id="414"/>
            <p14:sldId id="320"/>
            <p14:sldId id="321"/>
            <p14:sldId id="322"/>
            <p14:sldId id="419"/>
            <p14:sldId id="417"/>
            <p14:sldId id="330"/>
            <p14:sldId id="328"/>
            <p14:sldId id="420"/>
            <p14:sldId id="421"/>
            <p14:sldId id="430"/>
            <p14:sldId id="326"/>
            <p14:sldId id="314"/>
            <p14:sldId id="422"/>
            <p14:sldId id="434"/>
            <p14:sldId id="316"/>
            <p14:sldId id="435"/>
            <p14:sldId id="436"/>
            <p14:sldId id="423"/>
            <p14:sldId id="425"/>
            <p14:sldId id="427"/>
            <p14:sldId id="309"/>
            <p14:sldId id="437"/>
            <p14:sldId id="338"/>
            <p14:sldId id="441"/>
            <p14:sldId id="428"/>
            <p14:sldId id="439"/>
            <p14:sldId id="438"/>
            <p14:sldId id="440"/>
            <p14:sldId id="429"/>
            <p14:sldId id="442"/>
            <p14:sldId id="443"/>
            <p14:sldId id="444"/>
            <p14:sldId id="445"/>
            <p14:sldId id="446"/>
            <p14:sldId id="448"/>
            <p14:sldId id="447"/>
            <p14:sldId id="449"/>
          </p14:sldIdLst>
        </p14:section>
        <p14:section name="Section slide" id="{10948999-BC23-439A-885F-09186375D593}">
          <p14:sldIdLst/>
        </p14:section>
        <p14:section name="Examples" id="{30A403A5-CD83-48DE-B6FD-687ABAD42FA2}">
          <p14:sldIdLst/>
        </p14:section>
      </p14:sectionLst>
    </p:ext>
    <p:ext uri="{EFAFB233-063F-42B5-8137-9DF3F51BA10A}">
      <p15:sldGuideLst xmlns:p15="http://schemas.microsoft.com/office/powerpoint/2012/main">
        <p15:guide id="1" orient="horz" pos="2160" userDrawn="1">
          <p15:clr>
            <a:srgbClr val="A4A3A4"/>
          </p15:clr>
        </p15:guide>
        <p15:guide id="8" orient="horz" pos="384" userDrawn="1">
          <p15:clr>
            <a:srgbClr val="A4A3A4"/>
          </p15:clr>
        </p15:guide>
        <p15:guide id="9"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3666A"/>
    <a:srgbClr val="B7BF10"/>
    <a:srgbClr val="ED8B00"/>
    <a:srgbClr val="D0D0CE"/>
    <a:srgbClr val="D9291C"/>
    <a:srgbClr val="789D4A"/>
    <a:srgbClr val="F2F3F5"/>
    <a:srgbClr val="F2F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1348" autoAdjust="0"/>
    <p:restoredTop sz="94660"/>
  </p:normalViewPr>
  <p:slideViewPr>
    <p:cSldViewPr snapToGrid="0" snapToObjects="1" showGuides="1">
      <p:cViewPr varScale="1">
        <p:scale>
          <a:sx n="86" d="100"/>
          <a:sy n="86" d="100"/>
        </p:scale>
        <p:origin x="216" y="312"/>
      </p:cViewPr>
      <p:guideLst>
        <p:guide orient="horz" pos="2160"/>
        <p:guide orient="horz" pos="384"/>
        <p:guide pos="3840"/>
      </p:guideLst>
    </p:cSldViewPr>
  </p:slideViewPr>
  <p:notesTextViewPr>
    <p:cViewPr>
      <p:scale>
        <a:sx n="1" d="1"/>
        <a:sy n="1" d="1"/>
      </p:scale>
      <p:origin x="0" y="0"/>
    </p:cViewPr>
  </p:notesTextViewPr>
  <p:sorterViewPr>
    <p:cViewPr>
      <p:scale>
        <a:sx n="1" d="1"/>
        <a:sy n="1" d="1"/>
      </p:scale>
      <p:origin x="0" y="0"/>
    </p:cViewPr>
  </p:sorterViewPr>
  <p:notesViewPr>
    <p:cSldViewPr snapToGrid="0" snapToObjects="1" showGuides="1">
      <p:cViewPr varScale="1">
        <p:scale>
          <a:sx n="76" d="100"/>
          <a:sy n="76" d="100"/>
        </p:scale>
        <p:origin x="3618"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9D8605B-5B6F-4B31-9838-D5EDF844F7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C016663-D0F0-451C-91D5-0CDF4AF4BB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E0B085-296D-45AE-876C-9F07C27735AA}" type="datetimeFigureOut">
              <a:rPr lang="en-US" smtClean="0"/>
              <a:t>11/13/2025</a:t>
            </a:fld>
            <a:endParaRPr lang="en-US"/>
          </a:p>
        </p:txBody>
      </p:sp>
      <p:sp>
        <p:nvSpPr>
          <p:cNvPr id="4" name="Footer Placeholder 3">
            <a:extLst>
              <a:ext uri="{FF2B5EF4-FFF2-40B4-BE49-F238E27FC236}">
                <a16:creationId xmlns:a16="http://schemas.microsoft.com/office/drawing/2014/main" id="{F8F36908-897B-4E09-B71E-4D39C91789E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E0932E9-6FB7-422C-8471-387C03FAE63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EFF145-9B01-45CD-B96E-E96E32A2C062}" type="slidenum">
              <a:rPr lang="en-US" smtClean="0"/>
              <a:t>‹#›</a:t>
            </a:fld>
            <a:endParaRPr lang="en-US"/>
          </a:p>
        </p:txBody>
      </p:sp>
    </p:spTree>
    <p:extLst>
      <p:ext uri="{BB962C8B-B14F-4D97-AF65-F5344CB8AC3E}">
        <p14:creationId xmlns:p14="http://schemas.microsoft.com/office/powerpoint/2010/main" val="12900022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851EB9-7EEB-4378-B3A4-F4B33400F078}" type="datetimeFigureOut">
              <a:rPr lang="en-US" smtClean="0"/>
              <a:t>11/13/2025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51D95E-69F9-40CE-AD62-7F71E8901A1F}" type="slidenum">
              <a:rPr lang="en-US" smtClean="0"/>
              <a:t>‹#›</a:t>
            </a:fld>
            <a:endParaRPr lang="en-US"/>
          </a:p>
        </p:txBody>
      </p:sp>
    </p:spTree>
    <p:extLst>
      <p:ext uri="{BB962C8B-B14F-4D97-AF65-F5344CB8AC3E}">
        <p14:creationId xmlns:p14="http://schemas.microsoft.com/office/powerpoint/2010/main" val="21915975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0638" y="742950"/>
            <a:ext cx="6600825" cy="3713163"/>
          </a:xfrm>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GB" sz="1100" kern="1200" dirty="0">
                <a:solidFill>
                  <a:schemeClr val="tx1"/>
                </a:solidFill>
                <a:effectLst/>
                <a:latin typeface="+mn-lt"/>
                <a:ea typeface="+mn-ea"/>
                <a:cs typeface="+mn-cs"/>
              </a:rPr>
              <a:t>Before we consider individual factors affecting </a:t>
            </a:r>
            <a:r>
              <a:rPr lang="hr-HR" sz="1100" kern="1200" dirty="0" err="1">
                <a:solidFill>
                  <a:schemeClr val="tx1"/>
                </a:solidFill>
                <a:effectLst/>
                <a:latin typeface="+mn-lt"/>
                <a:ea typeface="+mn-ea"/>
                <a:cs typeface="+mn-cs"/>
              </a:rPr>
              <a:t>certainty</a:t>
            </a:r>
            <a:r>
              <a:rPr lang="en-GB" sz="1100" kern="1200" dirty="0">
                <a:solidFill>
                  <a:schemeClr val="tx1"/>
                </a:solidFill>
                <a:effectLst/>
                <a:latin typeface="+mn-lt"/>
                <a:ea typeface="+mn-ea"/>
                <a:cs typeface="+mn-cs"/>
              </a:rPr>
              <a:t> of evidence, it’s useful to get a picture of </a:t>
            </a:r>
            <a:r>
              <a:rPr lang="hr-HR" sz="1100" kern="1200" dirty="0">
                <a:solidFill>
                  <a:schemeClr val="tx1"/>
                </a:solidFill>
                <a:effectLst/>
                <a:latin typeface="+mn-lt"/>
                <a:ea typeface="+mn-ea"/>
                <a:cs typeface="+mn-cs"/>
              </a:rPr>
              <a:t>l</a:t>
            </a:r>
            <a:r>
              <a:rPr lang="en-GB" sz="1100" kern="1200" dirty="0" err="1">
                <a:solidFill>
                  <a:schemeClr val="tx1"/>
                </a:solidFill>
                <a:effectLst/>
                <a:latin typeface="+mn-lt"/>
                <a:ea typeface="+mn-ea"/>
                <a:cs typeface="+mn-cs"/>
              </a:rPr>
              <a:t>evels</a:t>
            </a:r>
            <a:r>
              <a:rPr lang="hr-HR" sz="1100" kern="1200" dirty="0">
                <a:solidFill>
                  <a:schemeClr val="tx1"/>
                </a:solidFill>
                <a:effectLst/>
                <a:latin typeface="+mn-lt"/>
                <a:ea typeface="+mn-ea"/>
                <a:cs typeface="+mn-cs"/>
              </a:rPr>
              <a:t> </a:t>
            </a:r>
            <a:r>
              <a:rPr lang="en-GB" sz="1100" kern="1200" dirty="0">
                <a:solidFill>
                  <a:schemeClr val="tx1"/>
                </a:solidFill>
                <a:effectLst/>
                <a:latin typeface="+mn-lt"/>
                <a:ea typeface="+mn-ea"/>
                <a:cs typeface="+mn-cs"/>
              </a:rPr>
              <a:t>used in the GRADE approach. </a:t>
            </a:r>
            <a:r>
              <a:rPr lang="hr-HR" sz="1100" kern="1200" dirty="0" err="1">
                <a:solidFill>
                  <a:schemeClr val="tx1"/>
                </a:solidFill>
                <a:effectLst/>
                <a:latin typeface="+mn-lt"/>
                <a:ea typeface="+mn-ea"/>
                <a:cs typeface="+mn-cs"/>
              </a:rPr>
              <a:t>Certainty</a:t>
            </a:r>
            <a:r>
              <a:rPr lang="en-GB" sz="1100" kern="1200" dirty="0">
                <a:solidFill>
                  <a:schemeClr val="tx1"/>
                </a:solidFill>
                <a:effectLst/>
                <a:latin typeface="+mn-lt"/>
                <a:ea typeface="+mn-ea"/>
                <a:cs typeface="+mn-cs"/>
              </a:rPr>
              <a:t> of evidence can be high, moderate, low, or very low. Each of these levels are defined in terms of our confidence in the effect estimate and how likely the true effect is close to this estimate. GRADE levels of </a:t>
            </a:r>
            <a:r>
              <a:rPr lang="hr-HR" sz="1100" kern="1200" dirty="0" err="1">
                <a:solidFill>
                  <a:schemeClr val="tx1"/>
                </a:solidFill>
                <a:effectLst/>
                <a:latin typeface="+mn-lt"/>
                <a:ea typeface="+mn-ea"/>
                <a:cs typeface="+mn-cs"/>
              </a:rPr>
              <a:t>certainty</a:t>
            </a:r>
            <a:r>
              <a:rPr lang="en-GB" sz="1100" kern="1200" dirty="0">
                <a:solidFill>
                  <a:schemeClr val="tx1"/>
                </a:solidFill>
                <a:effectLst/>
                <a:latin typeface="+mn-lt"/>
                <a:ea typeface="+mn-ea"/>
                <a:cs typeface="+mn-cs"/>
              </a:rPr>
              <a:t> are visually represented by up to four pluses in small circles.</a:t>
            </a:r>
            <a:endParaRPr lang="hr-HR" sz="11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09ADD07-56E6-4612-A1A4-3917AC46D163}" type="slidenum">
              <a:rPr lang="en-US" altLang="x-none" smtClean="0"/>
              <a:pPr/>
              <a:t>19</a:t>
            </a:fld>
            <a:endParaRPr lang="en-US" altLang="x-none"/>
          </a:p>
        </p:txBody>
      </p:sp>
    </p:spTree>
    <p:extLst>
      <p:ext uri="{BB962C8B-B14F-4D97-AF65-F5344CB8AC3E}">
        <p14:creationId xmlns:p14="http://schemas.microsoft.com/office/powerpoint/2010/main" val="4176152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Image Placeholder 1"/>
          <p:cNvSpPr>
            <a:spLocks noGrp="1" noRot="1" noChangeAspect="1" noTextEdit="1"/>
          </p:cNvSpPr>
          <p:nvPr>
            <p:ph type="sldImg"/>
          </p:nvPr>
        </p:nvSpPr>
        <p:spPr>
          <a:xfrm>
            <a:off x="20638" y="742950"/>
            <a:ext cx="6600825" cy="3713163"/>
          </a:xfrm>
          <a:ln/>
        </p:spPr>
      </p:sp>
      <p:sp>
        <p:nvSpPr>
          <p:cNvPr id="3072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sz="1100" kern="1200" dirty="0">
                <a:solidFill>
                  <a:schemeClr val="tx1"/>
                </a:solidFill>
                <a:effectLst/>
                <a:latin typeface="+mn-lt"/>
                <a:ea typeface="+mn-ea"/>
                <a:cs typeface="+mn-cs"/>
              </a:rPr>
              <a:t>There are five factors that can lead to downgrading the level of evidence provided by randomized trials:</a:t>
            </a:r>
            <a:endParaRPr lang="hr-HR" sz="1100" kern="1200" dirty="0">
              <a:solidFill>
                <a:schemeClr val="tx1"/>
              </a:solidFill>
              <a:effectLst/>
              <a:latin typeface="+mn-lt"/>
              <a:ea typeface="+mn-ea"/>
              <a:cs typeface="+mn-cs"/>
            </a:endParaRPr>
          </a:p>
          <a:p>
            <a:pPr lvl="0"/>
            <a:r>
              <a:rPr lang="en-AU" sz="1100" kern="1200" dirty="0">
                <a:solidFill>
                  <a:schemeClr val="tx1"/>
                </a:solidFill>
                <a:effectLst/>
                <a:latin typeface="+mn-lt"/>
                <a:ea typeface="+mn-ea"/>
                <a:cs typeface="+mn-cs"/>
              </a:rPr>
              <a:t>Risk of bias – were the studies valid, and likely to produce an accurate estimate of the ‘true’ effect?</a:t>
            </a:r>
            <a:endParaRPr lang="hr-HR" sz="1100" kern="1200" dirty="0">
              <a:solidFill>
                <a:schemeClr val="tx1"/>
              </a:solidFill>
              <a:effectLst/>
              <a:latin typeface="+mn-lt"/>
              <a:ea typeface="+mn-ea"/>
              <a:cs typeface="+mn-cs"/>
            </a:endParaRPr>
          </a:p>
          <a:p>
            <a:pPr lvl="0"/>
            <a:r>
              <a:rPr lang="en-AU" sz="1100" kern="1200" dirty="0">
                <a:solidFill>
                  <a:schemeClr val="tx1"/>
                </a:solidFill>
                <a:effectLst/>
                <a:latin typeface="+mn-lt"/>
                <a:ea typeface="+mn-ea"/>
                <a:cs typeface="+mn-cs"/>
              </a:rPr>
              <a:t>Inconsistency – how consistent were the results across studies?</a:t>
            </a:r>
            <a:endParaRPr lang="hr-HR" sz="1100" kern="1200" dirty="0">
              <a:solidFill>
                <a:schemeClr val="tx1"/>
              </a:solidFill>
              <a:effectLst/>
              <a:latin typeface="+mn-lt"/>
              <a:ea typeface="+mn-ea"/>
              <a:cs typeface="+mn-cs"/>
            </a:endParaRPr>
          </a:p>
          <a:p>
            <a:pPr lvl="0"/>
            <a:r>
              <a:rPr lang="en-AU" sz="1100" kern="1200" dirty="0">
                <a:solidFill>
                  <a:schemeClr val="tx1"/>
                </a:solidFill>
                <a:effectLst/>
                <a:latin typeface="+mn-lt"/>
                <a:ea typeface="+mn-ea"/>
                <a:cs typeface="+mn-cs"/>
              </a:rPr>
              <a:t>Imprecision – how wide were the confidence intervals? Can we be confident that the true effect occurs in only one particular direction?</a:t>
            </a:r>
            <a:endParaRPr lang="hr-HR" sz="11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sz="1100" kern="1200" dirty="0">
                <a:solidFill>
                  <a:schemeClr val="tx1"/>
                </a:solidFill>
                <a:effectLst/>
                <a:latin typeface="Source Sans Pro" pitchFamily="34" charset="0"/>
                <a:ea typeface="+mn-ea"/>
                <a:cs typeface="Arial" panose="020B0604020202020204" pitchFamily="34" charset="0"/>
              </a:rPr>
              <a:t>Indirectness – do the characteristics of the included studies directly match our review question, in terms of patients and setting, intervention, or outcomes measured?</a:t>
            </a:r>
            <a:endParaRPr lang="hr-HR" sz="1100" kern="1200" dirty="0">
              <a:solidFill>
                <a:schemeClr val="tx1"/>
              </a:solidFill>
              <a:effectLst/>
              <a:latin typeface="Source Sans Pro" pitchFamily="34" charset="0"/>
              <a:ea typeface="+mn-ea"/>
              <a:cs typeface="Arial" panose="020B0604020202020204" pitchFamily="34" charset="0"/>
            </a:endParaRPr>
          </a:p>
          <a:p>
            <a:pPr lvl="0"/>
            <a:r>
              <a:rPr lang="en-AU" sz="1100" kern="1200" dirty="0">
                <a:solidFill>
                  <a:schemeClr val="tx1"/>
                </a:solidFill>
                <a:effectLst/>
                <a:latin typeface="+mn-lt"/>
                <a:ea typeface="+mn-ea"/>
                <a:cs typeface="+mn-cs"/>
              </a:rPr>
              <a:t>Publication bias – do we think we have found all the studies addressing this particular question?</a:t>
            </a:r>
            <a:endParaRPr lang="hr-HR" sz="11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hr-HR" sz="1100" kern="1200" dirty="0" err="1">
                <a:solidFill>
                  <a:schemeClr val="tx1"/>
                </a:solidFill>
                <a:effectLst/>
                <a:latin typeface="+mn-lt"/>
                <a:ea typeface="+mn-ea"/>
                <a:cs typeface="+mn-cs"/>
              </a:rPr>
              <a:t>If</a:t>
            </a:r>
            <a:r>
              <a:rPr lang="hr-HR" sz="1100" kern="1200" dirty="0">
                <a:solidFill>
                  <a:schemeClr val="tx1"/>
                </a:solidFill>
                <a:effectLst/>
                <a:latin typeface="+mn-lt"/>
                <a:ea typeface="+mn-ea"/>
                <a:cs typeface="+mn-cs"/>
              </a:rPr>
              <a:t> </a:t>
            </a:r>
            <a:r>
              <a:rPr lang="hr-HR" sz="1100" kern="1200" dirty="0" err="1">
                <a:solidFill>
                  <a:schemeClr val="tx1"/>
                </a:solidFill>
                <a:effectLst/>
                <a:latin typeface="+mn-lt"/>
                <a:ea typeface="+mn-ea"/>
                <a:cs typeface="+mn-cs"/>
              </a:rPr>
              <a:t>there</a:t>
            </a:r>
            <a:r>
              <a:rPr lang="hr-HR" sz="1100" kern="1200" dirty="0">
                <a:solidFill>
                  <a:schemeClr val="tx1"/>
                </a:solidFill>
                <a:effectLst/>
                <a:latin typeface="+mn-lt"/>
                <a:ea typeface="+mn-ea"/>
                <a:cs typeface="+mn-cs"/>
              </a:rPr>
              <a:t> are </a:t>
            </a:r>
            <a:r>
              <a:rPr lang="hr-HR" sz="1100" kern="1200" dirty="0" err="1">
                <a:solidFill>
                  <a:schemeClr val="tx1"/>
                </a:solidFill>
                <a:effectLst/>
                <a:latin typeface="+mn-lt"/>
                <a:ea typeface="+mn-ea"/>
                <a:cs typeface="+mn-cs"/>
              </a:rPr>
              <a:t>concerns</a:t>
            </a:r>
            <a:r>
              <a:rPr lang="hr-HR" sz="1100" kern="1200" dirty="0">
                <a:solidFill>
                  <a:schemeClr val="tx1"/>
                </a:solidFill>
                <a:effectLst/>
                <a:latin typeface="+mn-lt"/>
                <a:ea typeface="+mn-ea"/>
                <a:cs typeface="+mn-cs"/>
              </a:rPr>
              <a:t> </a:t>
            </a:r>
            <a:r>
              <a:rPr lang="hr-HR" sz="1100" kern="1200" dirty="0" err="1">
                <a:solidFill>
                  <a:schemeClr val="tx1"/>
                </a:solidFill>
                <a:effectLst/>
                <a:latin typeface="+mn-lt"/>
                <a:ea typeface="+mn-ea"/>
                <a:cs typeface="+mn-cs"/>
              </a:rPr>
              <a:t>around</a:t>
            </a:r>
            <a:r>
              <a:rPr lang="hr-HR" sz="1100" kern="1200" dirty="0">
                <a:solidFill>
                  <a:schemeClr val="tx1"/>
                </a:solidFill>
                <a:effectLst/>
                <a:latin typeface="+mn-lt"/>
                <a:ea typeface="+mn-ea"/>
                <a:cs typeface="+mn-cs"/>
              </a:rPr>
              <a:t> </a:t>
            </a:r>
            <a:r>
              <a:rPr lang="hr-HR" sz="1100" kern="1200" dirty="0" err="1">
                <a:solidFill>
                  <a:schemeClr val="tx1"/>
                </a:solidFill>
                <a:effectLst/>
                <a:latin typeface="+mn-lt"/>
                <a:ea typeface="+mn-ea"/>
                <a:cs typeface="+mn-cs"/>
              </a:rPr>
              <a:t>any</a:t>
            </a:r>
            <a:r>
              <a:rPr lang="hr-HR" sz="1100" kern="1200" dirty="0">
                <a:solidFill>
                  <a:schemeClr val="tx1"/>
                </a:solidFill>
                <a:effectLst/>
                <a:latin typeface="+mn-lt"/>
                <a:ea typeface="+mn-ea"/>
                <a:cs typeface="+mn-cs"/>
              </a:rPr>
              <a:t> of </a:t>
            </a:r>
            <a:r>
              <a:rPr lang="hr-HR" sz="1100" kern="1200" dirty="0" err="1">
                <a:solidFill>
                  <a:schemeClr val="tx1"/>
                </a:solidFill>
                <a:effectLst/>
                <a:latin typeface="+mn-lt"/>
                <a:ea typeface="+mn-ea"/>
                <a:cs typeface="+mn-cs"/>
              </a:rPr>
              <a:t>these</a:t>
            </a:r>
            <a:r>
              <a:rPr lang="hr-HR" sz="1100" kern="1200" dirty="0">
                <a:solidFill>
                  <a:schemeClr val="tx1"/>
                </a:solidFill>
                <a:effectLst/>
                <a:latin typeface="+mn-lt"/>
                <a:ea typeface="+mn-ea"/>
                <a:cs typeface="+mn-cs"/>
              </a:rPr>
              <a:t> </a:t>
            </a:r>
            <a:r>
              <a:rPr lang="hr-HR" sz="1100" kern="1200" dirty="0" err="1">
                <a:solidFill>
                  <a:schemeClr val="tx1"/>
                </a:solidFill>
                <a:effectLst/>
                <a:latin typeface="+mn-lt"/>
                <a:ea typeface="+mn-ea"/>
                <a:cs typeface="+mn-cs"/>
              </a:rPr>
              <a:t>factors</a:t>
            </a:r>
            <a:r>
              <a:rPr lang="hr-HR" sz="1100" kern="1200" dirty="0">
                <a:solidFill>
                  <a:schemeClr val="tx1"/>
                </a:solidFill>
                <a:effectLst/>
                <a:latin typeface="+mn-lt"/>
                <a:ea typeface="+mn-ea"/>
                <a:cs typeface="+mn-cs"/>
              </a:rPr>
              <a:t>, </a:t>
            </a:r>
            <a:r>
              <a:rPr lang="hr-HR" sz="1100" kern="1200" dirty="0" err="1">
                <a:solidFill>
                  <a:schemeClr val="tx1"/>
                </a:solidFill>
                <a:effectLst/>
                <a:latin typeface="+mn-lt"/>
                <a:ea typeface="+mn-ea"/>
                <a:cs typeface="+mn-cs"/>
              </a:rPr>
              <a:t>the</a:t>
            </a:r>
            <a:r>
              <a:rPr lang="hr-HR" sz="1100" kern="1200" dirty="0">
                <a:solidFill>
                  <a:schemeClr val="tx1"/>
                </a:solidFill>
                <a:effectLst/>
                <a:latin typeface="+mn-lt"/>
                <a:ea typeface="+mn-ea"/>
                <a:cs typeface="+mn-cs"/>
              </a:rPr>
              <a:t> </a:t>
            </a:r>
            <a:r>
              <a:rPr lang="hr-HR" sz="1100" kern="1200" dirty="0" err="1">
                <a:solidFill>
                  <a:schemeClr val="tx1"/>
                </a:solidFill>
                <a:effectLst/>
                <a:latin typeface="+mn-lt"/>
                <a:ea typeface="+mn-ea"/>
                <a:cs typeface="+mn-cs"/>
              </a:rPr>
              <a:t>level</a:t>
            </a:r>
            <a:r>
              <a:rPr lang="hr-HR" sz="1100" kern="1200" dirty="0">
                <a:solidFill>
                  <a:schemeClr val="tx1"/>
                </a:solidFill>
                <a:effectLst/>
                <a:latin typeface="+mn-lt"/>
                <a:ea typeface="+mn-ea"/>
                <a:cs typeface="+mn-cs"/>
              </a:rPr>
              <a:t> of </a:t>
            </a:r>
            <a:r>
              <a:rPr lang="hr-HR" sz="1100" kern="1200" dirty="0" err="1">
                <a:solidFill>
                  <a:schemeClr val="tx1"/>
                </a:solidFill>
                <a:effectLst/>
                <a:latin typeface="+mn-lt"/>
                <a:ea typeface="+mn-ea"/>
                <a:cs typeface="+mn-cs"/>
              </a:rPr>
              <a:t>evidence</a:t>
            </a:r>
            <a:r>
              <a:rPr lang="hr-HR" sz="1100" kern="1200" dirty="0">
                <a:solidFill>
                  <a:schemeClr val="tx1"/>
                </a:solidFill>
                <a:effectLst/>
                <a:latin typeface="+mn-lt"/>
                <a:ea typeface="+mn-ea"/>
                <a:cs typeface="+mn-cs"/>
              </a:rPr>
              <a:t> </a:t>
            </a:r>
            <a:r>
              <a:rPr lang="hr-HR" sz="1100" kern="1200" dirty="0" err="1">
                <a:solidFill>
                  <a:schemeClr val="tx1"/>
                </a:solidFill>
                <a:effectLst/>
                <a:latin typeface="+mn-lt"/>
                <a:ea typeface="+mn-ea"/>
                <a:cs typeface="+mn-cs"/>
              </a:rPr>
              <a:t>will</a:t>
            </a:r>
            <a:r>
              <a:rPr lang="hr-HR" sz="1100" kern="1200" dirty="0">
                <a:solidFill>
                  <a:schemeClr val="tx1"/>
                </a:solidFill>
                <a:effectLst/>
                <a:latin typeface="+mn-lt"/>
                <a:ea typeface="+mn-ea"/>
                <a:cs typeface="+mn-cs"/>
              </a:rPr>
              <a:t> </a:t>
            </a:r>
            <a:r>
              <a:rPr lang="hr-HR" sz="1100" kern="1200" dirty="0" err="1">
                <a:solidFill>
                  <a:schemeClr val="tx1"/>
                </a:solidFill>
                <a:effectLst/>
                <a:latin typeface="+mn-lt"/>
                <a:ea typeface="+mn-ea"/>
                <a:cs typeface="+mn-cs"/>
              </a:rPr>
              <a:t>go</a:t>
            </a:r>
            <a:r>
              <a:rPr lang="hr-HR" sz="1100" kern="1200" dirty="0">
                <a:solidFill>
                  <a:schemeClr val="tx1"/>
                </a:solidFill>
                <a:effectLst/>
                <a:latin typeface="+mn-lt"/>
                <a:ea typeface="+mn-ea"/>
                <a:cs typeface="+mn-cs"/>
              </a:rPr>
              <a:t> </a:t>
            </a:r>
            <a:r>
              <a:rPr lang="hr-HR" sz="1100" kern="1200" dirty="0" err="1">
                <a:solidFill>
                  <a:schemeClr val="tx1"/>
                </a:solidFill>
                <a:effectLst/>
                <a:latin typeface="+mn-lt"/>
                <a:ea typeface="+mn-ea"/>
                <a:cs typeface="+mn-cs"/>
              </a:rPr>
              <a:t>down</a:t>
            </a:r>
            <a:r>
              <a:rPr lang="hr-HR" sz="1100" kern="1200" dirty="0">
                <a:solidFill>
                  <a:schemeClr val="tx1"/>
                </a:solidFill>
                <a:effectLst/>
                <a:latin typeface="+mn-lt"/>
                <a:ea typeface="+mn-ea"/>
                <a:cs typeface="+mn-cs"/>
              </a:rPr>
              <a:t>.</a:t>
            </a:r>
            <a:endParaRPr lang="en-US" altLang="en-US" dirty="0"/>
          </a:p>
        </p:txBody>
      </p:sp>
      <p:sp>
        <p:nvSpPr>
          <p:cNvPr id="3072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100">
                <a:solidFill>
                  <a:schemeClr val="tx1"/>
                </a:solidFill>
                <a:latin typeface="Calibri" panose="020F0502020204030204" pitchFamily="34" charset="0"/>
              </a:defRPr>
            </a:lvl1pPr>
            <a:lvl2pPr marL="742950" indent="-285750" eaLnBrk="0" hangingPunct="0">
              <a:spcBef>
                <a:spcPct val="30000"/>
              </a:spcBef>
              <a:defRPr sz="1100">
                <a:solidFill>
                  <a:schemeClr val="tx1"/>
                </a:solidFill>
                <a:latin typeface="Calibri" panose="020F0502020204030204" pitchFamily="34" charset="0"/>
              </a:defRPr>
            </a:lvl2pPr>
            <a:lvl3pPr marL="1143000" indent="-228600" eaLnBrk="0" hangingPunct="0">
              <a:spcBef>
                <a:spcPct val="30000"/>
              </a:spcBef>
              <a:defRPr sz="1100">
                <a:solidFill>
                  <a:schemeClr val="tx1"/>
                </a:solidFill>
                <a:latin typeface="Calibri" panose="020F0502020204030204" pitchFamily="34" charset="0"/>
              </a:defRPr>
            </a:lvl3pPr>
            <a:lvl4pPr marL="1600200" indent="-228600" eaLnBrk="0" hangingPunct="0">
              <a:spcBef>
                <a:spcPct val="30000"/>
              </a:spcBef>
              <a:defRPr sz="1100">
                <a:solidFill>
                  <a:schemeClr val="tx1"/>
                </a:solidFill>
                <a:latin typeface="Calibri" panose="020F0502020204030204" pitchFamily="34" charset="0"/>
              </a:defRPr>
            </a:lvl4pPr>
            <a:lvl5pPr marL="2057400" indent="-228600" eaLnBrk="0" hangingPunct="0">
              <a:spcBef>
                <a:spcPct val="30000"/>
              </a:spcBef>
              <a:defRPr sz="1100">
                <a:solidFill>
                  <a:schemeClr val="tx1"/>
                </a:solidFill>
                <a:latin typeface="Calibri" panose="020F0502020204030204" pitchFamily="34" charset="0"/>
              </a:defRPr>
            </a:lvl5pPr>
            <a:lvl6pPr marL="2514600" indent="-228600" eaLnBrk="0" fontAlgn="base" hangingPunct="0">
              <a:spcBef>
                <a:spcPct val="30000"/>
              </a:spcBef>
              <a:spcAft>
                <a:spcPct val="0"/>
              </a:spcAft>
              <a:defRPr sz="1100">
                <a:solidFill>
                  <a:schemeClr val="tx1"/>
                </a:solidFill>
                <a:latin typeface="Calibri" panose="020F0502020204030204" pitchFamily="34" charset="0"/>
              </a:defRPr>
            </a:lvl6pPr>
            <a:lvl7pPr marL="2971800" indent="-228600" eaLnBrk="0" fontAlgn="base" hangingPunct="0">
              <a:spcBef>
                <a:spcPct val="30000"/>
              </a:spcBef>
              <a:spcAft>
                <a:spcPct val="0"/>
              </a:spcAft>
              <a:defRPr sz="1100">
                <a:solidFill>
                  <a:schemeClr val="tx1"/>
                </a:solidFill>
                <a:latin typeface="Calibri" panose="020F0502020204030204" pitchFamily="34" charset="0"/>
              </a:defRPr>
            </a:lvl7pPr>
            <a:lvl8pPr marL="3429000" indent="-228600" eaLnBrk="0" fontAlgn="base" hangingPunct="0">
              <a:spcBef>
                <a:spcPct val="30000"/>
              </a:spcBef>
              <a:spcAft>
                <a:spcPct val="0"/>
              </a:spcAft>
              <a:defRPr sz="1100">
                <a:solidFill>
                  <a:schemeClr val="tx1"/>
                </a:solidFill>
                <a:latin typeface="Calibri" panose="020F0502020204030204" pitchFamily="34" charset="0"/>
              </a:defRPr>
            </a:lvl8pPr>
            <a:lvl9pPr marL="3886200" indent="-228600" eaLnBrk="0" fontAlgn="base" hangingPunct="0">
              <a:spcBef>
                <a:spcPct val="30000"/>
              </a:spcBef>
              <a:spcAft>
                <a:spcPct val="0"/>
              </a:spcAft>
              <a:defRPr sz="1100">
                <a:solidFill>
                  <a:schemeClr val="tx1"/>
                </a:solidFill>
                <a:latin typeface="Calibri" panose="020F0502020204030204" pitchFamily="34" charset="0"/>
              </a:defRPr>
            </a:lvl9pPr>
          </a:lstStyle>
          <a:p>
            <a:pPr eaLnBrk="1" hangingPunct="1">
              <a:spcBef>
                <a:spcPct val="0"/>
              </a:spcBef>
            </a:pPr>
            <a:fld id="{4D382A77-E9F0-4F8F-B764-3DC494DF10F6}" type="slidenum">
              <a:rPr lang="en-US" altLang="en-US" sz="1200">
                <a:latin typeface="Times New Roman" panose="02020603050405020304" pitchFamily="18" charset="0"/>
              </a:rPr>
              <a:pPr eaLnBrk="1" hangingPunct="1">
                <a:spcBef>
                  <a:spcPct val="0"/>
                </a:spcBef>
              </a:pPr>
              <a:t>22</a:t>
            </a:fld>
            <a:endParaRPr lang="en-US" altLang="en-US" sz="1200">
              <a:latin typeface="Times New Roman" panose="02020603050405020304" pitchFamily="18" charset="0"/>
            </a:endParaRPr>
          </a:p>
        </p:txBody>
      </p:sp>
    </p:spTree>
    <p:extLst>
      <p:ext uri="{BB962C8B-B14F-4D97-AF65-F5344CB8AC3E}">
        <p14:creationId xmlns:p14="http://schemas.microsoft.com/office/powerpoint/2010/main" val="26159723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5.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7.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5_Title Slid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585A2-0490-4450-B037-A22B18789379}"/>
              </a:ext>
            </a:extLst>
          </p:cNvPr>
          <p:cNvSpPr>
            <a:spLocks noGrp="1"/>
          </p:cNvSpPr>
          <p:nvPr>
            <p:ph type="ctrTitle"/>
          </p:nvPr>
        </p:nvSpPr>
        <p:spPr>
          <a:xfrm>
            <a:off x="647698" y="4315155"/>
            <a:ext cx="10847615" cy="1106712"/>
          </a:xfrm>
        </p:spPr>
        <p:txBody>
          <a:bodyPr lIns="0" tIns="0" rIns="0" bIns="0" anchor="b">
            <a:normAutofit/>
          </a:bodyPr>
          <a:lstStyle>
            <a:lvl1pPr algn="l">
              <a:lnSpc>
                <a:spcPct val="90000"/>
              </a:lnSpc>
              <a:defRPr sz="32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9752678-3BD8-4A49-A021-F97DB6338E82}"/>
              </a:ext>
            </a:extLst>
          </p:cNvPr>
          <p:cNvSpPr>
            <a:spLocks noGrp="1"/>
          </p:cNvSpPr>
          <p:nvPr>
            <p:ph type="subTitle" idx="1"/>
          </p:nvPr>
        </p:nvSpPr>
        <p:spPr>
          <a:xfrm>
            <a:off x="647700" y="5543029"/>
            <a:ext cx="10847613" cy="826533"/>
          </a:xfrm>
        </p:spPr>
        <p:txBody>
          <a:bodyPr lIns="0" tIns="0" rIns="0" bIns="0">
            <a:normAutofit/>
          </a:bodyPr>
          <a:lstStyle>
            <a:lvl1pPr marL="0" indent="0" algn="l">
              <a:spcBef>
                <a:spcPts val="0"/>
              </a:spcBef>
              <a:buNone/>
              <a:defRPr sz="2400" b="0" i="1">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3" name="Group 12">
            <a:extLst>
              <a:ext uri="{FF2B5EF4-FFF2-40B4-BE49-F238E27FC236}">
                <a16:creationId xmlns:a16="http://schemas.microsoft.com/office/drawing/2014/main" id="{F2EA2F17-B7CD-4084-893F-EE3EC70063AB}"/>
              </a:ext>
            </a:extLst>
          </p:cNvPr>
          <p:cNvGrpSpPr/>
          <p:nvPr userDrawn="1"/>
        </p:nvGrpSpPr>
        <p:grpSpPr>
          <a:xfrm>
            <a:off x="0" y="4133850"/>
            <a:ext cx="12192000" cy="181305"/>
            <a:chOff x="0" y="3263491"/>
            <a:chExt cx="12192000" cy="271279"/>
          </a:xfrm>
        </p:grpSpPr>
        <p:sp>
          <p:nvSpPr>
            <p:cNvPr id="14" name="Rectangle 13">
              <a:extLst>
                <a:ext uri="{FF2B5EF4-FFF2-40B4-BE49-F238E27FC236}">
                  <a16:creationId xmlns:a16="http://schemas.microsoft.com/office/drawing/2014/main" id="{89C0B2E5-B222-47C8-9E52-6297E69B5543}"/>
                </a:ext>
              </a:extLst>
            </p:cNvPr>
            <p:cNvSpPr/>
            <p:nvPr userDrawn="1"/>
          </p:nvSpPr>
          <p:spPr>
            <a:xfrm>
              <a:off x="0" y="3263491"/>
              <a:ext cx="3048000" cy="27127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6" name="Rectangle 15">
              <a:extLst>
                <a:ext uri="{FF2B5EF4-FFF2-40B4-BE49-F238E27FC236}">
                  <a16:creationId xmlns:a16="http://schemas.microsoft.com/office/drawing/2014/main" id="{7EA6E5C6-8269-4F31-A17F-934BEBB755E5}"/>
                </a:ext>
              </a:extLst>
            </p:cNvPr>
            <p:cNvSpPr/>
            <p:nvPr userDrawn="1"/>
          </p:nvSpPr>
          <p:spPr>
            <a:xfrm>
              <a:off x="3048000" y="3263491"/>
              <a:ext cx="3048000" cy="27127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8" name="Rectangle 17">
              <a:extLst>
                <a:ext uri="{FF2B5EF4-FFF2-40B4-BE49-F238E27FC236}">
                  <a16:creationId xmlns:a16="http://schemas.microsoft.com/office/drawing/2014/main" id="{AE315943-AC3A-4572-AD89-E10ADEE3E565}"/>
                </a:ext>
              </a:extLst>
            </p:cNvPr>
            <p:cNvSpPr/>
            <p:nvPr userDrawn="1"/>
          </p:nvSpPr>
          <p:spPr>
            <a:xfrm>
              <a:off x="6096000" y="3263491"/>
              <a:ext cx="3048000" cy="27127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9" name="Rectangle 18">
              <a:extLst>
                <a:ext uri="{FF2B5EF4-FFF2-40B4-BE49-F238E27FC236}">
                  <a16:creationId xmlns:a16="http://schemas.microsoft.com/office/drawing/2014/main" id="{DCDE42B7-A36C-43B4-898F-73E73261C1FD}"/>
                </a:ext>
              </a:extLst>
            </p:cNvPr>
            <p:cNvSpPr/>
            <p:nvPr userDrawn="1"/>
          </p:nvSpPr>
          <p:spPr>
            <a:xfrm>
              <a:off x="9144000" y="3263491"/>
              <a:ext cx="3048000" cy="2712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grpSp>
      <p:sp>
        <p:nvSpPr>
          <p:cNvPr id="5" name="Picture Placeholder 4">
            <a:extLst>
              <a:ext uri="{FF2B5EF4-FFF2-40B4-BE49-F238E27FC236}">
                <a16:creationId xmlns:a16="http://schemas.microsoft.com/office/drawing/2014/main" id="{F4AD8662-8725-4D2F-959C-39E0C65ECED1}"/>
              </a:ext>
            </a:extLst>
          </p:cNvPr>
          <p:cNvSpPr>
            <a:spLocks noGrp="1"/>
          </p:cNvSpPr>
          <p:nvPr>
            <p:ph type="pic" sz="quarter" idx="10"/>
          </p:nvPr>
        </p:nvSpPr>
        <p:spPr>
          <a:xfrm>
            <a:off x="6096000" y="0"/>
            <a:ext cx="6096000" cy="4133850"/>
          </a:xfrm>
          <a:solidFill>
            <a:schemeClr val="bg1">
              <a:lumMod val="75000"/>
            </a:schemeClr>
          </a:solidFill>
          <a:ln>
            <a:noFill/>
          </a:ln>
        </p:spPr>
        <p:txBody>
          <a:bodyPr anchor="ctr"/>
          <a:lstStyle>
            <a:lvl1pPr algn="ctr">
              <a:defRPr/>
            </a:lvl1pPr>
          </a:lstStyle>
          <a:p>
            <a:r>
              <a:rPr lang="en-US"/>
              <a:t>Click icon to add picture</a:t>
            </a:r>
            <a:endParaRPr lang="en-US" dirty="0"/>
          </a:p>
        </p:txBody>
      </p:sp>
      <p:pic>
        <p:nvPicPr>
          <p:cNvPr id="15" name="Picture 14" descr="A close up of a logo&#10;&#10;Description automatically generated">
            <a:extLst>
              <a:ext uri="{FF2B5EF4-FFF2-40B4-BE49-F238E27FC236}">
                <a16:creationId xmlns:a16="http://schemas.microsoft.com/office/drawing/2014/main" id="{E2B0FA23-FBBA-4EC6-B18D-9AC3B13F620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1229" y="1182718"/>
            <a:ext cx="2808051" cy="1360186"/>
          </a:xfrm>
          <a:prstGeom prst="rect">
            <a:avLst/>
          </a:prstGeom>
        </p:spPr>
      </p:pic>
    </p:spTree>
    <p:extLst>
      <p:ext uri="{BB962C8B-B14F-4D97-AF65-F5344CB8AC3E}">
        <p14:creationId xmlns:p14="http://schemas.microsoft.com/office/powerpoint/2010/main" val="119771748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4" orient="horz" pos="2064" userDrawn="1">
          <p15:clr>
            <a:srgbClr val="FBAE40"/>
          </p15:clr>
        </p15:guide>
        <p15:guide id="5" orient="horz" pos="233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585A2-0490-4450-B037-A22B18789379}"/>
              </a:ext>
            </a:extLst>
          </p:cNvPr>
          <p:cNvSpPr>
            <a:spLocks noGrp="1"/>
          </p:cNvSpPr>
          <p:nvPr>
            <p:ph type="ctrTitle"/>
          </p:nvPr>
        </p:nvSpPr>
        <p:spPr>
          <a:xfrm>
            <a:off x="647700" y="4315155"/>
            <a:ext cx="7892546" cy="1106712"/>
          </a:xfrm>
        </p:spPr>
        <p:txBody>
          <a:bodyPr lIns="0" tIns="0" rIns="0" bIns="0" anchor="b">
            <a:normAutofit/>
          </a:bodyPr>
          <a:lstStyle>
            <a:lvl1pPr algn="l">
              <a:lnSpc>
                <a:spcPct val="90000"/>
              </a:lnSpc>
              <a:defRPr sz="32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9752678-3BD8-4A49-A021-F97DB6338E82}"/>
              </a:ext>
            </a:extLst>
          </p:cNvPr>
          <p:cNvSpPr>
            <a:spLocks noGrp="1"/>
          </p:cNvSpPr>
          <p:nvPr>
            <p:ph type="subTitle" idx="1"/>
          </p:nvPr>
        </p:nvSpPr>
        <p:spPr>
          <a:xfrm>
            <a:off x="647701" y="5543029"/>
            <a:ext cx="7892545" cy="826533"/>
          </a:xfrm>
        </p:spPr>
        <p:txBody>
          <a:bodyPr lIns="0" tIns="0" rIns="0" bIns="0">
            <a:normAutofit/>
          </a:bodyPr>
          <a:lstStyle>
            <a:lvl1pPr marL="0" indent="0" algn="l">
              <a:spcBef>
                <a:spcPts val="0"/>
              </a:spcBef>
              <a:buNone/>
              <a:defRPr sz="2400" b="0" i="1">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3" name="Group 12">
            <a:extLst>
              <a:ext uri="{FF2B5EF4-FFF2-40B4-BE49-F238E27FC236}">
                <a16:creationId xmlns:a16="http://schemas.microsoft.com/office/drawing/2014/main" id="{F2EA2F17-B7CD-4084-893F-EE3EC70063AB}"/>
              </a:ext>
            </a:extLst>
          </p:cNvPr>
          <p:cNvGrpSpPr/>
          <p:nvPr userDrawn="1"/>
        </p:nvGrpSpPr>
        <p:grpSpPr>
          <a:xfrm>
            <a:off x="0" y="4133850"/>
            <a:ext cx="12192000" cy="181305"/>
            <a:chOff x="0" y="3263491"/>
            <a:chExt cx="12192000" cy="271279"/>
          </a:xfrm>
        </p:grpSpPr>
        <p:sp>
          <p:nvSpPr>
            <p:cNvPr id="14" name="Rectangle 13">
              <a:extLst>
                <a:ext uri="{FF2B5EF4-FFF2-40B4-BE49-F238E27FC236}">
                  <a16:creationId xmlns:a16="http://schemas.microsoft.com/office/drawing/2014/main" id="{89C0B2E5-B222-47C8-9E52-6297E69B5543}"/>
                </a:ext>
              </a:extLst>
            </p:cNvPr>
            <p:cNvSpPr/>
            <p:nvPr userDrawn="1"/>
          </p:nvSpPr>
          <p:spPr>
            <a:xfrm>
              <a:off x="0" y="3263491"/>
              <a:ext cx="3048000" cy="27127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6" name="Rectangle 15">
              <a:extLst>
                <a:ext uri="{FF2B5EF4-FFF2-40B4-BE49-F238E27FC236}">
                  <a16:creationId xmlns:a16="http://schemas.microsoft.com/office/drawing/2014/main" id="{7EA6E5C6-8269-4F31-A17F-934BEBB755E5}"/>
                </a:ext>
              </a:extLst>
            </p:cNvPr>
            <p:cNvSpPr/>
            <p:nvPr userDrawn="1"/>
          </p:nvSpPr>
          <p:spPr>
            <a:xfrm>
              <a:off x="3048000" y="3263491"/>
              <a:ext cx="3048000" cy="27127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8" name="Rectangle 17">
              <a:extLst>
                <a:ext uri="{FF2B5EF4-FFF2-40B4-BE49-F238E27FC236}">
                  <a16:creationId xmlns:a16="http://schemas.microsoft.com/office/drawing/2014/main" id="{AE315943-AC3A-4572-AD89-E10ADEE3E565}"/>
                </a:ext>
              </a:extLst>
            </p:cNvPr>
            <p:cNvSpPr/>
            <p:nvPr userDrawn="1"/>
          </p:nvSpPr>
          <p:spPr>
            <a:xfrm>
              <a:off x="6096000" y="3263491"/>
              <a:ext cx="3048000" cy="27127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9" name="Rectangle 18">
              <a:extLst>
                <a:ext uri="{FF2B5EF4-FFF2-40B4-BE49-F238E27FC236}">
                  <a16:creationId xmlns:a16="http://schemas.microsoft.com/office/drawing/2014/main" id="{DCDE42B7-A36C-43B4-898F-73E73261C1FD}"/>
                </a:ext>
              </a:extLst>
            </p:cNvPr>
            <p:cNvSpPr/>
            <p:nvPr userDrawn="1"/>
          </p:nvSpPr>
          <p:spPr>
            <a:xfrm>
              <a:off x="9144000" y="3263491"/>
              <a:ext cx="3048000" cy="2712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grpSp>
      <p:pic>
        <p:nvPicPr>
          <p:cNvPr id="24" name="Picture 23" descr="A close up of a logo&#10;&#10;Description automatically generated">
            <a:extLst>
              <a:ext uri="{FF2B5EF4-FFF2-40B4-BE49-F238E27FC236}">
                <a16:creationId xmlns:a16="http://schemas.microsoft.com/office/drawing/2014/main" id="{D27F1BE2-D626-41FA-B087-CF5F8AAB693A}"/>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29924" y="4979165"/>
            <a:ext cx="2651760" cy="1284481"/>
          </a:xfrm>
          <a:prstGeom prst="rect">
            <a:avLst/>
          </a:prstGeom>
        </p:spPr>
      </p:pic>
      <p:sp>
        <p:nvSpPr>
          <p:cNvPr id="26" name="Picture Placeholder 25">
            <a:extLst>
              <a:ext uri="{FF2B5EF4-FFF2-40B4-BE49-F238E27FC236}">
                <a16:creationId xmlns:a16="http://schemas.microsoft.com/office/drawing/2014/main" id="{237A85C9-7B86-4D69-8DB8-C00BE6AC0406}"/>
              </a:ext>
            </a:extLst>
          </p:cNvPr>
          <p:cNvSpPr>
            <a:spLocks noGrp="1"/>
          </p:cNvSpPr>
          <p:nvPr>
            <p:ph type="pic" sz="quarter" idx="10"/>
          </p:nvPr>
        </p:nvSpPr>
        <p:spPr>
          <a:xfrm>
            <a:off x="0" y="0"/>
            <a:ext cx="9144000" cy="4133850"/>
          </a:xfrm>
          <a:solidFill>
            <a:schemeClr val="bg1">
              <a:lumMod val="75000"/>
            </a:schemeClr>
          </a:solidFill>
          <a:ln>
            <a:noFill/>
          </a:ln>
        </p:spPr>
        <p:txBody>
          <a:bodyPr anchor="ct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42712634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4" orient="horz" pos="2067" userDrawn="1">
          <p15:clr>
            <a:srgbClr val="FBAE40"/>
          </p15:clr>
        </p15:guide>
        <p15:guide id="5" orient="horz" pos="233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585A2-0490-4450-B037-A22B18789379}"/>
              </a:ext>
            </a:extLst>
          </p:cNvPr>
          <p:cNvSpPr>
            <a:spLocks noGrp="1"/>
          </p:cNvSpPr>
          <p:nvPr>
            <p:ph type="ctrTitle"/>
          </p:nvPr>
        </p:nvSpPr>
        <p:spPr>
          <a:xfrm>
            <a:off x="647699" y="4315155"/>
            <a:ext cx="7892546" cy="1106712"/>
          </a:xfrm>
        </p:spPr>
        <p:txBody>
          <a:bodyPr lIns="0" tIns="0" rIns="0" bIns="0" anchor="b">
            <a:normAutofit/>
          </a:bodyPr>
          <a:lstStyle>
            <a:lvl1pPr algn="l">
              <a:lnSpc>
                <a:spcPct val="90000"/>
              </a:lnSpc>
              <a:defRPr sz="32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9752678-3BD8-4A49-A021-F97DB6338E82}"/>
              </a:ext>
            </a:extLst>
          </p:cNvPr>
          <p:cNvSpPr>
            <a:spLocks noGrp="1"/>
          </p:cNvSpPr>
          <p:nvPr>
            <p:ph type="subTitle" idx="1"/>
          </p:nvPr>
        </p:nvSpPr>
        <p:spPr>
          <a:xfrm>
            <a:off x="647700" y="5543029"/>
            <a:ext cx="7892545" cy="826533"/>
          </a:xfrm>
        </p:spPr>
        <p:txBody>
          <a:bodyPr lIns="0" tIns="0" rIns="0" bIns="0">
            <a:normAutofit/>
          </a:bodyPr>
          <a:lstStyle>
            <a:lvl1pPr marL="0" indent="0" algn="l">
              <a:spcBef>
                <a:spcPts val="0"/>
              </a:spcBef>
              <a:buNone/>
              <a:defRPr sz="2400" b="0" i="1">
                <a:solidFill>
                  <a:schemeClr val="bg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13" name="Group 12">
            <a:extLst>
              <a:ext uri="{FF2B5EF4-FFF2-40B4-BE49-F238E27FC236}">
                <a16:creationId xmlns:a16="http://schemas.microsoft.com/office/drawing/2014/main" id="{F2EA2F17-B7CD-4084-893F-EE3EC70063AB}"/>
              </a:ext>
            </a:extLst>
          </p:cNvPr>
          <p:cNvGrpSpPr/>
          <p:nvPr userDrawn="1"/>
        </p:nvGrpSpPr>
        <p:grpSpPr>
          <a:xfrm>
            <a:off x="0" y="4133850"/>
            <a:ext cx="12192000" cy="181305"/>
            <a:chOff x="0" y="3263491"/>
            <a:chExt cx="12192000" cy="271279"/>
          </a:xfrm>
        </p:grpSpPr>
        <p:sp>
          <p:nvSpPr>
            <p:cNvPr id="14" name="Rectangle 13">
              <a:extLst>
                <a:ext uri="{FF2B5EF4-FFF2-40B4-BE49-F238E27FC236}">
                  <a16:creationId xmlns:a16="http://schemas.microsoft.com/office/drawing/2014/main" id="{89C0B2E5-B222-47C8-9E52-6297E69B5543}"/>
                </a:ext>
              </a:extLst>
            </p:cNvPr>
            <p:cNvSpPr/>
            <p:nvPr userDrawn="1"/>
          </p:nvSpPr>
          <p:spPr>
            <a:xfrm>
              <a:off x="0" y="3263491"/>
              <a:ext cx="3048000" cy="27127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6" name="Rectangle 15">
              <a:extLst>
                <a:ext uri="{FF2B5EF4-FFF2-40B4-BE49-F238E27FC236}">
                  <a16:creationId xmlns:a16="http://schemas.microsoft.com/office/drawing/2014/main" id="{7EA6E5C6-8269-4F31-A17F-934BEBB755E5}"/>
                </a:ext>
              </a:extLst>
            </p:cNvPr>
            <p:cNvSpPr/>
            <p:nvPr userDrawn="1"/>
          </p:nvSpPr>
          <p:spPr>
            <a:xfrm>
              <a:off x="3048000" y="3263491"/>
              <a:ext cx="3048000" cy="27127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8" name="Rectangle 17">
              <a:extLst>
                <a:ext uri="{FF2B5EF4-FFF2-40B4-BE49-F238E27FC236}">
                  <a16:creationId xmlns:a16="http://schemas.microsoft.com/office/drawing/2014/main" id="{AE315943-AC3A-4572-AD89-E10ADEE3E565}"/>
                </a:ext>
              </a:extLst>
            </p:cNvPr>
            <p:cNvSpPr/>
            <p:nvPr userDrawn="1"/>
          </p:nvSpPr>
          <p:spPr>
            <a:xfrm>
              <a:off x="6096000" y="3263491"/>
              <a:ext cx="3048000" cy="27127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9" name="Rectangle 18">
              <a:extLst>
                <a:ext uri="{FF2B5EF4-FFF2-40B4-BE49-F238E27FC236}">
                  <a16:creationId xmlns:a16="http://schemas.microsoft.com/office/drawing/2014/main" id="{DCDE42B7-A36C-43B4-898F-73E73261C1FD}"/>
                </a:ext>
              </a:extLst>
            </p:cNvPr>
            <p:cNvSpPr/>
            <p:nvPr userDrawn="1"/>
          </p:nvSpPr>
          <p:spPr>
            <a:xfrm>
              <a:off x="9144000" y="3263491"/>
              <a:ext cx="3048000" cy="2712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grpSp>
      <p:sp>
        <p:nvSpPr>
          <p:cNvPr id="5" name="Picture Placeholder 4">
            <a:extLst>
              <a:ext uri="{FF2B5EF4-FFF2-40B4-BE49-F238E27FC236}">
                <a16:creationId xmlns:a16="http://schemas.microsoft.com/office/drawing/2014/main" id="{F4AD8662-8725-4D2F-959C-39E0C65ECED1}"/>
              </a:ext>
            </a:extLst>
          </p:cNvPr>
          <p:cNvSpPr>
            <a:spLocks noGrp="1"/>
          </p:cNvSpPr>
          <p:nvPr>
            <p:ph type="pic" sz="quarter" idx="10"/>
          </p:nvPr>
        </p:nvSpPr>
        <p:spPr>
          <a:xfrm>
            <a:off x="0" y="0"/>
            <a:ext cx="12192000" cy="4133850"/>
          </a:xfrm>
          <a:solidFill>
            <a:schemeClr val="bg1">
              <a:lumMod val="75000"/>
            </a:schemeClr>
          </a:solidFill>
          <a:ln>
            <a:noFill/>
          </a:ln>
        </p:spPr>
        <p:txBody>
          <a:bodyPr anchor="ctr"/>
          <a:lstStyle>
            <a:lvl1pPr algn="ctr">
              <a:defRPr/>
            </a:lvl1pPr>
          </a:lstStyle>
          <a:p>
            <a:r>
              <a:rPr lang="en-US"/>
              <a:t>Click icon to add picture</a:t>
            </a:r>
            <a:endParaRPr lang="en-US" dirty="0"/>
          </a:p>
        </p:txBody>
      </p:sp>
      <p:pic>
        <p:nvPicPr>
          <p:cNvPr id="12" name="Picture 11" descr="A close up of a logo&#10;&#10;Description automatically generated">
            <a:extLst>
              <a:ext uri="{FF2B5EF4-FFF2-40B4-BE49-F238E27FC236}">
                <a16:creationId xmlns:a16="http://schemas.microsoft.com/office/drawing/2014/main" id="{8C9B5313-5EEB-41EF-AAC6-13DBD2D3B3B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929924" y="4979165"/>
            <a:ext cx="2651760" cy="1284481"/>
          </a:xfrm>
          <a:prstGeom prst="rect">
            <a:avLst/>
          </a:prstGeom>
        </p:spPr>
      </p:pic>
    </p:spTree>
    <p:extLst>
      <p:ext uri="{BB962C8B-B14F-4D97-AF65-F5344CB8AC3E}">
        <p14:creationId xmlns:p14="http://schemas.microsoft.com/office/powerpoint/2010/main" val="55255454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4" orient="horz" pos="2064">
          <p15:clr>
            <a:srgbClr val="FBAE40"/>
          </p15:clr>
        </p15:guide>
        <p15:guide id="5" orient="horz" pos="233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3FE21-CF54-424F-AC66-117DD5A5B3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94333B2-CBE0-4340-BBFD-41B862338F73}"/>
              </a:ext>
            </a:extLst>
          </p:cNvPr>
          <p:cNvSpPr>
            <a:spLocks noGrp="1"/>
          </p:cNvSpPr>
          <p:nvPr>
            <p:ph idx="1"/>
          </p:nvPr>
        </p:nvSpPr>
        <p:spPr>
          <a:xfrm>
            <a:off x="655092" y="1477927"/>
            <a:ext cx="11077248" cy="4646648"/>
          </a:xfrm>
        </p:spPr>
        <p:txBody>
          <a:bodyPr/>
          <a:lstStyle>
            <a:lvl2pPr>
              <a:buClr>
                <a:schemeClr val="accent1"/>
              </a:buClr>
              <a:defRPr/>
            </a:lvl2pPr>
            <a:lvl4pPr>
              <a:buClr>
                <a:schemeClr val="accent1"/>
              </a:buCl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Slide Number Placeholder 5">
            <a:extLst>
              <a:ext uri="{FF2B5EF4-FFF2-40B4-BE49-F238E27FC236}">
                <a16:creationId xmlns:a16="http://schemas.microsoft.com/office/drawing/2014/main" id="{1AB0467D-A985-4A8A-86CC-4ACFD840446B}"/>
              </a:ext>
            </a:extLst>
          </p:cNvPr>
          <p:cNvSpPr>
            <a:spLocks noGrp="1"/>
          </p:cNvSpPr>
          <p:nvPr>
            <p:ph type="sldNum" sz="quarter" idx="12"/>
          </p:nvPr>
        </p:nvSpPr>
        <p:spPr/>
        <p:txBody>
          <a:bodyPr/>
          <a:lstStyle/>
          <a:p>
            <a:fld id="{7783EEA8-8FFA-40B0-9CA2-B650207154BC}" type="slidenum">
              <a:rPr lang="en-US" smtClean="0"/>
              <a:t>‹#›</a:t>
            </a:fld>
            <a:endParaRPr lang="en-US"/>
          </a:p>
        </p:txBody>
      </p:sp>
    </p:spTree>
    <p:extLst>
      <p:ext uri="{BB962C8B-B14F-4D97-AF65-F5344CB8AC3E}">
        <p14:creationId xmlns:p14="http://schemas.microsoft.com/office/powerpoint/2010/main" val="134607687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382081-CF35-49F2-90D8-8ABA1CF0B969}"/>
              </a:ext>
            </a:extLst>
          </p:cNvPr>
          <p:cNvSpPr>
            <a:spLocks noGrp="1"/>
          </p:cNvSpPr>
          <p:nvPr>
            <p:ph type="title"/>
          </p:nvPr>
        </p:nvSpPr>
        <p:spPr>
          <a:xfrm>
            <a:off x="647700" y="385021"/>
            <a:ext cx="11091625" cy="85958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0892507-4154-4F94-A78D-408023831A77}"/>
              </a:ext>
            </a:extLst>
          </p:cNvPr>
          <p:cNvSpPr>
            <a:spLocks noGrp="1"/>
          </p:cNvSpPr>
          <p:nvPr>
            <p:ph sz="half" idx="1"/>
          </p:nvPr>
        </p:nvSpPr>
        <p:spPr>
          <a:xfrm>
            <a:off x="647700" y="1477962"/>
            <a:ext cx="5303520" cy="4646613"/>
          </a:xfrm>
        </p:spPr>
        <p:txBody>
          <a:bodyPr/>
          <a:lstStyle>
            <a:lvl1pPr>
              <a:defRPr>
                <a:solidFill>
                  <a:schemeClr val="tx1"/>
                </a:solidFill>
              </a:defRPr>
            </a:lvl1pPr>
            <a:lvl2pPr>
              <a:buClr>
                <a:schemeClr val="accent1"/>
              </a:buClr>
              <a:defRPr/>
            </a:lvl2pPr>
            <a:lvl4pPr>
              <a:buClr>
                <a:schemeClr val="accent1"/>
              </a:buCl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a:extLst>
              <a:ext uri="{FF2B5EF4-FFF2-40B4-BE49-F238E27FC236}">
                <a16:creationId xmlns:a16="http://schemas.microsoft.com/office/drawing/2014/main" id="{13DAF1AB-03B4-4459-8EE5-C6540D5E2E15}"/>
              </a:ext>
            </a:extLst>
          </p:cNvPr>
          <p:cNvSpPr>
            <a:spLocks noGrp="1"/>
          </p:cNvSpPr>
          <p:nvPr>
            <p:ph sz="half" idx="2"/>
          </p:nvPr>
        </p:nvSpPr>
        <p:spPr>
          <a:xfrm>
            <a:off x="6435806" y="1477961"/>
            <a:ext cx="5303520" cy="4646613"/>
          </a:xfrm>
        </p:spPr>
        <p:txBody>
          <a:bodyPr/>
          <a:lstStyle>
            <a:lvl1pPr>
              <a:defRPr>
                <a:solidFill>
                  <a:schemeClr val="tx1"/>
                </a:solidFill>
              </a:defRPr>
            </a:lvl1pPr>
            <a:lvl2pPr>
              <a:buClr>
                <a:schemeClr val="accent1"/>
              </a:buClr>
              <a:defRPr/>
            </a:lvl2pPr>
            <a:lvl4pPr>
              <a:buClr>
                <a:schemeClr val="accent1"/>
              </a:buCl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Slide Number Placeholder 6">
            <a:extLst>
              <a:ext uri="{FF2B5EF4-FFF2-40B4-BE49-F238E27FC236}">
                <a16:creationId xmlns:a16="http://schemas.microsoft.com/office/drawing/2014/main" id="{76FE159D-22D3-45E1-B466-9B445D68D36C}"/>
              </a:ext>
            </a:extLst>
          </p:cNvPr>
          <p:cNvSpPr>
            <a:spLocks noGrp="1"/>
          </p:cNvSpPr>
          <p:nvPr>
            <p:ph type="sldNum" sz="quarter" idx="12"/>
          </p:nvPr>
        </p:nvSpPr>
        <p:spPr/>
        <p:txBody>
          <a:bodyPr/>
          <a:lstStyle/>
          <a:p>
            <a:fld id="{7783EEA8-8FFA-40B0-9CA2-B650207154BC}" type="slidenum">
              <a:rPr lang="en-US" smtClean="0"/>
              <a:t>‹#›</a:t>
            </a:fld>
            <a:endParaRPr lang="en-US"/>
          </a:p>
        </p:txBody>
      </p:sp>
    </p:spTree>
    <p:extLst>
      <p:ext uri="{BB962C8B-B14F-4D97-AF65-F5344CB8AC3E}">
        <p14:creationId xmlns:p14="http://schemas.microsoft.com/office/powerpoint/2010/main" val="475159543"/>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F169D-1BE6-4A3A-9E58-45D1E4D613DF}"/>
              </a:ext>
            </a:extLst>
          </p:cNvPr>
          <p:cNvSpPr>
            <a:spLocks noGrp="1"/>
          </p:cNvSpPr>
          <p:nvPr>
            <p:ph type="title"/>
          </p:nvPr>
        </p:nvSpPr>
        <p:spPr>
          <a:xfrm>
            <a:off x="647699" y="371475"/>
            <a:ext cx="11090275" cy="873125"/>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9E9BAC7-ADA2-4DC8-B4F7-B6E066C6D998}"/>
              </a:ext>
            </a:extLst>
          </p:cNvPr>
          <p:cNvSpPr>
            <a:spLocks noGrp="1"/>
          </p:cNvSpPr>
          <p:nvPr>
            <p:ph type="body" idx="1"/>
          </p:nvPr>
        </p:nvSpPr>
        <p:spPr>
          <a:xfrm>
            <a:off x="647699" y="1489814"/>
            <a:ext cx="5303520" cy="636698"/>
          </a:xfrm>
        </p:spPr>
        <p:txBody>
          <a:bodyPr anchor="b">
            <a:normAutofit/>
          </a:bodyPr>
          <a:lstStyle>
            <a:lvl1pPr marL="0" indent="0">
              <a:buNone/>
              <a:defRPr sz="22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4F184E-EC31-4C2B-BABF-ADB6C7AA2913}"/>
              </a:ext>
            </a:extLst>
          </p:cNvPr>
          <p:cNvSpPr>
            <a:spLocks noGrp="1"/>
          </p:cNvSpPr>
          <p:nvPr>
            <p:ph sz="half" idx="2"/>
          </p:nvPr>
        </p:nvSpPr>
        <p:spPr>
          <a:xfrm>
            <a:off x="647698" y="2286000"/>
            <a:ext cx="5303520" cy="3838575"/>
          </a:xfrm>
        </p:spPr>
        <p:txBody>
          <a:bodyPr/>
          <a:lstStyle>
            <a:lvl2pPr>
              <a:buClr>
                <a:schemeClr val="accent1"/>
              </a:buClr>
              <a:defRPr/>
            </a:lvl2pPr>
            <a:lvl4pPr>
              <a:buClr>
                <a:schemeClr val="accent1"/>
              </a:buCl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ext Placeholder 4">
            <a:extLst>
              <a:ext uri="{FF2B5EF4-FFF2-40B4-BE49-F238E27FC236}">
                <a16:creationId xmlns:a16="http://schemas.microsoft.com/office/drawing/2014/main" id="{31AF43FF-EC6F-4C3D-814B-A928D1A2E600}"/>
              </a:ext>
            </a:extLst>
          </p:cNvPr>
          <p:cNvSpPr>
            <a:spLocks noGrp="1"/>
          </p:cNvSpPr>
          <p:nvPr>
            <p:ph type="body" sz="quarter" idx="3"/>
          </p:nvPr>
        </p:nvSpPr>
        <p:spPr>
          <a:xfrm>
            <a:off x="6434454" y="1489814"/>
            <a:ext cx="5303520" cy="636698"/>
          </a:xfrm>
        </p:spPr>
        <p:txBody>
          <a:bodyPr anchor="b">
            <a:normAutofit/>
          </a:bodyPr>
          <a:lstStyle>
            <a:lvl1pPr marL="0" indent="0">
              <a:buNone/>
              <a:defRPr sz="22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2C85541-D976-4974-BB24-8F556AABA37F}"/>
              </a:ext>
            </a:extLst>
          </p:cNvPr>
          <p:cNvSpPr>
            <a:spLocks noGrp="1"/>
          </p:cNvSpPr>
          <p:nvPr>
            <p:ph sz="quarter" idx="4"/>
          </p:nvPr>
        </p:nvSpPr>
        <p:spPr>
          <a:xfrm>
            <a:off x="6434454" y="2286000"/>
            <a:ext cx="5303520" cy="3838575"/>
          </a:xfrm>
        </p:spPr>
        <p:txBody>
          <a:bodyPr/>
          <a:lstStyle>
            <a:lvl2pPr>
              <a:buClr>
                <a:schemeClr val="accent1"/>
              </a:buClr>
              <a:defRPr/>
            </a:lvl2pPr>
            <a:lvl4pPr>
              <a:buClr>
                <a:schemeClr val="accent1"/>
              </a:buClr>
              <a:defRPr/>
            </a:lvl4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Slide Number Placeholder 8">
            <a:extLst>
              <a:ext uri="{FF2B5EF4-FFF2-40B4-BE49-F238E27FC236}">
                <a16:creationId xmlns:a16="http://schemas.microsoft.com/office/drawing/2014/main" id="{34A5023C-38CF-40DC-BA01-090A2029B8C0}"/>
              </a:ext>
            </a:extLst>
          </p:cNvPr>
          <p:cNvSpPr>
            <a:spLocks noGrp="1"/>
          </p:cNvSpPr>
          <p:nvPr>
            <p:ph type="sldNum" sz="quarter" idx="12"/>
          </p:nvPr>
        </p:nvSpPr>
        <p:spPr/>
        <p:txBody>
          <a:bodyPr/>
          <a:lstStyle/>
          <a:p>
            <a:fld id="{7783EEA8-8FFA-40B0-9CA2-B650207154BC}" type="slidenum">
              <a:rPr lang="en-US" smtClean="0"/>
              <a:t>‹#›</a:t>
            </a:fld>
            <a:endParaRPr lang="en-US"/>
          </a:p>
        </p:txBody>
      </p:sp>
    </p:spTree>
    <p:extLst>
      <p:ext uri="{BB962C8B-B14F-4D97-AF65-F5344CB8AC3E}">
        <p14:creationId xmlns:p14="http://schemas.microsoft.com/office/powerpoint/2010/main" val="2693528188"/>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and Content 3 columns">
    <p:spTree>
      <p:nvGrpSpPr>
        <p:cNvPr id="1" name=""/>
        <p:cNvGrpSpPr/>
        <p:nvPr/>
      </p:nvGrpSpPr>
      <p:grpSpPr>
        <a:xfrm>
          <a:off x="0" y="0"/>
          <a:ext cx="0" cy="0"/>
          <a:chOff x="0" y="0"/>
          <a:chExt cx="0" cy="0"/>
        </a:xfrm>
      </p:grpSpPr>
      <p:sp>
        <p:nvSpPr>
          <p:cNvPr id="2" name="Title 1"/>
          <p:cNvSpPr>
            <a:spLocks noGrp="1"/>
          </p:cNvSpPr>
          <p:nvPr>
            <p:ph type="title"/>
          </p:nvPr>
        </p:nvSpPr>
        <p:spPr>
          <a:xfrm>
            <a:off x="647700" y="387350"/>
            <a:ext cx="11094271" cy="857250"/>
          </a:xfrm>
        </p:spPr>
        <p:txBody>
          <a:bodyPr anchor="b" anchorCtr="0"/>
          <a:lstStyle>
            <a:lvl1pPr>
              <a:defRPr sz="2800">
                <a:solidFill>
                  <a:schemeClr val="accent6"/>
                </a:solidFill>
              </a:defRPr>
            </a:lvl1pPr>
          </a:lstStyle>
          <a:p>
            <a:r>
              <a:rPr lang="en-US"/>
              <a:t>Click to edit Master title style</a:t>
            </a:r>
            <a:endParaRPr lang="en-US" dirty="0"/>
          </a:p>
        </p:txBody>
      </p:sp>
      <p:sp>
        <p:nvSpPr>
          <p:cNvPr id="4" name="Slide Number Placeholder 3"/>
          <p:cNvSpPr>
            <a:spLocks noGrp="1"/>
          </p:cNvSpPr>
          <p:nvPr>
            <p:ph type="sldNum" sz="quarter" idx="11"/>
          </p:nvPr>
        </p:nvSpPr>
        <p:spPr/>
        <p:txBody>
          <a:bodyPr/>
          <a:lstStyle/>
          <a:p>
            <a:fld id="{CC041753-90EA-4E44-9BB8-633978F3CCC4}" type="slidenum">
              <a:rPr lang="en-US" smtClean="0">
                <a:solidFill>
                  <a:srgbClr val="63666A"/>
                </a:solidFill>
              </a:rPr>
              <a:pPr/>
              <a:t>‹#›</a:t>
            </a:fld>
            <a:endParaRPr lang="en-US" dirty="0">
              <a:solidFill>
                <a:srgbClr val="63666A"/>
              </a:solidFill>
            </a:endParaRPr>
          </a:p>
        </p:txBody>
      </p:sp>
      <p:sp>
        <p:nvSpPr>
          <p:cNvPr id="6" name="Text Placeholder 5"/>
          <p:cNvSpPr>
            <a:spLocks noGrp="1"/>
          </p:cNvSpPr>
          <p:nvPr>
            <p:ph type="body" sz="quarter" idx="12" hasCustomPrompt="1"/>
          </p:nvPr>
        </p:nvSpPr>
        <p:spPr bwMode="gray">
          <a:xfrm>
            <a:off x="647699" y="1477962"/>
            <a:ext cx="3383280" cy="4646613"/>
          </a:xfrm>
        </p:spPr>
        <p:txBody>
          <a:bodyPr/>
          <a:lstStyle>
            <a:lvl1pPr marL="0" indent="0">
              <a:spcAft>
                <a:spcPts val="600"/>
              </a:spcAft>
              <a:buClr>
                <a:schemeClr val="accent6"/>
              </a:buClr>
              <a:buFontTx/>
              <a:buNone/>
              <a:defRPr sz="2000" b="1" i="0" cap="none">
                <a:latin typeface="+mj-lt"/>
              </a:defRPr>
            </a:lvl1pPr>
            <a:lvl2pPr marL="0" indent="0">
              <a:spcBef>
                <a:spcPts val="600"/>
              </a:spcBef>
              <a:buNone/>
              <a:defRPr sz="1600">
                <a:solidFill>
                  <a:srgbClr val="63666A"/>
                </a:solidFill>
                <a:latin typeface="+mj-lt"/>
              </a:defRPr>
            </a:lvl2pPr>
          </a:lstStyle>
          <a:p>
            <a:pPr lvl="0"/>
            <a:r>
              <a:rPr lang="en-US" dirty="0"/>
              <a:t>Click to edit master text styles</a:t>
            </a:r>
          </a:p>
          <a:p>
            <a:pPr lvl="1"/>
            <a:r>
              <a:rPr lang="en-US" dirty="0"/>
              <a:t>Second level</a:t>
            </a:r>
          </a:p>
        </p:txBody>
      </p:sp>
      <p:sp>
        <p:nvSpPr>
          <p:cNvPr id="9" name="Text Placeholder 8"/>
          <p:cNvSpPr>
            <a:spLocks noGrp="1"/>
          </p:cNvSpPr>
          <p:nvPr>
            <p:ph type="body" sz="quarter" idx="13" hasCustomPrompt="1"/>
          </p:nvPr>
        </p:nvSpPr>
        <p:spPr bwMode="gray">
          <a:xfrm>
            <a:off x="4498380" y="1482836"/>
            <a:ext cx="3383280" cy="4641740"/>
          </a:xfrm>
        </p:spPr>
        <p:txBody>
          <a:bodyPr/>
          <a:lstStyle>
            <a:lvl1pPr marL="0" indent="0">
              <a:spcAft>
                <a:spcPts val="600"/>
              </a:spcAft>
              <a:buClr>
                <a:schemeClr val="accent6"/>
              </a:buClr>
              <a:buFontTx/>
              <a:buNone/>
              <a:defRPr sz="2000" b="1" i="0" cap="none">
                <a:latin typeface="+mj-lt"/>
              </a:defRPr>
            </a:lvl1pPr>
            <a:lvl2pPr marL="0" indent="0">
              <a:spcBef>
                <a:spcPts val="600"/>
              </a:spcBef>
              <a:buNone/>
              <a:defRPr sz="1600">
                <a:solidFill>
                  <a:srgbClr val="63666A"/>
                </a:solidFill>
                <a:latin typeface="+mj-lt"/>
              </a:defRPr>
            </a:lvl2pPr>
          </a:lstStyle>
          <a:p>
            <a:pPr lvl="0"/>
            <a:r>
              <a:rPr lang="en-US" dirty="0"/>
              <a:t>Click to edit master text styles</a:t>
            </a:r>
          </a:p>
          <a:p>
            <a:pPr lvl="1"/>
            <a:r>
              <a:rPr lang="en-US" dirty="0"/>
              <a:t>Second level</a:t>
            </a:r>
          </a:p>
        </p:txBody>
      </p:sp>
      <p:sp>
        <p:nvSpPr>
          <p:cNvPr id="11" name="Text Placeholder 10"/>
          <p:cNvSpPr>
            <a:spLocks noGrp="1"/>
          </p:cNvSpPr>
          <p:nvPr>
            <p:ph type="body" sz="quarter" idx="14" hasCustomPrompt="1"/>
          </p:nvPr>
        </p:nvSpPr>
        <p:spPr bwMode="gray">
          <a:xfrm>
            <a:off x="8349061" y="1482836"/>
            <a:ext cx="3383280" cy="4641740"/>
          </a:xfrm>
        </p:spPr>
        <p:txBody>
          <a:bodyPr/>
          <a:lstStyle>
            <a:lvl1pPr marL="0" indent="0">
              <a:spcAft>
                <a:spcPts val="600"/>
              </a:spcAft>
              <a:buClr>
                <a:schemeClr val="accent6"/>
              </a:buClr>
              <a:buFont typeface="Wingdings" charset="2"/>
              <a:buNone/>
              <a:defRPr sz="2000" b="1" i="0" cap="none">
                <a:latin typeface="+mj-lt"/>
              </a:defRPr>
            </a:lvl1pPr>
            <a:lvl2pPr marL="0" indent="0">
              <a:spcBef>
                <a:spcPts val="600"/>
              </a:spcBef>
              <a:buNone/>
              <a:defRPr sz="1600">
                <a:solidFill>
                  <a:srgbClr val="63666A"/>
                </a:solidFill>
              </a:defRPr>
            </a:lvl2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779967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CAED78-11C7-4645-BE7D-4B6EB7F6BA05}"/>
              </a:ext>
            </a:extLst>
          </p:cNvPr>
          <p:cNvSpPr>
            <a:spLocks noGrp="1"/>
          </p:cNvSpPr>
          <p:nvPr>
            <p:ph type="title"/>
          </p:nvPr>
        </p:nvSpPr>
        <p:spPr/>
        <p:txBody>
          <a:bodyPr/>
          <a:lstStyle>
            <a:lvl1pPr>
              <a:defRPr>
                <a:solidFill>
                  <a:schemeClr val="accent6"/>
                </a:solidFill>
              </a:defRPr>
            </a:lvl1pPr>
          </a:lstStyle>
          <a:p>
            <a:r>
              <a:rPr lang="en-US"/>
              <a:t>Click to edit Master title style</a:t>
            </a:r>
            <a:endParaRPr lang="en-US" dirty="0"/>
          </a:p>
        </p:txBody>
      </p:sp>
      <p:sp>
        <p:nvSpPr>
          <p:cNvPr id="5" name="Slide Number Placeholder 4">
            <a:extLst>
              <a:ext uri="{FF2B5EF4-FFF2-40B4-BE49-F238E27FC236}">
                <a16:creationId xmlns:a16="http://schemas.microsoft.com/office/drawing/2014/main" id="{51C6C5DA-3B20-4E03-8A95-FADF863E62FF}"/>
              </a:ext>
            </a:extLst>
          </p:cNvPr>
          <p:cNvSpPr>
            <a:spLocks noGrp="1"/>
          </p:cNvSpPr>
          <p:nvPr>
            <p:ph type="sldNum" sz="quarter" idx="12"/>
          </p:nvPr>
        </p:nvSpPr>
        <p:spPr/>
        <p:txBody>
          <a:bodyPr/>
          <a:lstStyle/>
          <a:p>
            <a:fld id="{7783EEA8-8FFA-40B0-9CA2-B650207154BC}" type="slidenum">
              <a:rPr lang="en-US" smtClean="0"/>
              <a:t>‹#›</a:t>
            </a:fld>
            <a:endParaRPr lang="en-US"/>
          </a:p>
        </p:txBody>
      </p:sp>
    </p:spTree>
    <p:extLst>
      <p:ext uri="{BB962C8B-B14F-4D97-AF65-F5344CB8AC3E}">
        <p14:creationId xmlns:p14="http://schemas.microsoft.com/office/powerpoint/2010/main" val="3423801166"/>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lumMod val="6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9479C-6AB3-4566-B5B6-B8B59AF7A966}"/>
              </a:ext>
            </a:extLst>
          </p:cNvPr>
          <p:cNvSpPr>
            <a:spLocks noGrp="1"/>
          </p:cNvSpPr>
          <p:nvPr>
            <p:ph type="title"/>
          </p:nvPr>
        </p:nvSpPr>
        <p:spPr>
          <a:xfrm>
            <a:off x="647699" y="2711938"/>
            <a:ext cx="11084641" cy="1012337"/>
          </a:xfrm>
        </p:spPr>
        <p:txBody>
          <a:bodyPr anchor="b">
            <a:normAutofit/>
          </a:bodyPr>
          <a:lstStyle>
            <a:lvl1pPr>
              <a:defRPr sz="3200">
                <a:solidFill>
                  <a:schemeClr val="bg1"/>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1077932-0DBF-484D-9E46-99D1BA591D90}"/>
              </a:ext>
            </a:extLst>
          </p:cNvPr>
          <p:cNvSpPr>
            <a:spLocks noGrp="1"/>
          </p:cNvSpPr>
          <p:nvPr>
            <p:ph type="body" idx="1"/>
          </p:nvPr>
        </p:nvSpPr>
        <p:spPr>
          <a:xfrm>
            <a:off x="647699" y="3916298"/>
            <a:ext cx="11084641" cy="741399"/>
          </a:xfrm>
        </p:spPr>
        <p:txBody>
          <a:bodyPr/>
          <a:lstStyle>
            <a:lvl1pPr marL="0" indent="0">
              <a:buNone/>
              <a:defRPr sz="2400">
                <a:solidFill>
                  <a:schemeClr val="accent6"/>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6" name="Slide Number Placeholder 5">
            <a:extLst>
              <a:ext uri="{FF2B5EF4-FFF2-40B4-BE49-F238E27FC236}">
                <a16:creationId xmlns:a16="http://schemas.microsoft.com/office/drawing/2014/main" id="{97311CFB-0061-4414-9300-13B77941BF04}"/>
              </a:ext>
            </a:extLst>
          </p:cNvPr>
          <p:cNvSpPr>
            <a:spLocks noGrp="1"/>
          </p:cNvSpPr>
          <p:nvPr>
            <p:ph type="sldNum" sz="quarter" idx="12"/>
          </p:nvPr>
        </p:nvSpPr>
        <p:spPr/>
        <p:txBody>
          <a:bodyPr/>
          <a:lstStyle>
            <a:lvl1pPr>
              <a:defRPr>
                <a:solidFill>
                  <a:schemeClr val="bg1"/>
                </a:solidFill>
              </a:defRPr>
            </a:lvl1pPr>
          </a:lstStyle>
          <a:p>
            <a:fld id="{7783EEA8-8FFA-40B0-9CA2-B650207154BC}" type="slidenum">
              <a:rPr lang="en-US" smtClean="0"/>
              <a:pPr/>
              <a:t>‹#›</a:t>
            </a:fld>
            <a:endParaRPr lang="en-US" dirty="0"/>
          </a:p>
        </p:txBody>
      </p:sp>
      <p:grpSp>
        <p:nvGrpSpPr>
          <p:cNvPr id="8" name="Group 7">
            <a:extLst>
              <a:ext uri="{FF2B5EF4-FFF2-40B4-BE49-F238E27FC236}">
                <a16:creationId xmlns:a16="http://schemas.microsoft.com/office/drawing/2014/main" id="{C3328AF2-C6C0-47E3-96F7-F7C4B28AA929}"/>
              </a:ext>
            </a:extLst>
          </p:cNvPr>
          <p:cNvGrpSpPr/>
          <p:nvPr userDrawn="1"/>
        </p:nvGrpSpPr>
        <p:grpSpPr>
          <a:xfrm>
            <a:off x="0" y="4910578"/>
            <a:ext cx="12192000" cy="181305"/>
            <a:chOff x="0" y="3263491"/>
            <a:chExt cx="12192000" cy="271279"/>
          </a:xfrm>
        </p:grpSpPr>
        <p:sp>
          <p:nvSpPr>
            <p:cNvPr id="12" name="Rectangle 11">
              <a:extLst>
                <a:ext uri="{FF2B5EF4-FFF2-40B4-BE49-F238E27FC236}">
                  <a16:creationId xmlns:a16="http://schemas.microsoft.com/office/drawing/2014/main" id="{B0D74EFF-9638-45D7-8899-B709BDD73F90}"/>
                </a:ext>
              </a:extLst>
            </p:cNvPr>
            <p:cNvSpPr/>
            <p:nvPr userDrawn="1"/>
          </p:nvSpPr>
          <p:spPr>
            <a:xfrm>
              <a:off x="0" y="3263491"/>
              <a:ext cx="3048000" cy="27127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3" name="Rectangle 12">
              <a:extLst>
                <a:ext uri="{FF2B5EF4-FFF2-40B4-BE49-F238E27FC236}">
                  <a16:creationId xmlns:a16="http://schemas.microsoft.com/office/drawing/2014/main" id="{03726FD9-1CD8-4383-AC6F-32DD946F0E41}"/>
                </a:ext>
              </a:extLst>
            </p:cNvPr>
            <p:cNvSpPr/>
            <p:nvPr userDrawn="1"/>
          </p:nvSpPr>
          <p:spPr>
            <a:xfrm>
              <a:off x="3048000" y="3263491"/>
              <a:ext cx="3048000" cy="27127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4" name="Rectangle 13">
              <a:extLst>
                <a:ext uri="{FF2B5EF4-FFF2-40B4-BE49-F238E27FC236}">
                  <a16:creationId xmlns:a16="http://schemas.microsoft.com/office/drawing/2014/main" id="{09380835-DA7C-47EF-A52E-6108897A5FA2}"/>
                </a:ext>
              </a:extLst>
            </p:cNvPr>
            <p:cNvSpPr/>
            <p:nvPr userDrawn="1"/>
          </p:nvSpPr>
          <p:spPr>
            <a:xfrm>
              <a:off x="6096000" y="3263491"/>
              <a:ext cx="3048000" cy="27127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5" name="Rectangle 14">
              <a:extLst>
                <a:ext uri="{FF2B5EF4-FFF2-40B4-BE49-F238E27FC236}">
                  <a16:creationId xmlns:a16="http://schemas.microsoft.com/office/drawing/2014/main" id="{63A08CBF-EA04-4750-8232-69316B8191CD}"/>
                </a:ext>
              </a:extLst>
            </p:cNvPr>
            <p:cNvSpPr/>
            <p:nvPr userDrawn="1"/>
          </p:nvSpPr>
          <p:spPr>
            <a:xfrm>
              <a:off x="9144000" y="3263491"/>
              <a:ext cx="3048000" cy="2712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grpSp>
      <p:sp>
        <p:nvSpPr>
          <p:cNvPr id="16" name="TextBox 15">
            <a:extLst>
              <a:ext uri="{FF2B5EF4-FFF2-40B4-BE49-F238E27FC236}">
                <a16:creationId xmlns:a16="http://schemas.microsoft.com/office/drawing/2014/main" id="{1813F6BD-21ED-4AB6-9C1A-516973303D79}"/>
              </a:ext>
            </a:extLst>
          </p:cNvPr>
          <p:cNvSpPr txBox="1"/>
          <p:nvPr userDrawn="1"/>
        </p:nvSpPr>
        <p:spPr>
          <a:xfrm>
            <a:off x="9468464" y="6124576"/>
            <a:ext cx="2263877" cy="596900"/>
          </a:xfrm>
          <a:prstGeom prst="rect">
            <a:avLst/>
          </a:prstGeom>
          <a:noFill/>
        </p:spPr>
        <p:txBody>
          <a:bodyPr wrap="square" lIns="0" tIns="0" rIns="0" bIns="0" rtlCol="0" anchor="ctr">
            <a:noAutofit/>
          </a:bodyPr>
          <a:lstStyle/>
          <a:p>
            <a:pPr marL="0" marR="0" lvl="0" indent="0" algn="r" defTabSz="1218987" rtl="0" eaLnBrk="1" fontAlgn="auto" latinLnBrk="0" hangingPunct="1">
              <a:lnSpc>
                <a:spcPct val="100000"/>
              </a:lnSpc>
              <a:spcBef>
                <a:spcPts val="0"/>
              </a:spcBef>
              <a:spcAft>
                <a:spcPts val="0"/>
              </a:spcAft>
              <a:buClrTx/>
              <a:buSzTx/>
              <a:buFontTx/>
              <a:buNone/>
              <a:tabLst/>
              <a:defRPr/>
            </a:pPr>
            <a:r>
              <a:rPr lang="en-US" sz="1000" b="0" spc="-10" baseline="0" dirty="0">
                <a:solidFill>
                  <a:schemeClr val="bg1"/>
                </a:solidFill>
                <a:latin typeface="+mj-lt"/>
              </a:rPr>
              <a:t>MD ANDERSON CANCER CENTER</a:t>
            </a:r>
          </a:p>
        </p:txBody>
      </p:sp>
    </p:spTree>
    <p:extLst>
      <p:ext uri="{BB962C8B-B14F-4D97-AF65-F5344CB8AC3E}">
        <p14:creationId xmlns:p14="http://schemas.microsoft.com/office/powerpoint/2010/main" val="707754050"/>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and Content">
    <p:bg>
      <p:bgPr>
        <a:solidFill>
          <a:srgbClr val="FDFDFF"/>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12192000" cy="1414160"/>
          </a:xfrm>
          <a:prstGeom prst="rect">
            <a:avLst/>
          </a:prstGeom>
          <a:solidFill>
            <a:srgbClr val="407EC9"/>
          </a:solidFill>
          <a:ln>
            <a:noFill/>
          </a:ln>
          <a:effectLst/>
        </p:spPr>
        <p:style>
          <a:lnRef idx="1">
            <a:schemeClr val="accent1"/>
          </a:lnRef>
          <a:fillRef idx="3">
            <a:schemeClr val="accent1"/>
          </a:fillRef>
          <a:effectRef idx="2">
            <a:schemeClr val="accent1"/>
          </a:effectRef>
          <a:fontRef idx="minor">
            <a:schemeClr val="lt1"/>
          </a:fontRef>
        </p:style>
        <p:txBody>
          <a:bodyPr lIns="108818" tIns="54410" rIns="108818" bIns="54410" rtlCol="0" anchor="ctr"/>
          <a:lstStyle/>
          <a:p>
            <a:pPr algn="ctr"/>
            <a:endParaRPr lang="en-US" sz="1500" dirty="0"/>
          </a:p>
        </p:txBody>
      </p:sp>
      <p:cxnSp>
        <p:nvCxnSpPr>
          <p:cNvPr id="3" name="Straight Connector 2"/>
          <p:cNvCxnSpPr/>
          <p:nvPr userDrawn="1"/>
        </p:nvCxnSpPr>
        <p:spPr>
          <a:xfrm>
            <a:off x="0" y="6848773"/>
            <a:ext cx="12192000" cy="0"/>
          </a:xfrm>
          <a:prstGeom prst="line">
            <a:avLst/>
          </a:prstGeom>
          <a:ln w="57150">
            <a:solidFill>
              <a:srgbClr val="C00000"/>
            </a:solidFill>
          </a:ln>
          <a:effectLst/>
        </p:spPr>
        <p:style>
          <a:lnRef idx="2">
            <a:schemeClr val="accent1"/>
          </a:lnRef>
          <a:fillRef idx="0">
            <a:schemeClr val="accent1"/>
          </a:fillRef>
          <a:effectRef idx="1">
            <a:schemeClr val="accent1"/>
          </a:effectRef>
          <a:fontRef idx="minor">
            <a:schemeClr val="tx1"/>
          </a:fontRef>
        </p:style>
      </p:cxnSp>
      <p:cxnSp>
        <p:nvCxnSpPr>
          <p:cNvPr id="5" name="Straight Connector 4"/>
          <p:cNvCxnSpPr/>
          <p:nvPr userDrawn="1"/>
        </p:nvCxnSpPr>
        <p:spPr>
          <a:xfrm>
            <a:off x="0" y="1414160"/>
            <a:ext cx="12192000" cy="0"/>
          </a:xfrm>
          <a:prstGeom prst="line">
            <a:avLst/>
          </a:prstGeom>
          <a:ln w="57150">
            <a:solidFill>
              <a:srgbClr val="2F65A7"/>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40686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507C33B-1C37-49C1-923E-DE976804E45C}"/>
              </a:ext>
            </a:extLst>
          </p:cNvPr>
          <p:cNvSpPr>
            <a:spLocks noGrp="1"/>
          </p:cNvSpPr>
          <p:nvPr userDrawn="1">
            <p:ph type="title"/>
          </p:nvPr>
        </p:nvSpPr>
        <p:spPr>
          <a:xfrm>
            <a:off x="655092" y="381000"/>
            <a:ext cx="11077249" cy="854075"/>
          </a:xfrm>
          <a:prstGeom prst="rect">
            <a:avLst/>
          </a:prstGeom>
        </p:spPr>
        <p:txBody>
          <a:bodyPr vert="horz" lIns="0" tIns="0" rIns="0" bIns="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66C487E-FECB-49EA-B41B-265826B4479D}"/>
              </a:ext>
            </a:extLst>
          </p:cNvPr>
          <p:cNvSpPr>
            <a:spLocks noGrp="1"/>
          </p:cNvSpPr>
          <p:nvPr userDrawn="1">
            <p:ph type="body" idx="1"/>
          </p:nvPr>
        </p:nvSpPr>
        <p:spPr>
          <a:xfrm>
            <a:off x="655092" y="1477927"/>
            <a:ext cx="11077248" cy="464664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Slide Number Placeholder 5">
            <a:extLst>
              <a:ext uri="{FF2B5EF4-FFF2-40B4-BE49-F238E27FC236}">
                <a16:creationId xmlns:a16="http://schemas.microsoft.com/office/drawing/2014/main" id="{19F39F9B-CEF0-4DDD-A3AC-52FDF86F3E95}"/>
              </a:ext>
            </a:extLst>
          </p:cNvPr>
          <p:cNvSpPr>
            <a:spLocks noGrp="1"/>
          </p:cNvSpPr>
          <p:nvPr userDrawn="1">
            <p:ph type="sldNum" sz="quarter" idx="4"/>
          </p:nvPr>
        </p:nvSpPr>
        <p:spPr>
          <a:xfrm>
            <a:off x="655092" y="6250637"/>
            <a:ext cx="569024" cy="365125"/>
          </a:xfrm>
          <a:prstGeom prst="rect">
            <a:avLst/>
          </a:prstGeom>
        </p:spPr>
        <p:txBody>
          <a:bodyPr vert="horz" lIns="0" tIns="0" rIns="0" bIns="0" rtlCol="0" anchor="ctr"/>
          <a:lstStyle>
            <a:lvl1pPr algn="l">
              <a:defRPr sz="800" b="1">
                <a:solidFill>
                  <a:schemeClr val="accent6"/>
                </a:solidFill>
                <a:latin typeface="+mj-lt"/>
              </a:defRPr>
            </a:lvl1pPr>
          </a:lstStyle>
          <a:p>
            <a:fld id="{7783EEA8-8FFA-40B0-9CA2-B650207154BC}" type="slidenum">
              <a:rPr lang="en-US" smtClean="0"/>
              <a:pPr/>
              <a:t>‹#›</a:t>
            </a:fld>
            <a:endParaRPr lang="en-US" dirty="0"/>
          </a:p>
        </p:txBody>
      </p:sp>
      <p:sp>
        <p:nvSpPr>
          <p:cNvPr id="7" name="TextBox 6">
            <a:extLst>
              <a:ext uri="{FF2B5EF4-FFF2-40B4-BE49-F238E27FC236}">
                <a16:creationId xmlns:a16="http://schemas.microsoft.com/office/drawing/2014/main" id="{E7CDA957-1693-4221-A790-F6663B96FBAC}"/>
              </a:ext>
            </a:extLst>
          </p:cNvPr>
          <p:cNvSpPr txBox="1"/>
          <p:nvPr userDrawn="1"/>
        </p:nvSpPr>
        <p:spPr>
          <a:xfrm>
            <a:off x="9468464" y="6124576"/>
            <a:ext cx="2263877" cy="596900"/>
          </a:xfrm>
          <a:prstGeom prst="rect">
            <a:avLst/>
          </a:prstGeom>
          <a:noFill/>
        </p:spPr>
        <p:txBody>
          <a:bodyPr wrap="square" lIns="0" tIns="0" rIns="0" bIns="0" rtlCol="0" anchor="ctr">
            <a:noAutofit/>
          </a:bodyPr>
          <a:lstStyle/>
          <a:p>
            <a:pPr marL="0" marR="0" lvl="0" indent="0" algn="r" defTabSz="1218987" rtl="0" eaLnBrk="1" fontAlgn="auto" latinLnBrk="0" hangingPunct="1">
              <a:lnSpc>
                <a:spcPct val="100000"/>
              </a:lnSpc>
              <a:spcBef>
                <a:spcPts val="0"/>
              </a:spcBef>
              <a:spcAft>
                <a:spcPts val="0"/>
              </a:spcAft>
              <a:buClrTx/>
              <a:buSzTx/>
              <a:buFontTx/>
              <a:buNone/>
              <a:tabLst/>
              <a:defRPr/>
            </a:pPr>
            <a:r>
              <a:rPr lang="en-US" sz="1000" b="0" spc="-10" baseline="0" dirty="0">
                <a:solidFill>
                  <a:schemeClr val="accent6"/>
                </a:solidFill>
                <a:latin typeface="+mj-lt"/>
              </a:rPr>
              <a:t>MD ANDERSON CANCER CENTER</a:t>
            </a:r>
          </a:p>
        </p:txBody>
      </p:sp>
      <p:grpSp>
        <p:nvGrpSpPr>
          <p:cNvPr id="8" name="Group 7">
            <a:extLst>
              <a:ext uri="{FF2B5EF4-FFF2-40B4-BE49-F238E27FC236}">
                <a16:creationId xmlns:a16="http://schemas.microsoft.com/office/drawing/2014/main" id="{E6B8C4C1-8C4C-4D2F-AA08-DDD99F602538}"/>
              </a:ext>
            </a:extLst>
          </p:cNvPr>
          <p:cNvGrpSpPr/>
          <p:nvPr userDrawn="1"/>
        </p:nvGrpSpPr>
        <p:grpSpPr>
          <a:xfrm>
            <a:off x="0" y="6721475"/>
            <a:ext cx="12192000" cy="136525"/>
            <a:chOff x="0" y="3263491"/>
            <a:chExt cx="12192000" cy="271279"/>
          </a:xfrm>
        </p:grpSpPr>
        <p:sp>
          <p:nvSpPr>
            <p:cNvPr id="9" name="Rectangle 8">
              <a:extLst>
                <a:ext uri="{FF2B5EF4-FFF2-40B4-BE49-F238E27FC236}">
                  <a16:creationId xmlns:a16="http://schemas.microsoft.com/office/drawing/2014/main" id="{CB60EEFD-0C86-45BD-B286-7E19BF1C6648}"/>
                </a:ext>
              </a:extLst>
            </p:cNvPr>
            <p:cNvSpPr/>
            <p:nvPr userDrawn="1"/>
          </p:nvSpPr>
          <p:spPr>
            <a:xfrm>
              <a:off x="0" y="3263491"/>
              <a:ext cx="3048000" cy="271279"/>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0" name="Rectangle 9">
              <a:extLst>
                <a:ext uri="{FF2B5EF4-FFF2-40B4-BE49-F238E27FC236}">
                  <a16:creationId xmlns:a16="http://schemas.microsoft.com/office/drawing/2014/main" id="{4B53A58E-D010-4509-B23D-D742755219F1}"/>
                </a:ext>
              </a:extLst>
            </p:cNvPr>
            <p:cNvSpPr/>
            <p:nvPr userDrawn="1"/>
          </p:nvSpPr>
          <p:spPr>
            <a:xfrm>
              <a:off x="3048000" y="3263491"/>
              <a:ext cx="3048000" cy="27127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1" name="Rectangle 10">
              <a:extLst>
                <a:ext uri="{FF2B5EF4-FFF2-40B4-BE49-F238E27FC236}">
                  <a16:creationId xmlns:a16="http://schemas.microsoft.com/office/drawing/2014/main" id="{B5EC6903-F8D0-49E1-A180-1151DF61FCBE}"/>
                </a:ext>
              </a:extLst>
            </p:cNvPr>
            <p:cNvSpPr/>
            <p:nvPr userDrawn="1"/>
          </p:nvSpPr>
          <p:spPr>
            <a:xfrm>
              <a:off x="6096000" y="3263491"/>
              <a:ext cx="3048000" cy="271279"/>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sp>
          <p:nvSpPr>
            <p:cNvPr id="12" name="Rectangle 11">
              <a:extLst>
                <a:ext uri="{FF2B5EF4-FFF2-40B4-BE49-F238E27FC236}">
                  <a16:creationId xmlns:a16="http://schemas.microsoft.com/office/drawing/2014/main" id="{6AB5BD5B-CC94-4B9A-8420-7035DCC8C196}"/>
                </a:ext>
              </a:extLst>
            </p:cNvPr>
            <p:cNvSpPr/>
            <p:nvPr userDrawn="1"/>
          </p:nvSpPr>
          <p:spPr>
            <a:xfrm>
              <a:off x="9144000" y="3263491"/>
              <a:ext cx="3048000" cy="271279"/>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800"/>
                </a:spcBef>
              </a:pPr>
              <a:endParaRPr lang="en-US" sz="2400" b="1" dirty="0">
                <a:latin typeface="+mj-lt"/>
              </a:endParaRPr>
            </a:p>
          </p:txBody>
        </p:sp>
      </p:grpSp>
    </p:spTree>
    <p:extLst>
      <p:ext uri="{BB962C8B-B14F-4D97-AF65-F5344CB8AC3E}">
        <p14:creationId xmlns:p14="http://schemas.microsoft.com/office/powerpoint/2010/main" val="3005378725"/>
      </p:ext>
    </p:extLst>
  </p:cSld>
  <p:clrMap bg1="lt1" tx1="dk1" bg2="lt2" tx2="dk2" accent1="accent1" accent2="accent2" accent3="accent3" accent4="accent4" accent5="accent5" accent6="accent6" hlink="hlink" folHlink="folHlink"/>
  <p:sldLayoutIdLst>
    <p:sldLayoutId id="2147483713" r:id="rId1"/>
    <p:sldLayoutId id="2147483649" r:id="rId2"/>
    <p:sldLayoutId id="2147483714" r:id="rId3"/>
    <p:sldLayoutId id="2147483650" r:id="rId4"/>
    <p:sldLayoutId id="2147483652" r:id="rId5"/>
    <p:sldLayoutId id="2147483653" r:id="rId6"/>
    <p:sldLayoutId id="2147483689" r:id="rId7"/>
    <p:sldLayoutId id="2147483654" r:id="rId8"/>
    <p:sldLayoutId id="2147483651" r:id="rId9"/>
    <p:sldLayoutId id="2147483715" r:id="rId10"/>
  </p:sldLayoutIdLst>
  <p:hf sldNum="0" hdr="0" ftr="0" dt="0"/>
  <p:txStyles>
    <p:titleStyle>
      <a:lvl1pPr algn="l" defTabSz="914400" rtl="0" eaLnBrk="1" latinLnBrk="0" hangingPunct="1">
        <a:lnSpc>
          <a:spcPct val="90000"/>
        </a:lnSpc>
        <a:spcBef>
          <a:spcPct val="0"/>
        </a:spcBef>
        <a:buNone/>
        <a:defRPr sz="2800" b="1" kern="1200">
          <a:solidFill>
            <a:schemeClr val="bg1">
              <a:lumMod val="50000"/>
            </a:schemeClr>
          </a:solidFill>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b="1" kern="1200">
          <a:solidFill>
            <a:schemeClr val="tx1"/>
          </a:solidFill>
          <a:latin typeface="+mj-lt"/>
          <a:ea typeface="+mn-ea"/>
          <a:cs typeface="+mn-cs"/>
        </a:defRPr>
      </a:lvl1pPr>
      <a:lvl2pPr marL="169863" indent="-169863"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j-lt"/>
          <a:ea typeface="+mn-ea"/>
          <a:cs typeface="+mn-cs"/>
        </a:defRPr>
      </a:lvl2pPr>
      <a:lvl3pPr marL="341313" indent="-17145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3pPr>
      <a:lvl4pPr marL="511175" indent="-169863" algn="l" defTabSz="914400" rtl="0" eaLnBrk="1" latinLnBrk="0" hangingPunct="1">
        <a:lnSpc>
          <a:spcPct val="90000"/>
        </a:lnSpc>
        <a:spcBef>
          <a:spcPts val="500"/>
        </a:spcBef>
        <a:buClr>
          <a:schemeClr val="tx1"/>
        </a:buClr>
        <a:buFont typeface="Arial" panose="020B0604020202020204" pitchFamily="34" charset="0"/>
        <a:buChar char="•"/>
        <a:defRPr sz="1600" kern="1200">
          <a:solidFill>
            <a:schemeClr val="tx1"/>
          </a:solidFill>
          <a:latin typeface="+mj-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075" userDrawn="1">
          <p15:clr>
            <a:srgbClr val="F26B43"/>
          </p15:clr>
        </p15:guide>
        <p15:guide id="4" pos="408" userDrawn="1">
          <p15:clr>
            <a:srgbClr val="F26B43"/>
          </p15:clr>
        </p15:guide>
        <p15:guide id="5" orient="horz" pos="931" userDrawn="1">
          <p15:clr>
            <a:srgbClr val="F26B43"/>
          </p15:clr>
        </p15:guide>
        <p15:guide id="6" orient="horz" pos="784" userDrawn="1">
          <p15:clr>
            <a:srgbClr val="F26B43"/>
          </p15:clr>
        </p15:guide>
        <p15:guide id="7" orient="horz" pos="234" userDrawn="1">
          <p15:clr>
            <a:srgbClr val="F26B43"/>
          </p15:clr>
        </p15:guide>
        <p15:guide id="8" pos="7394" userDrawn="1">
          <p15:clr>
            <a:srgbClr val="F26B43"/>
          </p15:clr>
        </p15:guide>
        <p15:guide id="9" orient="horz" pos="385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hyperlink" Target="https://doi.org/10.1016/j.jphys.2014.06.021" TargetMode="External"/><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a:extLst>
              <a:ext uri="{FF2B5EF4-FFF2-40B4-BE49-F238E27FC236}">
                <a16:creationId xmlns:a16="http://schemas.microsoft.com/office/drawing/2014/main" id="{76B626DC-6FD8-44F7-8EFD-40E8E9BA18BC}"/>
              </a:ext>
            </a:extLst>
          </p:cNvPr>
          <p:cNvSpPr>
            <a:spLocks noGrp="1"/>
          </p:cNvSpPr>
          <p:nvPr>
            <p:ph type="subTitle" idx="1"/>
          </p:nvPr>
        </p:nvSpPr>
        <p:spPr>
          <a:xfrm>
            <a:off x="337931" y="4503909"/>
            <a:ext cx="11157380" cy="2006221"/>
          </a:xfrm>
        </p:spPr>
        <p:txBody>
          <a:bodyPr>
            <a:normAutofit/>
          </a:bodyPr>
          <a:lstStyle/>
          <a:p>
            <a:pPr>
              <a:lnSpc>
                <a:spcPct val="120000"/>
              </a:lnSpc>
            </a:pPr>
            <a:r>
              <a:rPr lang="en-US" sz="2000" i="0" dirty="0"/>
              <a:t>Maria E. Suarez-</a:t>
            </a:r>
            <a:r>
              <a:rPr lang="en-US" sz="2000" i="0" dirty="0" err="1"/>
              <a:t>Almazor</a:t>
            </a:r>
            <a:r>
              <a:rPr lang="en-US" sz="2000" i="0" dirty="0"/>
              <a:t>, MD, PhD</a:t>
            </a:r>
          </a:p>
          <a:p>
            <a:pPr>
              <a:lnSpc>
                <a:spcPct val="120000"/>
              </a:lnSpc>
            </a:pPr>
            <a:r>
              <a:rPr lang="en-US" sz="2000" i="0" dirty="0"/>
              <a:t>Barnts Family Distinguished Professor</a:t>
            </a:r>
          </a:p>
          <a:p>
            <a:pPr>
              <a:lnSpc>
                <a:spcPct val="120000"/>
              </a:lnSpc>
            </a:pPr>
            <a:r>
              <a:rPr lang="en-US" sz="2000" i="0" dirty="0"/>
              <a:t>Department of Health Services Research</a:t>
            </a:r>
          </a:p>
          <a:p>
            <a:pPr>
              <a:lnSpc>
                <a:spcPct val="120000"/>
              </a:lnSpc>
            </a:pPr>
            <a:r>
              <a:rPr lang="en-US" sz="2000" i="0" dirty="0"/>
              <a:t>University of Texas MD Anderson Cancer Center</a:t>
            </a:r>
          </a:p>
          <a:p>
            <a:pPr>
              <a:lnSpc>
                <a:spcPct val="120000"/>
              </a:lnSpc>
            </a:pPr>
            <a:r>
              <a:rPr lang="en-US" sz="2000" i="0" dirty="0" err="1"/>
              <a:t>msalmazor@mdanderson.org</a:t>
            </a:r>
            <a:endParaRPr lang="en-US" sz="2000" i="0" dirty="0"/>
          </a:p>
        </p:txBody>
      </p:sp>
      <p:pic>
        <p:nvPicPr>
          <p:cNvPr id="15" name="Picture Placeholder 14" descr="A logo with a black background&#10;&#10;Description automatically generated">
            <a:extLst>
              <a:ext uri="{FF2B5EF4-FFF2-40B4-BE49-F238E27FC236}">
                <a16:creationId xmlns:a16="http://schemas.microsoft.com/office/drawing/2014/main" id="{F63875FA-4CB6-A4FC-B7D9-B8AF199D593D}"/>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7592" b="7592"/>
          <a:stretch>
            <a:fillRect/>
          </a:stretch>
        </p:blipFill>
        <p:spPr>
          <a:xfrm>
            <a:off x="8536396" y="0"/>
            <a:ext cx="3655603" cy="2006221"/>
          </a:xfrm>
          <a:solidFill>
            <a:schemeClr val="bg2">
              <a:lumMod val="85000"/>
            </a:schemeClr>
          </a:solidFill>
        </p:spPr>
      </p:pic>
      <p:sp>
        <p:nvSpPr>
          <p:cNvPr id="16" name="TextBox 15">
            <a:extLst>
              <a:ext uri="{FF2B5EF4-FFF2-40B4-BE49-F238E27FC236}">
                <a16:creationId xmlns:a16="http://schemas.microsoft.com/office/drawing/2014/main" id="{72C42D65-77D7-851C-DAF0-82DE7BCADEFF}"/>
              </a:ext>
            </a:extLst>
          </p:cNvPr>
          <p:cNvSpPr txBox="1"/>
          <p:nvPr/>
        </p:nvSpPr>
        <p:spPr>
          <a:xfrm>
            <a:off x="588062" y="2644170"/>
            <a:ext cx="8632781" cy="1077218"/>
          </a:xfrm>
          <a:prstGeom prst="rect">
            <a:avLst/>
          </a:prstGeom>
          <a:noFill/>
        </p:spPr>
        <p:txBody>
          <a:bodyPr wrap="square" rtlCol="0">
            <a:spAutoFit/>
          </a:bodyPr>
          <a:lstStyle/>
          <a:p>
            <a:r>
              <a:rPr lang="en-US" sz="3200" b="1" dirty="0">
                <a:solidFill>
                  <a:schemeClr val="bg1"/>
                </a:solidFill>
                <a:latin typeface="+mj-lt"/>
              </a:rPr>
              <a:t>Methods for Comparative Effectiveness and Patient-Centered Outcomes Research</a:t>
            </a:r>
          </a:p>
        </p:txBody>
      </p:sp>
    </p:spTree>
    <p:extLst>
      <p:ext uri="{BB962C8B-B14F-4D97-AF65-F5344CB8AC3E}">
        <p14:creationId xmlns:p14="http://schemas.microsoft.com/office/powerpoint/2010/main" val="3414184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932D2-A5BD-C1DB-4B12-E139A976C962}"/>
              </a:ext>
            </a:extLst>
          </p:cNvPr>
          <p:cNvSpPr>
            <a:spLocks noGrp="1"/>
          </p:cNvSpPr>
          <p:nvPr>
            <p:ph type="title"/>
          </p:nvPr>
        </p:nvSpPr>
        <p:spPr/>
        <p:txBody>
          <a:bodyPr/>
          <a:lstStyle/>
          <a:p>
            <a:r>
              <a:rPr lang="en-US" dirty="0"/>
              <a:t>Overview</a:t>
            </a:r>
          </a:p>
        </p:txBody>
      </p:sp>
      <p:sp>
        <p:nvSpPr>
          <p:cNvPr id="3" name="Content Placeholder 2">
            <a:extLst>
              <a:ext uri="{FF2B5EF4-FFF2-40B4-BE49-F238E27FC236}">
                <a16:creationId xmlns:a16="http://schemas.microsoft.com/office/drawing/2014/main" id="{A125EBF7-C3C8-C6FA-ED03-D1F52AF23255}"/>
              </a:ext>
            </a:extLst>
          </p:cNvPr>
          <p:cNvSpPr>
            <a:spLocks noGrp="1"/>
          </p:cNvSpPr>
          <p:nvPr>
            <p:ph idx="1"/>
          </p:nvPr>
        </p:nvSpPr>
        <p:spPr>
          <a:xfrm>
            <a:off x="655092" y="2020368"/>
            <a:ext cx="11077248" cy="3171564"/>
          </a:xfrm>
        </p:spPr>
        <p:txBody>
          <a:bodyPr>
            <a:normAutofit/>
          </a:bodyPr>
          <a:lstStyle/>
          <a:p>
            <a:pPr marL="342900" indent="-342900">
              <a:buFontTx/>
              <a:buChar char="-"/>
            </a:pPr>
            <a:r>
              <a:rPr lang="en-US" sz="2800" b="0" dirty="0"/>
              <a:t>Basic methods of Comparative Effectiveness Research</a:t>
            </a:r>
          </a:p>
          <a:p>
            <a:pPr marL="342900" indent="-342900">
              <a:buFontTx/>
              <a:buChar char="-"/>
            </a:pPr>
            <a:r>
              <a:rPr lang="en-US" sz="2800" b="0" dirty="0"/>
              <a:t>Evidence synthesis</a:t>
            </a:r>
          </a:p>
          <a:p>
            <a:pPr marL="342900" indent="-342900">
              <a:buFontTx/>
              <a:buChar char="-"/>
            </a:pPr>
            <a:r>
              <a:rPr lang="en-US" sz="2800" b="0" dirty="0"/>
              <a:t>Observational studies</a:t>
            </a:r>
          </a:p>
          <a:p>
            <a:pPr marL="342900" indent="-342900">
              <a:buFontTx/>
              <a:buChar char="-"/>
            </a:pPr>
            <a:r>
              <a:rPr lang="en-US" sz="2800" b="0" dirty="0"/>
              <a:t>Pragmatic clinical trials</a:t>
            </a:r>
          </a:p>
        </p:txBody>
      </p:sp>
    </p:spTree>
    <p:extLst>
      <p:ext uri="{BB962C8B-B14F-4D97-AF65-F5344CB8AC3E}">
        <p14:creationId xmlns:p14="http://schemas.microsoft.com/office/powerpoint/2010/main" val="33856564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4373B7-4247-2275-BE58-27EE71075B37}"/>
              </a:ext>
            </a:extLst>
          </p:cNvPr>
          <p:cNvSpPr>
            <a:spLocks noGrp="1"/>
          </p:cNvSpPr>
          <p:nvPr>
            <p:ph idx="1"/>
          </p:nvPr>
        </p:nvSpPr>
        <p:spPr/>
        <p:txBody>
          <a:bodyPr>
            <a:normAutofit/>
          </a:bodyPr>
          <a:lstStyle/>
          <a:p>
            <a:r>
              <a:rPr lang="en-US" sz="3600" dirty="0">
                <a:solidFill>
                  <a:schemeClr val="accent2"/>
                </a:solidFill>
              </a:rPr>
              <a:t>CER: </a:t>
            </a:r>
            <a:r>
              <a:rPr lang="en-US" sz="3600" dirty="0"/>
              <a:t>Comparative Effectiveness Research</a:t>
            </a:r>
          </a:p>
          <a:p>
            <a:endParaRPr lang="en-US" sz="3600" dirty="0"/>
          </a:p>
          <a:p>
            <a:r>
              <a:rPr lang="en-US" sz="3600" dirty="0">
                <a:solidFill>
                  <a:schemeClr val="accent2"/>
                </a:solidFill>
              </a:rPr>
              <a:t>PCOR: </a:t>
            </a:r>
            <a:r>
              <a:rPr lang="en-US" sz="3600" dirty="0"/>
              <a:t>Patient-Centered Outcomes Research</a:t>
            </a:r>
          </a:p>
          <a:p>
            <a:endParaRPr lang="en-US" sz="3600" dirty="0"/>
          </a:p>
          <a:p>
            <a:r>
              <a:rPr lang="en-US" sz="3600" dirty="0">
                <a:solidFill>
                  <a:schemeClr val="accent2"/>
                </a:solidFill>
              </a:rPr>
              <a:t>RWE: </a:t>
            </a:r>
            <a:r>
              <a:rPr lang="en-US" sz="3600" dirty="0"/>
              <a:t>Real-World Evidence</a:t>
            </a:r>
          </a:p>
        </p:txBody>
      </p:sp>
    </p:spTree>
    <p:extLst>
      <p:ext uri="{BB962C8B-B14F-4D97-AF65-F5344CB8AC3E}">
        <p14:creationId xmlns:p14="http://schemas.microsoft.com/office/powerpoint/2010/main" val="784175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D4451-B51A-F9EC-1DEA-3658A10725A6}"/>
              </a:ext>
            </a:extLst>
          </p:cNvPr>
          <p:cNvSpPr>
            <a:spLocks noGrp="1"/>
          </p:cNvSpPr>
          <p:nvPr>
            <p:ph type="title"/>
          </p:nvPr>
        </p:nvSpPr>
        <p:spPr/>
        <p:txBody>
          <a:bodyPr/>
          <a:lstStyle/>
          <a:p>
            <a:r>
              <a:rPr lang="en-US" dirty="0"/>
              <a:t>Key Elements of Comparative Effectiveness Research</a:t>
            </a:r>
          </a:p>
        </p:txBody>
      </p:sp>
      <p:sp>
        <p:nvSpPr>
          <p:cNvPr id="3" name="Content Placeholder 2">
            <a:extLst>
              <a:ext uri="{FF2B5EF4-FFF2-40B4-BE49-F238E27FC236}">
                <a16:creationId xmlns:a16="http://schemas.microsoft.com/office/drawing/2014/main" id="{EB1356DA-0E13-0B8C-B58E-AE0225F6DD65}"/>
              </a:ext>
            </a:extLst>
          </p:cNvPr>
          <p:cNvSpPr>
            <a:spLocks noGrp="1"/>
          </p:cNvSpPr>
          <p:nvPr>
            <p:ph idx="1"/>
          </p:nvPr>
        </p:nvSpPr>
        <p:spPr>
          <a:xfrm>
            <a:off x="655093" y="1955005"/>
            <a:ext cx="11077248" cy="4646648"/>
          </a:xfrm>
        </p:spPr>
        <p:txBody>
          <a:bodyPr>
            <a:normAutofit/>
          </a:bodyPr>
          <a:lstStyle/>
          <a:p>
            <a:pPr marL="457200" indent="-457200">
              <a:buAutoNum type="arabicPeriod"/>
            </a:pPr>
            <a:r>
              <a:rPr lang="en-US" sz="2800" b="0" dirty="0"/>
              <a:t>Goal: to inform health care decisions for selected populations</a:t>
            </a:r>
          </a:p>
          <a:p>
            <a:pPr marL="457200" indent="-457200">
              <a:buAutoNum type="arabicPeriod"/>
            </a:pPr>
            <a:r>
              <a:rPr lang="en-US" sz="2800" b="0" dirty="0"/>
              <a:t>Effectiveness (real-world) vs. efficacy (selected populations and controlled environment)</a:t>
            </a:r>
          </a:p>
          <a:p>
            <a:pPr marL="457200" indent="-457200">
              <a:buAutoNum type="arabicPeriod"/>
            </a:pPr>
            <a:r>
              <a:rPr lang="en-US" sz="2800" b="0" dirty="0"/>
              <a:t>Comparisons of different alternatives</a:t>
            </a:r>
          </a:p>
        </p:txBody>
      </p:sp>
    </p:spTree>
    <p:extLst>
      <p:ext uri="{BB962C8B-B14F-4D97-AF65-F5344CB8AC3E}">
        <p14:creationId xmlns:p14="http://schemas.microsoft.com/office/powerpoint/2010/main" val="9828421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E0D85-5E26-5F81-AB64-54308D3DF115}"/>
              </a:ext>
            </a:extLst>
          </p:cNvPr>
          <p:cNvSpPr>
            <a:spLocks noGrp="1"/>
          </p:cNvSpPr>
          <p:nvPr>
            <p:ph type="title"/>
          </p:nvPr>
        </p:nvSpPr>
        <p:spPr/>
        <p:txBody>
          <a:bodyPr/>
          <a:lstStyle/>
          <a:p>
            <a:r>
              <a:rPr lang="en-US" dirty="0"/>
              <a:t>Major Methodologies in CER</a:t>
            </a:r>
          </a:p>
        </p:txBody>
      </p:sp>
      <p:sp>
        <p:nvSpPr>
          <p:cNvPr id="3" name="Content Placeholder 2">
            <a:extLst>
              <a:ext uri="{FF2B5EF4-FFF2-40B4-BE49-F238E27FC236}">
                <a16:creationId xmlns:a16="http://schemas.microsoft.com/office/drawing/2014/main" id="{E4B7C213-5EA0-3FCD-D804-6BEF3614AABF}"/>
              </a:ext>
            </a:extLst>
          </p:cNvPr>
          <p:cNvSpPr>
            <a:spLocks noGrp="1"/>
          </p:cNvSpPr>
          <p:nvPr>
            <p:ph idx="1"/>
          </p:nvPr>
        </p:nvSpPr>
        <p:spPr/>
        <p:txBody>
          <a:bodyPr>
            <a:normAutofit/>
          </a:bodyPr>
          <a:lstStyle/>
          <a:p>
            <a:pPr marL="342900" indent="-342900">
              <a:buFontTx/>
              <a:buChar char="-"/>
            </a:pPr>
            <a:r>
              <a:rPr lang="en-US" sz="2800" dirty="0">
                <a:solidFill>
                  <a:srgbClr val="0070C0"/>
                </a:solidFill>
              </a:rPr>
              <a:t>Evidence synthesis</a:t>
            </a:r>
          </a:p>
          <a:p>
            <a:pPr marL="512763" lvl="1" indent="-342900">
              <a:buFontTx/>
              <a:buChar char="-"/>
            </a:pPr>
            <a:r>
              <a:rPr lang="en-US" sz="2800" dirty="0"/>
              <a:t>Research on existing data</a:t>
            </a:r>
          </a:p>
          <a:p>
            <a:pPr marL="512763" lvl="1" indent="-342900">
              <a:buFontTx/>
              <a:buChar char="-"/>
            </a:pPr>
            <a:endParaRPr lang="en-US" sz="2400" dirty="0"/>
          </a:p>
          <a:p>
            <a:pPr marL="342900" indent="-342900">
              <a:buFontTx/>
              <a:buChar char="-"/>
            </a:pPr>
            <a:r>
              <a:rPr lang="en-US" sz="2800" dirty="0">
                <a:solidFill>
                  <a:srgbClr val="0070C0"/>
                </a:solidFill>
              </a:rPr>
              <a:t>Generation of new data (real-world studies)</a:t>
            </a:r>
          </a:p>
          <a:p>
            <a:pPr marL="512763" lvl="1" indent="-342900">
              <a:buFontTx/>
              <a:buChar char="-"/>
            </a:pPr>
            <a:r>
              <a:rPr lang="en-US" sz="2800" b="0" dirty="0"/>
              <a:t>Observational research (cohort and registry studies)</a:t>
            </a:r>
          </a:p>
          <a:p>
            <a:pPr marL="512763" lvl="1" indent="-342900">
              <a:buFontTx/>
              <a:buChar char="-"/>
            </a:pPr>
            <a:r>
              <a:rPr lang="en-US" sz="2800" b="0" dirty="0"/>
              <a:t>Effectiveness/pragmatic clinical trials</a:t>
            </a:r>
          </a:p>
          <a:p>
            <a:endParaRPr lang="en-US" sz="2800" b="0" dirty="0"/>
          </a:p>
          <a:p>
            <a:endParaRPr lang="en-US" sz="2800" dirty="0"/>
          </a:p>
        </p:txBody>
      </p:sp>
    </p:spTree>
    <p:extLst>
      <p:ext uri="{BB962C8B-B14F-4D97-AF65-F5344CB8AC3E}">
        <p14:creationId xmlns:p14="http://schemas.microsoft.com/office/powerpoint/2010/main" val="3651308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82DB98-4FF8-9F27-48E1-4CBD946CE322}"/>
              </a:ext>
            </a:extLst>
          </p:cNvPr>
          <p:cNvSpPr>
            <a:spLocks noGrp="1"/>
          </p:cNvSpPr>
          <p:nvPr>
            <p:ph type="title"/>
          </p:nvPr>
        </p:nvSpPr>
        <p:spPr/>
        <p:txBody>
          <a:bodyPr>
            <a:normAutofit/>
          </a:bodyPr>
          <a:lstStyle/>
          <a:p>
            <a:r>
              <a:rPr lang="en-US" sz="4000" dirty="0"/>
              <a:t>Evidence Synthesis</a:t>
            </a:r>
          </a:p>
        </p:txBody>
      </p:sp>
      <p:sp>
        <p:nvSpPr>
          <p:cNvPr id="3" name="Text Placeholder 2">
            <a:extLst>
              <a:ext uri="{FF2B5EF4-FFF2-40B4-BE49-F238E27FC236}">
                <a16:creationId xmlns:a16="http://schemas.microsoft.com/office/drawing/2014/main" id="{B1C4DE43-A4EC-1D00-173A-E740930E5AA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017778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BA088-C06E-8120-FCB2-2476DB82BCFE}"/>
              </a:ext>
            </a:extLst>
          </p:cNvPr>
          <p:cNvSpPr>
            <a:spLocks noGrp="1"/>
          </p:cNvSpPr>
          <p:nvPr>
            <p:ph type="title"/>
          </p:nvPr>
        </p:nvSpPr>
        <p:spPr/>
        <p:txBody>
          <a:bodyPr/>
          <a:lstStyle/>
          <a:p>
            <a:r>
              <a:rPr lang="en-US" dirty="0"/>
              <a:t>Evidence synthesis</a:t>
            </a:r>
          </a:p>
        </p:txBody>
      </p:sp>
      <p:sp>
        <p:nvSpPr>
          <p:cNvPr id="3" name="Content Placeholder 2">
            <a:extLst>
              <a:ext uri="{FF2B5EF4-FFF2-40B4-BE49-F238E27FC236}">
                <a16:creationId xmlns:a16="http://schemas.microsoft.com/office/drawing/2014/main" id="{D302752D-A5FE-7D81-D777-8820EF54BD92}"/>
              </a:ext>
            </a:extLst>
          </p:cNvPr>
          <p:cNvSpPr>
            <a:spLocks noGrp="1"/>
          </p:cNvSpPr>
          <p:nvPr>
            <p:ph idx="1"/>
          </p:nvPr>
        </p:nvSpPr>
        <p:spPr/>
        <p:txBody>
          <a:bodyPr/>
          <a:lstStyle/>
          <a:p>
            <a:pPr marL="342900" indent="-342900">
              <a:buFont typeface="Arial" panose="020B0604020202020204" pitchFamily="34" charset="0"/>
              <a:buChar char="•"/>
            </a:pPr>
            <a:r>
              <a:rPr lang="en-US" sz="2400" b="0" dirty="0"/>
              <a:t>Research methodology that identifies, selects, appraises, combines and analyzes data from multiple sources of information</a:t>
            </a:r>
          </a:p>
          <a:p>
            <a:pPr marL="342900" indent="-342900">
              <a:buFont typeface="Arial" panose="020B0604020202020204" pitchFamily="34" charset="0"/>
              <a:buChar char="•"/>
            </a:pPr>
            <a:endParaRPr lang="en-US" sz="2400" b="0" dirty="0"/>
          </a:p>
          <a:p>
            <a:pPr marL="342900" indent="-342900">
              <a:buFont typeface="Arial" panose="020B0604020202020204" pitchFamily="34" charset="0"/>
              <a:buChar char="•"/>
            </a:pPr>
            <a:r>
              <a:rPr lang="en-US" sz="2400" b="0" dirty="0"/>
              <a:t>The goal is to identify and synthesize all the available information on a topic of interest</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sz="2400" b="0" dirty="0">
                <a:solidFill>
                  <a:srgbClr val="0070C0"/>
                </a:solidFill>
              </a:rPr>
              <a:t>Systematic reviews</a:t>
            </a:r>
          </a:p>
          <a:p>
            <a:pPr marL="342900" indent="-342900">
              <a:buFont typeface="Arial" panose="020B0604020202020204" pitchFamily="34" charset="0"/>
              <a:buChar char="•"/>
            </a:pPr>
            <a:r>
              <a:rPr lang="en-US" sz="2400" b="0" dirty="0">
                <a:solidFill>
                  <a:srgbClr val="0070C0"/>
                </a:solidFill>
              </a:rPr>
              <a:t>Meta-analysis</a:t>
            </a:r>
          </a:p>
          <a:p>
            <a:pPr marL="342900" indent="-342900">
              <a:buFont typeface="Arial" panose="020B0604020202020204" pitchFamily="34" charset="0"/>
              <a:buChar char="•"/>
            </a:pPr>
            <a:r>
              <a:rPr lang="en-US" sz="2400" b="0" dirty="0">
                <a:solidFill>
                  <a:srgbClr val="0070C0"/>
                </a:solidFill>
              </a:rPr>
              <a:t>Decision analysis</a:t>
            </a:r>
          </a:p>
        </p:txBody>
      </p:sp>
    </p:spTree>
    <p:extLst>
      <p:ext uri="{BB962C8B-B14F-4D97-AF65-F5344CB8AC3E}">
        <p14:creationId xmlns:p14="http://schemas.microsoft.com/office/powerpoint/2010/main" val="1075172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CD948-19F6-BC9F-F8F7-8C2A590C65AC}"/>
              </a:ext>
            </a:extLst>
          </p:cNvPr>
          <p:cNvSpPr>
            <a:spLocks noGrp="1"/>
          </p:cNvSpPr>
          <p:nvPr>
            <p:ph type="title"/>
          </p:nvPr>
        </p:nvSpPr>
        <p:spPr/>
        <p:txBody>
          <a:bodyPr>
            <a:normAutofit/>
          </a:bodyPr>
          <a:lstStyle/>
          <a:p>
            <a:r>
              <a:rPr lang="en-US" sz="3200" dirty="0"/>
              <a:t>Systematic Review</a:t>
            </a:r>
          </a:p>
        </p:txBody>
      </p:sp>
      <p:sp>
        <p:nvSpPr>
          <p:cNvPr id="3" name="Content Placeholder 2">
            <a:extLst>
              <a:ext uri="{FF2B5EF4-FFF2-40B4-BE49-F238E27FC236}">
                <a16:creationId xmlns:a16="http://schemas.microsoft.com/office/drawing/2014/main" id="{F636985C-9E10-EA01-6DA3-106377CC51BF}"/>
              </a:ext>
            </a:extLst>
          </p:cNvPr>
          <p:cNvSpPr>
            <a:spLocks noGrp="1"/>
          </p:cNvSpPr>
          <p:nvPr>
            <p:ph idx="1"/>
          </p:nvPr>
        </p:nvSpPr>
        <p:spPr>
          <a:xfrm>
            <a:off x="557376" y="1830352"/>
            <a:ext cx="11077248" cy="4646648"/>
          </a:xfrm>
        </p:spPr>
        <p:txBody>
          <a:bodyPr>
            <a:normAutofit/>
          </a:bodyPr>
          <a:lstStyle/>
          <a:p>
            <a:pPr marL="342900" indent="-342900">
              <a:lnSpc>
                <a:spcPct val="100000"/>
              </a:lnSpc>
              <a:spcBef>
                <a:spcPts val="400"/>
              </a:spcBef>
              <a:buFont typeface="Arial" panose="020B0604020202020204" pitchFamily="34" charset="0"/>
              <a:buChar char="•"/>
            </a:pPr>
            <a:r>
              <a:rPr lang="en-US" sz="2800" b="0" dirty="0">
                <a:solidFill>
                  <a:srgbClr val="404040"/>
                </a:solidFill>
                <a:latin typeface="Arial" panose="020B0604020202020204" pitchFamily="34" charset="0"/>
              </a:rPr>
              <a:t>A</a:t>
            </a:r>
            <a:r>
              <a:rPr lang="en-US" sz="2800" b="0" i="0" dirty="0">
                <a:solidFill>
                  <a:srgbClr val="404040"/>
                </a:solidFill>
                <a:effectLst/>
                <a:latin typeface="Arial" panose="020B0604020202020204" pitchFamily="34" charset="0"/>
              </a:rPr>
              <a:t> summary of research results (evidence) that uses explicit and reproducible methods to </a:t>
            </a:r>
            <a:r>
              <a:rPr lang="en-US" sz="2800" b="0" i="0" dirty="0">
                <a:solidFill>
                  <a:schemeClr val="tx2"/>
                </a:solidFill>
                <a:effectLst/>
                <a:latin typeface="Arial" panose="020B0604020202020204" pitchFamily="34" charset="0"/>
              </a:rPr>
              <a:t>systematically search, critically appraise, and synthesize</a:t>
            </a:r>
            <a:r>
              <a:rPr lang="en-US" sz="2800" b="0" i="0" dirty="0">
                <a:solidFill>
                  <a:srgbClr val="404040"/>
                </a:solidFill>
                <a:effectLst/>
                <a:latin typeface="Arial" panose="020B0604020202020204" pitchFamily="34" charset="0"/>
              </a:rPr>
              <a:t> on a specific issue</a:t>
            </a:r>
          </a:p>
          <a:p>
            <a:pPr>
              <a:lnSpc>
                <a:spcPct val="100000"/>
              </a:lnSpc>
              <a:spcBef>
                <a:spcPts val="400"/>
              </a:spcBef>
            </a:pPr>
            <a:endParaRPr lang="en-US" sz="2800" b="0" i="0" dirty="0">
              <a:solidFill>
                <a:srgbClr val="404040"/>
              </a:solidFill>
              <a:effectLst/>
              <a:latin typeface="Arial" panose="020B0604020202020204" pitchFamily="34" charset="0"/>
            </a:endParaRPr>
          </a:p>
          <a:p>
            <a:pPr marL="342900" indent="-342900">
              <a:lnSpc>
                <a:spcPct val="100000"/>
              </a:lnSpc>
              <a:spcBef>
                <a:spcPts val="400"/>
              </a:spcBef>
              <a:buFont typeface="Arial" panose="020B0604020202020204" pitchFamily="34" charset="0"/>
              <a:buChar char="•"/>
            </a:pPr>
            <a:r>
              <a:rPr lang="en-US" sz="2800" b="0" i="0" dirty="0">
                <a:solidFill>
                  <a:srgbClr val="404040"/>
                </a:solidFill>
                <a:effectLst/>
                <a:latin typeface="Arial" panose="020B0604020202020204" pitchFamily="34" charset="0"/>
              </a:rPr>
              <a:t>It synthesizes the results of multiple primary studies related to each other by </a:t>
            </a:r>
            <a:r>
              <a:rPr lang="en-US" sz="2800" b="0" i="0" dirty="0">
                <a:solidFill>
                  <a:schemeClr val="tx2"/>
                </a:solidFill>
                <a:effectLst/>
                <a:latin typeface="Arial" panose="020B0604020202020204" pitchFamily="34" charset="0"/>
              </a:rPr>
              <a:t>using strategies that reduce biases and errors</a:t>
            </a:r>
            <a:endParaRPr lang="en-US" sz="3200" dirty="0"/>
          </a:p>
        </p:txBody>
      </p:sp>
      <p:sp>
        <p:nvSpPr>
          <p:cNvPr id="4" name="Slide Number Placeholder 3">
            <a:extLst>
              <a:ext uri="{FF2B5EF4-FFF2-40B4-BE49-F238E27FC236}">
                <a16:creationId xmlns:a16="http://schemas.microsoft.com/office/drawing/2014/main" id="{3FBE8294-FB06-B5E0-A72B-A90718946FF2}"/>
              </a:ext>
            </a:extLst>
          </p:cNvPr>
          <p:cNvSpPr>
            <a:spLocks noGrp="1"/>
          </p:cNvSpPr>
          <p:nvPr>
            <p:ph type="sldNum" sz="quarter" idx="12"/>
          </p:nvPr>
        </p:nvSpPr>
        <p:spPr/>
        <p:txBody>
          <a:bodyPr/>
          <a:lstStyle/>
          <a:p>
            <a:fld id="{7783EEA8-8FFA-40B0-9CA2-B650207154BC}" type="slidenum">
              <a:rPr lang="en-US" smtClean="0"/>
              <a:t>8</a:t>
            </a:fld>
            <a:endParaRPr lang="en-US"/>
          </a:p>
        </p:txBody>
      </p:sp>
      <p:sp>
        <p:nvSpPr>
          <p:cNvPr id="7" name="TextBox 6">
            <a:extLst>
              <a:ext uri="{FF2B5EF4-FFF2-40B4-BE49-F238E27FC236}">
                <a16:creationId xmlns:a16="http://schemas.microsoft.com/office/drawing/2014/main" id="{7BC28F69-7E97-2218-3A67-F25D0C6E7825}"/>
              </a:ext>
            </a:extLst>
          </p:cNvPr>
          <p:cNvSpPr txBox="1"/>
          <p:nvPr/>
        </p:nvSpPr>
        <p:spPr>
          <a:xfrm>
            <a:off x="3485322" y="6246430"/>
            <a:ext cx="6096000" cy="369332"/>
          </a:xfrm>
          <a:prstGeom prst="rect">
            <a:avLst/>
          </a:prstGeom>
          <a:noFill/>
        </p:spPr>
        <p:txBody>
          <a:bodyPr wrap="square">
            <a:spAutoFit/>
          </a:bodyPr>
          <a:lstStyle/>
          <a:p>
            <a:r>
              <a:rPr lang="en-US" dirty="0"/>
              <a:t>https://</a:t>
            </a:r>
            <a:r>
              <a:rPr lang="en-US" dirty="0" err="1"/>
              <a:t>guides.temple.edu</a:t>
            </a:r>
            <a:r>
              <a:rPr lang="en-US" dirty="0"/>
              <a:t>/</a:t>
            </a:r>
            <a:r>
              <a:rPr lang="en-US" dirty="0" err="1"/>
              <a:t>c.php?g</a:t>
            </a:r>
            <a:r>
              <a:rPr lang="en-US" dirty="0"/>
              <a:t>=78618&amp;p=9548660</a:t>
            </a:r>
          </a:p>
        </p:txBody>
      </p:sp>
    </p:spTree>
    <p:extLst>
      <p:ext uri="{BB962C8B-B14F-4D97-AF65-F5344CB8AC3E}">
        <p14:creationId xmlns:p14="http://schemas.microsoft.com/office/powerpoint/2010/main" val="4281296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EC101-FB09-80C3-7478-15D34CCD5DCE}"/>
              </a:ext>
            </a:extLst>
          </p:cNvPr>
          <p:cNvSpPr>
            <a:spLocks noGrp="1"/>
          </p:cNvSpPr>
          <p:nvPr>
            <p:ph type="title"/>
          </p:nvPr>
        </p:nvSpPr>
        <p:spPr>
          <a:xfrm>
            <a:off x="451892" y="306387"/>
            <a:ext cx="11077249" cy="854075"/>
          </a:xfrm>
        </p:spPr>
        <p:txBody>
          <a:bodyPr>
            <a:normAutofit fontScale="90000"/>
          </a:bodyPr>
          <a:lstStyle/>
          <a:p>
            <a:r>
              <a:rPr lang="en-US" sz="3200" dirty="0"/>
              <a:t>A Systematic Review is Different from a Traditional Narrative Review</a:t>
            </a:r>
          </a:p>
        </p:txBody>
      </p:sp>
      <p:sp>
        <p:nvSpPr>
          <p:cNvPr id="3" name="Content Placeholder 2">
            <a:extLst>
              <a:ext uri="{FF2B5EF4-FFF2-40B4-BE49-F238E27FC236}">
                <a16:creationId xmlns:a16="http://schemas.microsoft.com/office/drawing/2014/main" id="{20FCBC60-4A1F-0761-CF4B-A3AA2235FCAA}"/>
              </a:ext>
            </a:extLst>
          </p:cNvPr>
          <p:cNvSpPr>
            <a:spLocks noGrp="1"/>
          </p:cNvSpPr>
          <p:nvPr>
            <p:ph idx="1"/>
          </p:nvPr>
        </p:nvSpPr>
        <p:spPr/>
        <p:txBody>
          <a:bodyPr>
            <a:normAutofit lnSpcReduction="10000"/>
          </a:bodyPr>
          <a:lstStyle/>
          <a:p>
            <a:pPr marL="285750" indent="-285750" algn="l">
              <a:spcBef>
                <a:spcPts val="1200"/>
              </a:spcBef>
              <a:spcAft>
                <a:spcPts val="450"/>
              </a:spcAft>
              <a:buFont typeface="Arial" panose="020B0604020202020204" pitchFamily="34" charset="0"/>
              <a:buChar char="•"/>
            </a:pPr>
            <a:r>
              <a:rPr lang="en-GB" sz="2400" b="0" dirty="0">
                <a:solidFill>
                  <a:srgbClr val="000000"/>
                </a:solidFill>
                <a:latin typeface="Arial" panose="020B0604020202020204" pitchFamily="34" charset="0"/>
              </a:rPr>
              <a:t>C</a:t>
            </a:r>
            <a:r>
              <a:rPr lang="en-GB" sz="2400" b="0" i="0" dirty="0">
                <a:solidFill>
                  <a:srgbClr val="000000"/>
                </a:solidFill>
                <a:effectLst/>
                <a:latin typeface="Arial" panose="020B0604020202020204" pitchFamily="34" charset="0"/>
              </a:rPr>
              <a:t>learly stated objectives with well-defined question (PICOTS)</a:t>
            </a:r>
          </a:p>
          <a:p>
            <a:pPr marL="285750" indent="-285750" algn="l">
              <a:spcBef>
                <a:spcPts val="1200"/>
              </a:spcBef>
              <a:spcAft>
                <a:spcPts val="450"/>
              </a:spcAft>
              <a:buFont typeface="Arial" panose="020B0604020202020204" pitchFamily="34" charset="0"/>
              <a:buChar char="•"/>
            </a:pPr>
            <a:r>
              <a:rPr lang="en-GB" sz="2400" b="0" i="1" dirty="0">
                <a:solidFill>
                  <a:srgbClr val="000000"/>
                </a:solidFill>
                <a:effectLst/>
                <a:latin typeface="Arial" panose="020B0604020202020204" pitchFamily="34" charset="0"/>
              </a:rPr>
              <a:t>A priori </a:t>
            </a:r>
            <a:r>
              <a:rPr lang="en-GB" sz="2400" b="0" i="0" dirty="0">
                <a:solidFill>
                  <a:srgbClr val="000000"/>
                </a:solidFill>
                <a:effectLst/>
                <a:latin typeface="Arial" panose="020B0604020202020204" pitchFamily="34" charset="0"/>
              </a:rPr>
              <a:t>protocol (needs to be registered – PROSPERO, etc)</a:t>
            </a:r>
          </a:p>
          <a:p>
            <a:pPr marL="285750" indent="-285750" algn="l">
              <a:spcBef>
                <a:spcPts val="1200"/>
              </a:spcBef>
              <a:spcAft>
                <a:spcPts val="450"/>
              </a:spcAft>
              <a:buFont typeface="Arial" panose="020B0604020202020204" pitchFamily="34" charset="0"/>
              <a:buChar char="•"/>
            </a:pPr>
            <a:r>
              <a:rPr lang="en-GB" sz="2400" b="0" i="0" dirty="0">
                <a:solidFill>
                  <a:srgbClr val="000000"/>
                </a:solidFill>
                <a:effectLst/>
                <a:latin typeface="Arial" panose="020B0604020202020204" pitchFamily="34" charset="0"/>
              </a:rPr>
              <a:t>Pre-defined eligibility criteria for studies</a:t>
            </a:r>
          </a:p>
          <a:p>
            <a:pPr marL="285750" indent="-285750" algn="l">
              <a:spcBef>
                <a:spcPts val="1200"/>
              </a:spcBef>
              <a:spcAft>
                <a:spcPts val="450"/>
              </a:spcAft>
              <a:buFont typeface="Arial" panose="020B0604020202020204" pitchFamily="34" charset="0"/>
              <a:buChar char="•"/>
            </a:pPr>
            <a:r>
              <a:rPr lang="en-GB" sz="2400" b="0" dirty="0">
                <a:solidFill>
                  <a:srgbClr val="000000"/>
                </a:solidFill>
                <a:latin typeface="Arial" panose="020B0604020202020204" pitchFamily="34" charset="0"/>
              </a:rPr>
              <a:t>E</a:t>
            </a:r>
            <a:r>
              <a:rPr lang="en-GB" sz="2400" b="0" i="0" dirty="0">
                <a:solidFill>
                  <a:srgbClr val="000000"/>
                </a:solidFill>
                <a:effectLst/>
                <a:latin typeface="Arial" panose="020B0604020202020204" pitchFamily="34" charset="0"/>
              </a:rPr>
              <a:t>xplicit, reproducible methodology</a:t>
            </a:r>
          </a:p>
          <a:p>
            <a:pPr marL="285750" indent="-285750" algn="l">
              <a:spcBef>
                <a:spcPts val="1200"/>
              </a:spcBef>
              <a:spcAft>
                <a:spcPts val="450"/>
              </a:spcAft>
              <a:buFont typeface="Arial" panose="020B0604020202020204" pitchFamily="34" charset="0"/>
              <a:buChar char="•"/>
            </a:pPr>
            <a:r>
              <a:rPr lang="en-GB" sz="2400" b="0" dirty="0">
                <a:solidFill>
                  <a:srgbClr val="000000"/>
                </a:solidFill>
                <a:latin typeface="Arial" panose="020B0604020202020204" pitchFamily="34" charset="0"/>
              </a:rPr>
              <a:t>S</a:t>
            </a:r>
            <a:r>
              <a:rPr lang="en-GB" sz="2400" b="0" i="0" dirty="0">
                <a:solidFill>
                  <a:srgbClr val="000000"/>
                </a:solidFill>
                <a:effectLst/>
                <a:latin typeface="Arial" panose="020B0604020202020204" pitchFamily="34" charset="0"/>
              </a:rPr>
              <a:t>ystematic search that attempts to identify all studies that would meet the eligibility criteria</a:t>
            </a:r>
          </a:p>
          <a:p>
            <a:pPr marL="285750" indent="-285750" algn="l">
              <a:spcBef>
                <a:spcPts val="1200"/>
              </a:spcBef>
              <a:spcAft>
                <a:spcPts val="450"/>
              </a:spcAft>
              <a:buFont typeface="Arial" panose="020B0604020202020204" pitchFamily="34" charset="0"/>
              <a:buChar char="•"/>
            </a:pPr>
            <a:r>
              <a:rPr lang="en-GB" sz="2400" b="0" dirty="0">
                <a:solidFill>
                  <a:srgbClr val="000000"/>
                </a:solidFill>
                <a:latin typeface="Arial" panose="020B0604020202020204" pitchFamily="34" charset="0"/>
              </a:rPr>
              <a:t>A</a:t>
            </a:r>
            <a:r>
              <a:rPr lang="en-GB" sz="2400" b="0" i="0" dirty="0">
                <a:solidFill>
                  <a:srgbClr val="000000"/>
                </a:solidFill>
                <a:effectLst/>
                <a:latin typeface="Arial" panose="020B0604020202020204" pitchFamily="34" charset="0"/>
              </a:rPr>
              <a:t>ssessment of the validity of the findings of the included studies (assessment of risk of bias)</a:t>
            </a:r>
          </a:p>
          <a:p>
            <a:pPr marL="285750" indent="-285750" algn="l">
              <a:spcBef>
                <a:spcPts val="1200"/>
              </a:spcBef>
              <a:spcAft>
                <a:spcPts val="450"/>
              </a:spcAft>
              <a:buFont typeface="Arial" panose="020B0604020202020204" pitchFamily="34" charset="0"/>
              <a:buChar char="•"/>
            </a:pPr>
            <a:r>
              <a:rPr lang="en-GB" sz="2400" b="0" dirty="0">
                <a:solidFill>
                  <a:srgbClr val="000000"/>
                </a:solidFill>
                <a:latin typeface="Arial" panose="020B0604020202020204" pitchFamily="34" charset="0"/>
              </a:rPr>
              <a:t>S</a:t>
            </a:r>
            <a:r>
              <a:rPr lang="en-GB" sz="2400" b="0" i="0" dirty="0">
                <a:solidFill>
                  <a:srgbClr val="000000"/>
                </a:solidFill>
                <a:effectLst/>
                <a:latin typeface="Arial" panose="020B0604020202020204" pitchFamily="34" charset="0"/>
              </a:rPr>
              <a:t>ystematic synthesis and reporting of the characteristics and findings of the included studies</a:t>
            </a:r>
          </a:p>
          <a:p>
            <a:endParaRPr lang="en-US" dirty="0"/>
          </a:p>
        </p:txBody>
      </p:sp>
      <p:sp>
        <p:nvSpPr>
          <p:cNvPr id="4" name="Slide Number Placeholder 3">
            <a:extLst>
              <a:ext uri="{FF2B5EF4-FFF2-40B4-BE49-F238E27FC236}">
                <a16:creationId xmlns:a16="http://schemas.microsoft.com/office/drawing/2014/main" id="{9A7BE3E0-5C5D-7765-BACC-FB8B4D995998}"/>
              </a:ext>
            </a:extLst>
          </p:cNvPr>
          <p:cNvSpPr>
            <a:spLocks noGrp="1"/>
          </p:cNvSpPr>
          <p:nvPr>
            <p:ph type="sldNum" sz="quarter" idx="12"/>
          </p:nvPr>
        </p:nvSpPr>
        <p:spPr/>
        <p:txBody>
          <a:bodyPr/>
          <a:lstStyle/>
          <a:p>
            <a:fld id="{7783EEA8-8FFA-40B0-9CA2-B650207154BC}" type="slidenum">
              <a:rPr lang="en-US" smtClean="0"/>
              <a:t>9</a:t>
            </a:fld>
            <a:endParaRPr lang="en-US"/>
          </a:p>
        </p:txBody>
      </p:sp>
    </p:spTree>
    <p:extLst>
      <p:ext uri="{BB962C8B-B14F-4D97-AF65-F5344CB8AC3E}">
        <p14:creationId xmlns:p14="http://schemas.microsoft.com/office/powerpoint/2010/main" val="31494654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E7689-2593-1AAF-2F1B-C093EAC79238}"/>
              </a:ext>
            </a:extLst>
          </p:cNvPr>
          <p:cNvSpPr>
            <a:spLocks noGrp="1"/>
          </p:cNvSpPr>
          <p:nvPr>
            <p:ph type="title"/>
          </p:nvPr>
        </p:nvSpPr>
        <p:spPr/>
        <p:txBody>
          <a:bodyPr>
            <a:normAutofit/>
          </a:bodyPr>
          <a:lstStyle/>
          <a:p>
            <a:r>
              <a:rPr lang="en-US" sz="3200" dirty="0"/>
              <a:t>Meta-analysis</a:t>
            </a:r>
          </a:p>
        </p:txBody>
      </p:sp>
      <p:sp>
        <p:nvSpPr>
          <p:cNvPr id="3" name="Content Placeholder 2">
            <a:extLst>
              <a:ext uri="{FF2B5EF4-FFF2-40B4-BE49-F238E27FC236}">
                <a16:creationId xmlns:a16="http://schemas.microsoft.com/office/drawing/2014/main" id="{605EA6DB-71A0-1218-9A3B-90FBCB956E98}"/>
              </a:ext>
            </a:extLst>
          </p:cNvPr>
          <p:cNvSpPr>
            <a:spLocks noGrp="1"/>
          </p:cNvSpPr>
          <p:nvPr>
            <p:ph idx="1"/>
          </p:nvPr>
        </p:nvSpPr>
        <p:spPr>
          <a:xfrm>
            <a:off x="655093" y="1786551"/>
            <a:ext cx="11077248" cy="3779362"/>
          </a:xfrm>
        </p:spPr>
        <p:txBody>
          <a:bodyPr>
            <a:normAutofit/>
          </a:bodyPr>
          <a:lstStyle/>
          <a:p>
            <a:pPr marL="342900" indent="-342900">
              <a:buFont typeface="Arial" panose="020B0604020202020204" pitchFamily="34" charset="0"/>
              <a:buChar char="•"/>
            </a:pPr>
            <a:r>
              <a:rPr lang="en-US" sz="2600" b="0" dirty="0">
                <a:solidFill>
                  <a:srgbClr val="000000"/>
                </a:solidFill>
                <a:highlight>
                  <a:srgbClr val="FFFFFF"/>
                </a:highlight>
                <a:latin typeface="Arial" panose="020B0604020202020204" pitchFamily="34" charset="0"/>
              </a:rPr>
              <a:t>Meta-analysis is the use of statistical methods to summarize the results of independent studies - </a:t>
            </a:r>
            <a:r>
              <a:rPr lang="en-US" sz="2600" dirty="0">
                <a:solidFill>
                  <a:schemeClr val="accent2"/>
                </a:solidFill>
                <a:highlight>
                  <a:srgbClr val="FFFFFF"/>
                </a:highlight>
                <a:latin typeface="Arial" panose="020B0604020202020204" pitchFamily="34" charset="0"/>
              </a:rPr>
              <a:t>quantitative</a:t>
            </a:r>
          </a:p>
          <a:p>
            <a:pPr marL="342900" indent="-342900">
              <a:buFont typeface="Arial" panose="020B0604020202020204" pitchFamily="34" charset="0"/>
              <a:buChar char="•"/>
            </a:pPr>
            <a:r>
              <a:rPr lang="en-US" sz="2600" b="0" i="0" dirty="0">
                <a:solidFill>
                  <a:srgbClr val="000000"/>
                </a:solidFill>
                <a:effectLst/>
                <a:highlight>
                  <a:srgbClr val="FFFFFF"/>
                </a:highlight>
                <a:latin typeface="Arial" panose="020B0604020202020204" pitchFamily="34" charset="0"/>
              </a:rPr>
              <a:t>Many but not all systematic reviews contain meta-analyses</a:t>
            </a:r>
          </a:p>
          <a:p>
            <a:pPr marL="342900" indent="-342900">
              <a:buFont typeface="Arial" panose="020B0604020202020204" pitchFamily="34" charset="0"/>
              <a:buChar char="•"/>
            </a:pPr>
            <a:r>
              <a:rPr lang="en-US" sz="2600" b="0" i="0" dirty="0">
                <a:solidFill>
                  <a:srgbClr val="000000"/>
                </a:solidFill>
                <a:effectLst/>
                <a:highlight>
                  <a:srgbClr val="FFFFFF"/>
                </a:highlight>
                <a:latin typeface="Arial" panose="020B0604020202020204" pitchFamily="34" charset="0"/>
              </a:rPr>
              <a:t>By combining information from all relevant studies, meta-analyses can provide more precise estimates than those derived from individual studies</a:t>
            </a:r>
          </a:p>
          <a:p>
            <a:pPr marL="342900" indent="-342900">
              <a:buFont typeface="Arial" panose="020B0604020202020204" pitchFamily="34" charset="0"/>
              <a:buChar char="•"/>
            </a:pPr>
            <a:r>
              <a:rPr lang="en-US" sz="2600" b="0" i="0" dirty="0">
                <a:solidFill>
                  <a:srgbClr val="000000"/>
                </a:solidFill>
                <a:effectLst/>
                <a:highlight>
                  <a:srgbClr val="FFFFFF"/>
                </a:highlight>
                <a:latin typeface="Arial" panose="020B0604020202020204" pitchFamily="34" charset="0"/>
              </a:rPr>
              <a:t>Evaluate consistency of evidence vs. differences across studies</a:t>
            </a:r>
            <a:endParaRPr lang="en-US" sz="2600" dirty="0"/>
          </a:p>
        </p:txBody>
      </p:sp>
      <p:sp>
        <p:nvSpPr>
          <p:cNvPr id="4" name="Slide Number Placeholder 3">
            <a:extLst>
              <a:ext uri="{FF2B5EF4-FFF2-40B4-BE49-F238E27FC236}">
                <a16:creationId xmlns:a16="http://schemas.microsoft.com/office/drawing/2014/main" id="{A3E4E53D-245A-2D99-215E-3A29E7C8E744}"/>
              </a:ext>
            </a:extLst>
          </p:cNvPr>
          <p:cNvSpPr>
            <a:spLocks noGrp="1"/>
          </p:cNvSpPr>
          <p:nvPr>
            <p:ph type="sldNum" sz="quarter" idx="12"/>
          </p:nvPr>
        </p:nvSpPr>
        <p:spPr/>
        <p:txBody>
          <a:bodyPr/>
          <a:lstStyle/>
          <a:p>
            <a:fld id="{7783EEA8-8FFA-40B0-9CA2-B650207154BC}" type="slidenum">
              <a:rPr lang="en-US" smtClean="0"/>
              <a:t>10</a:t>
            </a:fld>
            <a:endParaRPr lang="en-US"/>
          </a:p>
        </p:txBody>
      </p:sp>
    </p:spTree>
    <p:extLst>
      <p:ext uri="{BB962C8B-B14F-4D97-AF65-F5344CB8AC3E}">
        <p14:creationId xmlns:p14="http://schemas.microsoft.com/office/powerpoint/2010/main" val="17731467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47A449-DCDB-3816-E34A-D41D640083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319F7-9877-DB0B-1362-E26A3EE43D36}"/>
              </a:ext>
            </a:extLst>
          </p:cNvPr>
          <p:cNvSpPr>
            <a:spLocks noGrp="1"/>
          </p:cNvSpPr>
          <p:nvPr>
            <p:ph type="title"/>
          </p:nvPr>
        </p:nvSpPr>
        <p:spPr/>
        <p:txBody>
          <a:bodyPr/>
          <a:lstStyle/>
          <a:p>
            <a:r>
              <a:rPr lang="en-US" dirty="0"/>
              <a:t>Steps in Systematic Reviews</a:t>
            </a:r>
          </a:p>
        </p:txBody>
      </p:sp>
      <p:sp>
        <p:nvSpPr>
          <p:cNvPr id="3" name="Content Placeholder 2">
            <a:extLst>
              <a:ext uri="{FF2B5EF4-FFF2-40B4-BE49-F238E27FC236}">
                <a16:creationId xmlns:a16="http://schemas.microsoft.com/office/drawing/2014/main" id="{5AA5FDCF-8C7C-E0C9-31EB-D3E1A6E659B9}"/>
              </a:ext>
            </a:extLst>
          </p:cNvPr>
          <p:cNvSpPr>
            <a:spLocks noGrp="1"/>
          </p:cNvSpPr>
          <p:nvPr>
            <p:ph idx="1"/>
          </p:nvPr>
        </p:nvSpPr>
        <p:spPr/>
        <p:txBody>
          <a:bodyPr>
            <a:normAutofit/>
          </a:bodyPr>
          <a:lstStyle/>
          <a:p>
            <a:pPr marL="457200" indent="-457200">
              <a:buAutoNum type="arabicPeriod"/>
            </a:pPr>
            <a:r>
              <a:rPr lang="en-US" sz="2400" dirty="0">
                <a:solidFill>
                  <a:schemeClr val="accent2"/>
                </a:solidFill>
              </a:rPr>
              <a:t>Formulate question</a:t>
            </a:r>
          </a:p>
          <a:p>
            <a:pPr marL="457200" indent="-457200">
              <a:buAutoNum type="arabicPeriod"/>
            </a:pPr>
            <a:r>
              <a:rPr lang="en-US" sz="2400" dirty="0">
                <a:solidFill>
                  <a:schemeClr val="accent2"/>
                </a:solidFill>
              </a:rPr>
              <a:t>Develop protocol( e.g. PROSPERO)</a:t>
            </a:r>
          </a:p>
          <a:p>
            <a:pPr marL="457200" indent="-457200">
              <a:buAutoNum type="arabicPeriod"/>
            </a:pPr>
            <a:r>
              <a:rPr lang="en-US" sz="2400" dirty="0">
                <a:solidFill>
                  <a:schemeClr val="accent2"/>
                </a:solidFill>
              </a:rPr>
              <a:t>Search strategy</a:t>
            </a:r>
          </a:p>
          <a:p>
            <a:pPr marL="512763" lvl="1" indent="-342900">
              <a:buFont typeface="Wingdings" pitchFamily="2" charset="2"/>
              <a:buChar char="§"/>
            </a:pPr>
            <a:r>
              <a:rPr lang="en-US" sz="2000" b="0" dirty="0"/>
              <a:t>Librarian</a:t>
            </a:r>
          </a:p>
          <a:p>
            <a:pPr marL="512763" lvl="1" indent="-342900">
              <a:buFont typeface="Wingdings" pitchFamily="2" charset="2"/>
              <a:buChar char="§"/>
            </a:pPr>
            <a:r>
              <a:rPr lang="en-US" sz="2000" dirty="0"/>
              <a:t>C</a:t>
            </a:r>
            <a:r>
              <a:rPr lang="en-US" sz="2000" b="0" dirty="0"/>
              <a:t>an use more than one database: Medline, EMBASE</a:t>
            </a:r>
          </a:p>
          <a:p>
            <a:pPr marL="512763" lvl="1" indent="-342900">
              <a:buFont typeface="Wingdings" pitchFamily="2" charset="2"/>
              <a:buChar char="§"/>
            </a:pPr>
            <a:r>
              <a:rPr lang="en-US" sz="2000" dirty="0"/>
              <a:t>Needs to be broad to increase sensitivity</a:t>
            </a:r>
          </a:p>
          <a:p>
            <a:pPr marL="457200" indent="-457200">
              <a:buAutoNum type="arabicPeriod"/>
            </a:pPr>
            <a:r>
              <a:rPr lang="en-US" sz="2400" dirty="0">
                <a:solidFill>
                  <a:schemeClr val="accent2"/>
                </a:solidFill>
              </a:rPr>
              <a:t>Study selection</a:t>
            </a:r>
          </a:p>
          <a:p>
            <a:pPr marL="512763" lvl="1" indent="-342900">
              <a:buFont typeface="Wingdings" pitchFamily="2" charset="2"/>
              <a:buChar char="§"/>
            </a:pPr>
            <a:r>
              <a:rPr lang="en-US" sz="2000" dirty="0"/>
              <a:t>Explicit criteria (inclusion and exclusion)</a:t>
            </a:r>
          </a:p>
          <a:p>
            <a:pPr marL="512763" lvl="1" indent="-342900">
              <a:buFont typeface="Wingdings" pitchFamily="2" charset="2"/>
              <a:buChar char="§"/>
            </a:pPr>
            <a:r>
              <a:rPr lang="en-US" sz="2000" dirty="0"/>
              <a:t>Type of study, interventions, participants, outcomes, length of follow-up</a:t>
            </a:r>
          </a:p>
          <a:p>
            <a:pPr marL="512763" lvl="1" indent="-342900">
              <a:buFont typeface="Wingdings" pitchFamily="2" charset="2"/>
              <a:buChar char="§"/>
            </a:pPr>
            <a:r>
              <a:rPr lang="en-US" sz="2000" dirty="0"/>
              <a:t>2 independent reviewers select studies. Disagreement resolved by consensus or by arbitrator</a:t>
            </a:r>
          </a:p>
          <a:p>
            <a:pPr marL="457200" indent="-457200">
              <a:buFont typeface="+mj-lt"/>
              <a:buAutoNum type="arabicPeriod"/>
            </a:pPr>
            <a:r>
              <a:rPr lang="en-US" sz="2400" dirty="0">
                <a:solidFill>
                  <a:schemeClr val="accent2"/>
                </a:solidFill>
              </a:rPr>
              <a:t>Data extraction</a:t>
            </a:r>
          </a:p>
          <a:p>
            <a:pPr marL="627063" lvl="1" indent="-457200"/>
            <a:r>
              <a:rPr lang="en-US" sz="2000" dirty="0"/>
              <a:t>2 reviewers or 1 reviewer cross-checked by second</a:t>
            </a:r>
          </a:p>
          <a:p>
            <a:pPr marL="627063" lvl="1" indent="-457200"/>
            <a:endParaRPr lang="en-US" sz="2000" dirty="0"/>
          </a:p>
        </p:txBody>
      </p:sp>
    </p:spTree>
    <p:extLst>
      <p:ext uri="{BB962C8B-B14F-4D97-AF65-F5344CB8AC3E}">
        <p14:creationId xmlns:p14="http://schemas.microsoft.com/office/powerpoint/2010/main" val="601416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1CCBEC-0C63-C6A4-7691-6C69EBEF25C6}"/>
              </a:ext>
            </a:extLst>
          </p:cNvPr>
          <p:cNvSpPr>
            <a:spLocks noGrp="1"/>
          </p:cNvSpPr>
          <p:nvPr>
            <p:ph type="title"/>
          </p:nvPr>
        </p:nvSpPr>
        <p:spPr/>
        <p:txBody>
          <a:bodyPr/>
          <a:lstStyle/>
          <a:p>
            <a:r>
              <a:rPr lang="en-US" dirty="0"/>
              <a:t>Steps</a:t>
            </a:r>
          </a:p>
        </p:txBody>
      </p:sp>
      <p:sp>
        <p:nvSpPr>
          <p:cNvPr id="3" name="Content Placeholder 2">
            <a:extLst>
              <a:ext uri="{FF2B5EF4-FFF2-40B4-BE49-F238E27FC236}">
                <a16:creationId xmlns:a16="http://schemas.microsoft.com/office/drawing/2014/main" id="{13A1C6BD-6279-902A-9E8E-48D1E26DE8A2}"/>
              </a:ext>
            </a:extLst>
          </p:cNvPr>
          <p:cNvSpPr>
            <a:spLocks noGrp="1"/>
          </p:cNvSpPr>
          <p:nvPr>
            <p:ph idx="1"/>
          </p:nvPr>
        </p:nvSpPr>
        <p:spPr/>
        <p:txBody>
          <a:bodyPr>
            <a:normAutofit/>
          </a:bodyPr>
          <a:lstStyle/>
          <a:p>
            <a:pPr marL="457200" indent="-457200">
              <a:buFont typeface="+mj-lt"/>
              <a:buAutoNum type="arabicPeriod" startAt="6"/>
            </a:pPr>
            <a:r>
              <a:rPr lang="en-US" sz="2400" dirty="0">
                <a:solidFill>
                  <a:schemeClr val="accent2"/>
                </a:solidFill>
              </a:rPr>
              <a:t>Evaluate risk of bias of studies</a:t>
            </a:r>
          </a:p>
          <a:p>
            <a:pPr marL="627063" lvl="1" indent="-457200"/>
            <a:r>
              <a:rPr lang="en-US" sz="2000" dirty="0"/>
              <a:t>Different tools according to type of study: clinical trial, cohort study, </a:t>
            </a:r>
            <a:r>
              <a:rPr lang="en-US" sz="2000" dirty="0" err="1"/>
              <a:t>etc</a:t>
            </a:r>
            <a:endParaRPr lang="en-US" sz="2000" dirty="0"/>
          </a:p>
          <a:p>
            <a:pPr marL="457200" indent="-457200">
              <a:spcBef>
                <a:spcPts val="1600"/>
              </a:spcBef>
              <a:buAutoNum type="arabicPeriod" startAt="6"/>
            </a:pPr>
            <a:r>
              <a:rPr lang="en-US" sz="2400" dirty="0">
                <a:solidFill>
                  <a:schemeClr val="accent2"/>
                </a:solidFill>
              </a:rPr>
              <a:t>Synthesize results</a:t>
            </a:r>
          </a:p>
          <a:p>
            <a:pPr marL="512763" lvl="1" indent="-342900"/>
            <a:r>
              <a:rPr lang="en-US" sz="2000" dirty="0"/>
              <a:t>Qualitative</a:t>
            </a:r>
          </a:p>
          <a:p>
            <a:pPr marL="512763" lvl="1" indent="-342900"/>
            <a:r>
              <a:rPr lang="en-US" sz="2000" dirty="0"/>
              <a:t>Quantitative: meta-analysis if studies are similar enough</a:t>
            </a:r>
          </a:p>
          <a:p>
            <a:pPr marL="457200" indent="-457200">
              <a:spcBef>
                <a:spcPts val="1600"/>
              </a:spcBef>
              <a:buFont typeface="+mj-lt"/>
              <a:buAutoNum type="arabicPeriod" startAt="6"/>
            </a:pPr>
            <a:r>
              <a:rPr lang="en-US" sz="2400" dirty="0">
                <a:solidFill>
                  <a:schemeClr val="accent2"/>
                </a:solidFill>
              </a:rPr>
              <a:t>Assess quality of the evidence </a:t>
            </a:r>
          </a:p>
          <a:p>
            <a:pPr marL="627063" lvl="1" indent="-457200"/>
            <a:r>
              <a:rPr lang="en-US" sz="2000" dirty="0"/>
              <a:t>Robustness of findings</a:t>
            </a:r>
          </a:p>
          <a:p>
            <a:pPr marL="457200" indent="-457200">
              <a:spcBef>
                <a:spcPts val="1600"/>
              </a:spcBef>
              <a:buFont typeface="+mj-lt"/>
              <a:buAutoNum type="arabicPeriod" startAt="6"/>
            </a:pPr>
            <a:r>
              <a:rPr lang="en-US" sz="2400" dirty="0">
                <a:solidFill>
                  <a:schemeClr val="accent2"/>
                </a:solidFill>
              </a:rPr>
              <a:t>Present results</a:t>
            </a:r>
          </a:p>
          <a:p>
            <a:pPr marL="627063" lvl="1" indent="-457200">
              <a:spcBef>
                <a:spcPts val="1600"/>
              </a:spcBef>
            </a:pPr>
            <a:r>
              <a:rPr lang="en-US" sz="2000" dirty="0"/>
              <a:t>PRISMA (Preferred Reporting Items for Systematic Reviews and Meta-Analyses)</a:t>
            </a:r>
          </a:p>
        </p:txBody>
      </p:sp>
    </p:spTree>
    <p:extLst>
      <p:ext uri="{BB962C8B-B14F-4D97-AF65-F5344CB8AC3E}">
        <p14:creationId xmlns:p14="http://schemas.microsoft.com/office/powerpoint/2010/main" val="37417344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DB743-1A97-47F1-66B4-69149B66631D}"/>
              </a:ext>
            </a:extLst>
          </p:cNvPr>
          <p:cNvSpPr>
            <a:spLocks noGrp="1"/>
          </p:cNvSpPr>
          <p:nvPr>
            <p:ph type="title"/>
          </p:nvPr>
        </p:nvSpPr>
        <p:spPr/>
        <p:txBody>
          <a:bodyPr/>
          <a:lstStyle/>
          <a:p>
            <a:r>
              <a:rPr lang="en-US" dirty="0"/>
              <a:t>How to Formulate a Good Research Question</a:t>
            </a:r>
          </a:p>
        </p:txBody>
      </p:sp>
      <p:sp>
        <p:nvSpPr>
          <p:cNvPr id="3" name="Content Placeholder 2">
            <a:extLst>
              <a:ext uri="{FF2B5EF4-FFF2-40B4-BE49-F238E27FC236}">
                <a16:creationId xmlns:a16="http://schemas.microsoft.com/office/drawing/2014/main" id="{05D4005A-59A5-0A82-0265-9861D267F23F}"/>
              </a:ext>
            </a:extLst>
          </p:cNvPr>
          <p:cNvSpPr>
            <a:spLocks noGrp="1"/>
          </p:cNvSpPr>
          <p:nvPr>
            <p:ph idx="1"/>
          </p:nvPr>
        </p:nvSpPr>
        <p:spPr>
          <a:xfrm>
            <a:off x="557376" y="1694360"/>
            <a:ext cx="11077248" cy="4096992"/>
          </a:xfrm>
        </p:spPr>
        <p:txBody>
          <a:bodyPr/>
          <a:lstStyle/>
          <a:p>
            <a:pPr marL="342900" indent="-342900">
              <a:buFont typeface="Arial" panose="020B0604020202020204" pitchFamily="34" charset="0"/>
              <a:buChar char="•"/>
            </a:pPr>
            <a:r>
              <a:rPr lang="en-US" sz="2800" b="0" dirty="0"/>
              <a:t>Clear and understandable</a:t>
            </a:r>
          </a:p>
          <a:p>
            <a:pPr marL="342900" indent="-342900">
              <a:buFont typeface="Arial" panose="020B0604020202020204" pitchFamily="34" charset="0"/>
              <a:buChar char="•"/>
            </a:pPr>
            <a:r>
              <a:rPr lang="en-US" sz="2800" b="0" dirty="0"/>
              <a:t>Focused</a:t>
            </a:r>
          </a:p>
          <a:p>
            <a:pPr marL="342900" indent="-342900">
              <a:buFont typeface="Arial" panose="020B0604020202020204" pitchFamily="34" charset="0"/>
              <a:buChar char="•"/>
            </a:pPr>
            <a:r>
              <a:rPr lang="en-US" sz="2800" b="0" dirty="0"/>
              <a:t>Original and novel (new information)</a:t>
            </a:r>
          </a:p>
          <a:p>
            <a:pPr marL="342900" indent="-342900">
              <a:buFont typeface="Arial" panose="020B0604020202020204" pitchFamily="34" charset="0"/>
              <a:buChar char="•"/>
            </a:pPr>
            <a:r>
              <a:rPr lang="en-US" sz="2800" b="0" dirty="0"/>
              <a:t>Relevant</a:t>
            </a:r>
          </a:p>
          <a:p>
            <a:r>
              <a:rPr lang="en-US" sz="2800" b="0" dirty="0"/>
              <a:t>	</a:t>
            </a:r>
            <a:r>
              <a:rPr lang="en-US" sz="2400" b="0" dirty="0"/>
              <a:t>- change current ideas or practice</a:t>
            </a:r>
          </a:p>
          <a:p>
            <a:r>
              <a:rPr lang="en-US" sz="2400" b="0" dirty="0"/>
              <a:t>	- lead to new research</a:t>
            </a:r>
          </a:p>
          <a:p>
            <a:pPr marL="342900" indent="-342900">
              <a:buFont typeface="Arial" panose="020B0604020202020204" pitchFamily="34" charset="0"/>
              <a:buChar char="•"/>
            </a:pPr>
            <a:r>
              <a:rPr lang="en-US" sz="2800" b="0" dirty="0"/>
              <a:t>Feasible (time and resources)</a:t>
            </a:r>
          </a:p>
          <a:p>
            <a:endParaRPr lang="en-US" dirty="0"/>
          </a:p>
        </p:txBody>
      </p:sp>
      <p:sp>
        <p:nvSpPr>
          <p:cNvPr id="4" name="Slide Number Placeholder 3">
            <a:extLst>
              <a:ext uri="{FF2B5EF4-FFF2-40B4-BE49-F238E27FC236}">
                <a16:creationId xmlns:a16="http://schemas.microsoft.com/office/drawing/2014/main" id="{E3BC8AC9-25C0-4C18-84BA-C2EA53A65AC4}"/>
              </a:ext>
            </a:extLst>
          </p:cNvPr>
          <p:cNvSpPr>
            <a:spLocks noGrp="1"/>
          </p:cNvSpPr>
          <p:nvPr>
            <p:ph type="sldNum" sz="quarter" idx="12"/>
          </p:nvPr>
        </p:nvSpPr>
        <p:spPr/>
        <p:txBody>
          <a:bodyPr/>
          <a:lstStyle/>
          <a:p>
            <a:fld id="{7783EEA8-8FFA-40B0-9CA2-B650207154BC}" type="slidenum">
              <a:rPr lang="en-US" smtClean="0"/>
              <a:t>13</a:t>
            </a:fld>
            <a:endParaRPr lang="en-US"/>
          </a:p>
        </p:txBody>
      </p:sp>
    </p:spTree>
    <p:extLst>
      <p:ext uri="{BB962C8B-B14F-4D97-AF65-F5344CB8AC3E}">
        <p14:creationId xmlns:p14="http://schemas.microsoft.com/office/powerpoint/2010/main" val="1256413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BF04B-40F5-D964-B7D0-936E922AFCC5}"/>
              </a:ext>
            </a:extLst>
          </p:cNvPr>
          <p:cNvSpPr>
            <a:spLocks noGrp="1"/>
          </p:cNvSpPr>
          <p:nvPr>
            <p:ph type="title"/>
          </p:nvPr>
        </p:nvSpPr>
        <p:spPr>
          <a:xfrm>
            <a:off x="655091" y="242238"/>
            <a:ext cx="11077249" cy="854075"/>
          </a:xfrm>
        </p:spPr>
        <p:txBody>
          <a:bodyPr>
            <a:normAutofit/>
          </a:bodyPr>
          <a:lstStyle/>
          <a:p>
            <a:r>
              <a:rPr lang="en-US" sz="3600" dirty="0"/>
              <a:t>PICOTS Framework</a:t>
            </a:r>
          </a:p>
        </p:txBody>
      </p:sp>
      <p:sp>
        <p:nvSpPr>
          <p:cNvPr id="3" name="Content Placeholder 2">
            <a:extLst>
              <a:ext uri="{FF2B5EF4-FFF2-40B4-BE49-F238E27FC236}">
                <a16:creationId xmlns:a16="http://schemas.microsoft.com/office/drawing/2014/main" id="{F90D2167-AB34-A542-42B2-DE9D6B48DD4F}"/>
              </a:ext>
            </a:extLst>
          </p:cNvPr>
          <p:cNvSpPr>
            <a:spLocks noGrp="1"/>
          </p:cNvSpPr>
          <p:nvPr>
            <p:ph idx="1"/>
          </p:nvPr>
        </p:nvSpPr>
        <p:spPr/>
        <p:txBody>
          <a:bodyPr>
            <a:normAutofit/>
          </a:bodyPr>
          <a:lstStyle/>
          <a:p>
            <a:pPr marL="342900" indent="-342900">
              <a:buFont typeface="Arial" panose="020B0604020202020204" pitchFamily="34" charset="0"/>
              <a:buChar char="•"/>
            </a:pPr>
            <a:r>
              <a:rPr lang="en-US" sz="3200" dirty="0">
                <a:solidFill>
                  <a:schemeClr val="accent2"/>
                </a:solidFill>
              </a:rPr>
              <a:t>P	</a:t>
            </a:r>
            <a:r>
              <a:rPr lang="en-US" sz="3200" dirty="0"/>
              <a:t>Population  (who)</a:t>
            </a:r>
            <a:endParaRPr lang="en-US" sz="3200" dirty="0">
              <a:solidFill>
                <a:schemeClr val="accent2"/>
              </a:solidFill>
            </a:endParaRPr>
          </a:p>
          <a:p>
            <a:pPr marL="342900" indent="-342900">
              <a:buFont typeface="Arial" panose="020B0604020202020204" pitchFamily="34" charset="0"/>
              <a:buChar char="•"/>
            </a:pPr>
            <a:r>
              <a:rPr lang="en-US" sz="3200" dirty="0">
                <a:solidFill>
                  <a:schemeClr val="accent2"/>
                </a:solidFill>
              </a:rPr>
              <a:t>I	</a:t>
            </a:r>
            <a:r>
              <a:rPr lang="en-US" sz="3200" dirty="0"/>
              <a:t>Intervention or issue (what are we examining)</a:t>
            </a:r>
            <a:endParaRPr lang="en-US" sz="3200" dirty="0">
              <a:solidFill>
                <a:schemeClr val="accent2"/>
              </a:solidFill>
            </a:endParaRPr>
          </a:p>
          <a:p>
            <a:pPr marL="342900" indent="-342900">
              <a:buFont typeface="Arial" panose="020B0604020202020204" pitchFamily="34" charset="0"/>
              <a:buChar char="•"/>
            </a:pPr>
            <a:r>
              <a:rPr lang="en-US" sz="3200" dirty="0">
                <a:solidFill>
                  <a:schemeClr val="accent2"/>
                </a:solidFill>
              </a:rPr>
              <a:t>C	</a:t>
            </a:r>
            <a:r>
              <a:rPr lang="en-US" sz="3200" dirty="0"/>
              <a:t>Comparator   (compared to)</a:t>
            </a:r>
            <a:endParaRPr lang="en-US" sz="3200" dirty="0">
              <a:solidFill>
                <a:schemeClr val="accent2"/>
              </a:solidFill>
            </a:endParaRPr>
          </a:p>
          <a:p>
            <a:pPr marL="342900" indent="-342900">
              <a:buFont typeface="Arial" panose="020B0604020202020204" pitchFamily="34" charset="0"/>
              <a:buChar char="•"/>
            </a:pPr>
            <a:r>
              <a:rPr lang="en-US" sz="3200" dirty="0">
                <a:solidFill>
                  <a:schemeClr val="accent2"/>
                </a:solidFill>
              </a:rPr>
              <a:t>O	</a:t>
            </a:r>
            <a:r>
              <a:rPr lang="en-US" sz="3200" dirty="0"/>
              <a:t>Outcome  (what happens)</a:t>
            </a:r>
            <a:endParaRPr lang="en-US" sz="3200" dirty="0">
              <a:solidFill>
                <a:schemeClr val="accent2"/>
              </a:solidFill>
            </a:endParaRPr>
          </a:p>
          <a:p>
            <a:pPr marL="342900" indent="-342900">
              <a:buFont typeface="Arial" panose="020B0604020202020204" pitchFamily="34" charset="0"/>
              <a:buChar char="•"/>
            </a:pPr>
            <a:r>
              <a:rPr lang="en-US" sz="3200" dirty="0">
                <a:solidFill>
                  <a:schemeClr val="accent2"/>
                </a:solidFill>
              </a:rPr>
              <a:t>T	</a:t>
            </a:r>
            <a:r>
              <a:rPr lang="en-US" sz="3200" dirty="0"/>
              <a:t>Timing  (when)</a:t>
            </a:r>
            <a:endParaRPr lang="en-US" sz="3200" dirty="0">
              <a:solidFill>
                <a:schemeClr val="accent2"/>
              </a:solidFill>
            </a:endParaRPr>
          </a:p>
          <a:p>
            <a:pPr marL="342900" indent="-342900">
              <a:buFont typeface="Arial" panose="020B0604020202020204" pitchFamily="34" charset="0"/>
              <a:buChar char="•"/>
            </a:pPr>
            <a:r>
              <a:rPr lang="en-US" sz="3200" dirty="0">
                <a:solidFill>
                  <a:schemeClr val="accent2"/>
                </a:solidFill>
              </a:rPr>
              <a:t>S	</a:t>
            </a:r>
            <a:r>
              <a:rPr lang="en-US" sz="3200" dirty="0"/>
              <a:t>Setting (where)</a:t>
            </a:r>
          </a:p>
          <a:p>
            <a:pPr marL="342900" indent="-342900">
              <a:buFont typeface="Arial" panose="020B0604020202020204" pitchFamily="34" charset="0"/>
              <a:buChar char="•"/>
            </a:pPr>
            <a:endParaRPr lang="en-US" sz="3200" dirty="0"/>
          </a:p>
        </p:txBody>
      </p:sp>
      <p:sp>
        <p:nvSpPr>
          <p:cNvPr id="4" name="Slide Number Placeholder 3">
            <a:extLst>
              <a:ext uri="{FF2B5EF4-FFF2-40B4-BE49-F238E27FC236}">
                <a16:creationId xmlns:a16="http://schemas.microsoft.com/office/drawing/2014/main" id="{449C361B-71C4-245B-0500-539A35220EDD}"/>
              </a:ext>
            </a:extLst>
          </p:cNvPr>
          <p:cNvSpPr>
            <a:spLocks noGrp="1"/>
          </p:cNvSpPr>
          <p:nvPr>
            <p:ph type="sldNum" sz="quarter" idx="12"/>
          </p:nvPr>
        </p:nvSpPr>
        <p:spPr/>
        <p:txBody>
          <a:bodyPr/>
          <a:lstStyle/>
          <a:p>
            <a:fld id="{7783EEA8-8FFA-40B0-9CA2-B650207154BC}" type="slidenum">
              <a:rPr lang="en-US" smtClean="0"/>
              <a:t>14</a:t>
            </a:fld>
            <a:endParaRPr lang="en-US"/>
          </a:p>
        </p:txBody>
      </p:sp>
    </p:spTree>
    <p:extLst>
      <p:ext uri="{BB962C8B-B14F-4D97-AF65-F5344CB8AC3E}">
        <p14:creationId xmlns:p14="http://schemas.microsoft.com/office/powerpoint/2010/main" val="1694058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F0F93-8DE6-D93A-B1CD-922859BC1F7E}"/>
              </a:ext>
            </a:extLst>
          </p:cNvPr>
          <p:cNvSpPr>
            <a:spLocks noGrp="1"/>
          </p:cNvSpPr>
          <p:nvPr>
            <p:ph type="title"/>
          </p:nvPr>
        </p:nvSpPr>
        <p:spPr>
          <a:xfrm>
            <a:off x="412581" y="165020"/>
            <a:ext cx="11077249" cy="854075"/>
          </a:xfrm>
        </p:spPr>
        <p:txBody>
          <a:bodyPr/>
          <a:lstStyle/>
          <a:p>
            <a:r>
              <a:rPr lang="en-US" dirty="0"/>
              <a:t>PRISMA flowchart</a:t>
            </a:r>
          </a:p>
        </p:txBody>
      </p:sp>
      <p:sp>
        <p:nvSpPr>
          <p:cNvPr id="5" name="TextBox 4">
            <a:extLst>
              <a:ext uri="{FF2B5EF4-FFF2-40B4-BE49-F238E27FC236}">
                <a16:creationId xmlns:a16="http://schemas.microsoft.com/office/drawing/2014/main" id="{CC1C6F31-4063-BB64-D18E-DFB018F7424F}"/>
              </a:ext>
            </a:extLst>
          </p:cNvPr>
          <p:cNvSpPr txBox="1"/>
          <p:nvPr/>
        </p:nvSpPr>
        <p:spPr>
          <a:xfrm>
            <a:off x="515335" y="2259449"/>
            <a:ext cx="5029200" cy="1169551"/>
          </a:xfrm>
          <a:prstGeom prst="rect">
            <a:avLst/>
          </a:prstGeom>
          <a:noFill/>
        </p:spPr>
        <p:txBody>
          <a:bodyPr wrap="square">
            <a:spAutoFit/>
          </a:bodyPr>
          <a:lstStyle/>
          <a:p>
            <a:r>
              <a:rPr lang="en-US" sz="1400" b="0" i="0" dirty="0">
                <a:solidFill>
                  <a:srgbClr val="212121"/>
                </a:solidFill>
                <a:effectLst/>
                <a:latin typeface="system-ui"/>
              </a:rPr>
              <a:t>Ruiz JI, Lopez-Olivo MA, Geng Y, Suarez-Almazor ME. COVID-19 </a:t>
            </a:r>
            <a:r>
              <a:rPr lang="en-US" sz="1400" b="0" i="0" dirty="0">
                <a:solidFill>
                  <a:schemeClr val="accent2"/>
                </a:solidFill>
                <a:effectLst/>
                <a:latin typeface="system-ui"/>
              </a:rPr>
              <a:t>Outcomes in Patients with Cancer Receiving Immune Checkpoint Inhibitors: A Systematic Review. </a:t>
            </a:r>
            <a:r>
              <a:rPr lang="en-US" sz="1400" b="0" i="0" dirty="0">
                <a:solidFill>
                  <a:srgbClr val="212121"/>
                </a:solidFill>
                <a:effectLst/>
                <a:latin typeface="system-ui"/>
              </a:rPr>
              <a:t>J </a:t>
            </a:r>
            <a:r>
              <a:rPr lang="en-US" sz="1400" b="0" i="0" dirty="0" err="1">
                <a:solidFill>
                  <a:srgbClr val="212121"/>
                </a:solidFill>
                <a:effectLst/>
                <a:latin typeface="system-ui"/>
              </a:rPr>
              <a:t>Immunother</a:t>
            </a:r>
            <a:r>
              <a:rPr lang="en-US" sz="1400" b="0" i="0" dirty="0">
                <a:solidFill>
                  <a:srgbClr val="212121"/>
                </a:solidFill>
                <a:effectLst/>
                <a:latin typeface="system-ui"/>
              </a:rPr>
              <a:t> Precis Oncol. 2023 Feb 22;6(2):103-110. </a:t>
            </a:r>
            <a:r>
              <a:rPr lang="en-US" sz="1400" b="0" i="0" dirty="0" err="1">
                <a:solidFill>
                  <a:srgbClr val="212121"/>
                </a:solidFill>
                <a:effectLst/>
                <a:latin typeface="system-ui"/>
              </a:rPr>
              <a:t>doi</a:t>
            </a:r>
            <a:r>
              <a:rPr lang="en-US" sz="1400" b="0" i="0" dirty="0">
                <a:solidFill>
                  <a:srgbClr val="212121"/>
                </a:solidFill>
                <a:effectLst/>
                <a:latin typeface="system-ui"/>
              </a:rPr>
              <a:t>: 10.36401/JIPO-22-24. PMID: 37214207; PMCID: PMC10195019.</a:t>
            </a:r>
            <a:endParaRPr lang="en-US" sz="1400" dirty="0"/>
          </a:p>
        </p:txBody>
      </p:sp>
      <p:pic>
        <p:nvPicPr>
          <p:cNvPr id="10" name="Picture 9">
            <a:extLst>
              <a:ext uri="{FF2B5EF4-FFF2-40B4-BE49-F238E27FC236}">
                <a16:creationId xmlns:a16="http://schemas.microsoft.com/office/drawing/2014/main" id="{C5B0674E-0B68-6BCC-7070-6E5407D5C9FB}"/>
              </a:ext>
            </a:extLst>
          </p:cNvPr>
          <p:cNvPicPr>
            <a:picLocks noChangeAspect="1"/>
          </p:cNvPicPr>
          <p:nvPr/>
        </p:nvPicPr>
        <p:blipFill>
          <a:blip r:embed="rId2"/>
          <a:stretch>
            <a:fillRect/>
          </a:stretch>
        </p:blipFill>
        <p:spPr>
          <a:xfrm>
            <a:off x="5951608" y="0"/>
            <a:ext cx="5725057" cy="6542924"/>
          </a:xfrm>
          <a:prstGeom prst="rect">
            <a:avLst/>
          </a:prstGeom>
        </p:spPr>
      </p:pic>
      <p:sp>
        <p:nvSpPr>
          <p:cNvPr id="11" name="TextBox 10">
            <a:extLst>
              <a:ext uri="{FF2B5EF4-FFF2-40B4-BE49-F238E27FC236}">
                <a16:creationId xmlns:a16="http://schemas.microsoft.com/office/drawing/2014/main" id="{BE8D0CB8-7A55-9B42-355D-BAA39AEC5F1C}"/>
              </a:ext>
            </a:extLst>
          </p:cNvPr>
          <p:cNvSpPr txBox="1"/>
          <p:nvPr/>
        </p:nvSpPr>
        <p:spPr>
          <a:xfrm>
            <a:off x="693683" y="4303986"/>
            <a:ext cx="2105192" cy="1631216"/>
          </a:xfrm>
          <a:prstGeom prst="rect">
            <a:avLst/>
          </a:prstGeom>
          <a:noFill/>
        </p:spPr>
        <p:txBody>
          <a:bodyPr wrap="none" rtlCol="0">
            <a:spAutoFit/>
          </a:bodyPr>
          <a:lstStyle/>
          <a:p>
            <a:r>
              <a:rPr lang="en-US" sz="2000" dirty="0">
                <a:solidFill>
                  <a:schemeClr val="accent2"/>
                </a:solidFill>
                <a:latin typeface="Aptos" panose="020B0004020202020204" pitchFamily="34" charset="0"/>
              </a:rPr>
              <a:t>25 studies</a:t>
            </a:r>
          </a:p>
          <a:p>
            <a:r>
              <a:rPr lang="en-US" sz="2000" dirty="0">
                <a:latin typeface="Aptos" panose="020B0004020202020204" pitchFamily="34" charset="0"/>
              </a:rPr>
              <a:t>21 cohort studies</a:t>
            </a:r>
          </a:p>
          <a:p>
            <a:r>
              <a:rPr lang="en-US" sz="2000" dirty="0">
                <a:latin typeface="Aptos" panose="020B0004020202020204" pitchFamily="34" charset="0"/>
              </a:rPr>
              <a:t>1 case series</a:t>
            </a:r>
          </a:p>
          <a:p>
            <a:r>
              <a:rPr lang="en-US" sz="2000" dirty="0">
                <a:latin typeface="Aptos" panose="020B0004020202020204" pitchFamily="34" charset="0"/>
              </a:rPr>
              <a:t>3 case reports</a:t>
            </a:r>
          </a:p>
          <a:p>
            <a:endParaRPr lang="en-US" sz="2000" dirty="0">
              <a:latin typeface="Aptos" panose="020B0004020202020204" pitchFamily="34" charset="0"/>
            </a:endParaRPr>
          </a:p>
        </p:txBody>
      </p:sp>
    </p:spTree>
    <p:extLst>
      <p:ext uri="{BB962C8B-B14F-4D97-AF65-F5344CB8AC3E}">
        <p14:creationId xmlns:p14="http://schemas.microsoft.com/office/powerpoint/2010/main" val="2761068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051FE12-7825-EA66-F9CB-6B3A88B56804}"/>
              </a:ext>
            </a:extLst>
          </p:cNvPr>
          <p:cNvPicPr>
            <a:picLocks noChangeAspect="1"/>
          </p:cNvPicPr>
          <p:nvPr/>
        </p:nvPicPr>
        <p:blipFill>
          <a:blip r:embed="rId2"/>
          <a:stretch>
            <a:fillRect/>
          </a:stretch>
        </p:blipFill>
        <p:spPr>
          <a:xfrm>
            <a:off x="1910255" y="703550"/>
            <a:ext cx="8371490" cy="5691409"/>
          </a:xfrm>
          <a:prstGeom prst="rect">
            <a:avLst/>
          </a:prstGeom>
        </p:spPr>
      </p:pic>
    </p:spTree>
    <p:extLst>
      <p:ext uri="{BB962C8B-B14F-4D97-AF65-F5344CB8AC3E}">
        <p14:creationId xmlns:p14="http://schemas.microsoft.com/office/powerpoint/2010/main" val="120081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C36BB-38D4-513F-ECDA-C3DDC02D9ACA}"/>
              </a:ext>
            </a:extLst>
          </p:cNvPr>
          <p:cNvSpPr>
            <a:spLocks noGrp="1"/>
          </p:cNvSpPr>
          <p:nvPr>
            <p:ph type="title"/>
          </p:nvPr>
        </p:nvSpPr>
        <p:spPr/>
        <p:txBody>
          <a:bodyPr/>
          <a:lstStyle/>
          <a:p>
            <a:r>
              <a:rPr lang="en-US" dirty="0"/>
              <a:t>Heterogeneity</a:t>
            </a:r>
          </a:p>
        </p:txBody>
      </p:sp>
      <p:pic>
        <p:nvPicPr>
          <p:cNvPr id="1026" name="Picture 2">
            <a:extLst>
              <a:ext uri="{FF2B5EF4-FFF2-40B4-BE49-F238E27FC236}">
                <a16:creationId xmlns:a16="http://schemas.microsoft.com/office/drawing/2014/main" id="{89752403-1A8B-141F-9AC9-5FAB7D4D96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4452" y="149213"/>
            <a:ext cx="3532893" cy="646261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B03CEC7-50AC-D132-887C-D60063DC4BA5}"/>
              </a:ext>
            </a:extLst>
          </p:cNvPr>
          <p:cNvSpPr txBox="1"/>
          <p:nvPr/>
        </p:nvSpPr>
        <p:spPr>
          <a:xfrm>
            <a:off x="655092" y="1997839"/>
            <a:ext cx="4189687" cy="2862322"/>
          </a:xfrm>
          <a:prstGeom prst="rect">
            <a:avLst/>
          </a:prstGeom>
          <a:noFill/>
        </p:spPr>
        <p:txBody>
          <a:bodyPr wrap="square">
            <a:spAutoFit/>
          </a:bodyPr>
          <a:lstStyle/>
          <a:p>
            <a:r>
              <a:rPr lang="en-US" sz="2000" b="0" i="0" dirty="0">
                <a:solidFill>
                  <a:srgbClr val="1F1F1F"/>
                </a:solidFill>
                <a:effectLst/>
                <a:latin typeface="ElsevierGulliver"/>
              </a:rPr>
              <a:t>Hypothetical meta-analysis of trials, using a random-effects model, with subgrouping by age categories. </a:t>
            </a:r>
          </a:p>
          <a:p>
            <a:endParaRPr lang="en-US" sz="2000" b="0" i="0" dirty="0">
              <a:solidFill>
                <a:srgbClr val="1F1F1F"/>
              </a:solidFill>
              <a:effectLst/>
              <a:latin typeface="ElsevierGulliver"/>
            </a:endParaRPr>
          </a:p>
          <a:p>
            <a:r>
              <a:rPr lang="en-US" sz="2000" b="0" i="0" dirty="0">
                <a:solidFill>
                  <a:srgbClr val="1F1F1F"/>
                </a:solidFill>
                <a:effectLst/>
                <a:latin typeface="ElsevierGulliver"/>
              </a:rPr>
              <a:t>Dotted vertical line represents the threshold for clinical relevance. </a:t>
            </a:r>
          </a:p>
          <a:p>
            <a:endParaRPr lang="en-US" sz="2000" b="0" i="0" dirty="0">
              <a:solidFill>
                <a:srgbClr val="1F1F1F"/>
              </a:solidFill>
              <a:effectLst/>
              <a:latin typeface="ElsevierGulliver"/>
            </a:endParaRPr>
          </a:p>
          <a:p>
            <a:r>
              <a:rPr lang="en-US" sz="2000" b="0" i="0" dirty="0">
                <a:solidFill>
                  <a:schemeClr val="accent2"/>
                </a:solidFill>
                <a:effectLst/>
                <a:latin typeface="ElsevierGulliver"/>
              </a:rPr>
              <a:t>Test for heterogeneity: I</a:t>
            </a:r>
            <a:r>
              <a:rPr lang="en-US" sz="2000" b="0" i="0" baseline="30000" dirty="0">
                <a:solidFill>
                  <a:schemeClr val="accent2"/>
                </a:solidFill>
                <a:effectLst/>
                <a:latin typeface="ElsevierGulliver"/>
              </a:rPr>
              <a:t>2</a:t>
            </a:r>
            <a:r>
              <a:rPr lang="en-US" sz="2000" b="0" i="0" dirty="0">
                <a:solidFill>
                  <a:schemeClr val="accent2"/>
                </a:solidFill>
                <a:effectLst/>
                <a:latin typeface="ElsevierGulliver"/>
              </a:rPr>
              <a:t> = 67%, </a:t>
            </a:r>
            <a:r>
              <a:rPr lang="en-US" sz="2000" b="0" i="1" dirty="0">
                <a:solidFill>
                  <a:schemeClr val="accent2"/>
                </a:solidFill>
                <a:effectLst/>
                <a:latin typeface="ElsevierGulliver"/>
              </a:rPr>
              <a:t>p</a:t>
            </a:r>
            <a:r>
              <a:rPr lang="en-US" sz="2000" b="0" i="0" dirty="0">
                <a:solidFill>
                  <a:schemeClr val="accent2"/>
                </a:solidFill>
                <a:effectLst/>
                <a:latin typeface="ElsevierGulliver"/>
              </a:rPr>
              <a:t> = 0.04</a:t>
            </a:r>
            <a:r>
              <a:rPr lang="en-US" sz="2000" b="0" i="0" dirty="0">
                <a:solidFill>
                  <a:srgbClr val="1F1F1F"/>
                </a:solidFill>
                <a:effectLst/>
                <a:latin typeface="ElsevierGulliver"/>
              </a:rPr>
              <a:t>.</a:t>
            </a:r>
            <a:endParaRPr lang="en-US" sz="2000" dirty="0"/>
          </a:p>
        </p:txBody>
      </p:sp>
      <p:sp>
        <p:nvSpPr>
          <p:cNvPr id="7" name="TextBox 6">
            <a:extLst>
              <a:ext uri="{FF2B5EF4-FFF2-40B4-BE49-F238E27FC236}">
                <a16:creationId xmlns:a16="http://schemas.microsoft.com/office/drawing/2014/main" id="{1F77F1F8-3412-5405-A4C4-A503D858366D}"/>
              </a:ext>
            </a:extLst>
          </p:cNvPr>
          <p:cNvSpPr txBox="1"/>
          <p:nvPr/>
        </p:nvSpPr>
        <p:spPr>
          <a:xfrm>
            <a:off x="324017" y="5750004"/>
            <a:ext cx="4189687" cy="1107996"/>
          </a:xfrm>
          <a:prstGeom prst="rect">
            <a:avLst/>
          </a:prstGeom>
          <a:noFill/>
        </p:spPr>
        <p:txBody>
          <a:bodyPr wrap="square" rtlCol="0">
            <a:spAutoFit/>
          </a:bodyPr>
          <a:lstStyle/>
          <a:p>
            <a:r>
              <a:rPr lang="en-US" sz="1600" dirty="0"/>
              <a:t>Verhagen AP , Ferreira ML. Forest Plots. </a:t>
            </a:r>
          </a:p>
          <a:p>
            <a:r>
              <a:rPr lang="en-US" sz="1600" dirty="0"/>
              <a:t>J Physiotherapy. 2016</a:t>
            </a:r>
          </a:p>
          <a:p>
            <a:r>
              <a:rPr lang="en-US" sz="1600" dirty="0">
                <a:solidFill>
                  <a:srgbClr val="0272B1"/>
                </a:solidFill>
                <a:latin typeface="ElsevierSans"/>
                <a:hlinkClick r:id="rId3" tooltip="Persistent link using digital object identifier"/>
              </a:rPr>
              <a:t>https://doi.org/10.1016/j.jphys.2014.06.021</a:t>
            </a:r>
            <a:endParaRPr lang="en-US" sz="1600" dirty="0">
              <a:solidFill>
                <a:srgbClr val="1F1F1F"/>
              </a:solidFill>
              <a:latin typeface="ElsevierSans"/>
            </a:endParaRPr>
          </a:p>
          <a:p>
            <a:endParaRPr lang="en-US" sz="1600" dirty="0"/>
          </a:p>
        </p:txBody>
      </p:sp>
      <p:cxnSp>
        <p:nvCxnSpPr>
          <p:cNvPr id="10" name="Straight Arrow Connector 9">
            <a:extLst>
              <a:ext uri="{FF2B5EF4-FFF2-40B4-BE49-F238E27FC236}">
                <a16:creationId xmlns:a16="http://schemas.microsoft.com/office/drawing/2014/main" id="{27D926F6-2F05-18B5-749E-C89C686D921C}"/>
              </a:ext>
            </a:extLst>
          </p:cNvPr>
          <p:cNvCxnSpPr/>
          <p:nvPr/>
        </p:nvCxnSpPr>
        <p:spPr>
          <a:xfrm flipH="1">
            <a:off x="8749862" y="4860161"/>
            <a:ext cx="1481959" cy="736598"/>
          </a:xfrm>
          <a:prstGeom prst="straightConnector1">
            <a:avLst/>
          </a:prstGeom>
          <a:ln w="3175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07DD7EB9-1C95-E228-0A4E-FB7BDBD5CD59}"/>
              </a:ext>
            </a:extLst>
          </p:cNvPr>
          <p:cNvSpPr txBox="1"/>
          <p:nvPr/>
        </p:nvSpPr>
        <p:spPr>
          <a:xfrm>
            <a:off x="10357945" y="4490829"/>
            <a:ext cx="1640193" cy="369332"/>
          </a:xfrm>
          <a:prstGeom prst="rect">
            <a:avLst/>
          </a:prstGeom>
          <a:noFill/>
          <a:ln>
            <a:solidFill>
              <a:schemeClr val="tx2"/>
            </a:solidFill>
          </a:ln>
        </p:spPr>
        <p:txBody>
          <a:bodyPr wrap="none" rtlCol="0">
            <a:spAutoFit/>
          </a:bodyPr>
          <a:lstStyle/>
          <a:p>
            <a:r>
              <a:rPr lang="en-US" dirty="0">
                <a:solidFill>
                  <a:schemeClr val="tx2"/>
                </a:solidFill>
              </a:rPr>
              <a:t>Not appropriate</a:t>
            </a:r>
          </a:p>
        </p:txBody>
      </p:sp>
    </p:spTree>
    <p:extLst>
      <p:ext uri="{BB962C8B-B14F-4D97-AF65-F5344CB8AC3E}">
        <p14:creationId xmlns:p14="http://schemas.microsoft.com/office/powerpoint/2010/main" val="3472529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D46962-F9F4-07B5-D103-8FC72DC99BF2}"/>
              </a:ext>
            </a:extLst>
          </p:cNvPr>
          <p:cNvSpPr>
            <a:spLocks noGrp="1"/>
          </p:cNvSpPr>
          <p:nvPr>
            <p:ph type="title"/>
          </p:nvPr>
        </p:nvSpPr>
        <p:spPr>
          <a:xfrm>
            <a:off x="557375" y="39718"/>
            <a:ext cx="11077249" cy="854075"/>
          </a:xfrm>
        </p:spPr>
        <p:txBody>
          <a:bodyPr>
            <a:normAutofit/>
          </a:bodyPr>
          <a:lstStyle/>
          <a:p>
            <a:r>
              <a:rPr lang="en-US" sz="2400" dirty="0"/>
              <a:t>Evidence-Based Medicine (EBM)</a:t>
            </a:r>
            <a:br>
              <a:rPr lang="en-US" sz="2400" dirty="0"/>
            </a:br>
            <a:r>
              <a:rPr lang="en-US" sz="2400" dirty="0"/>
              <a:t>Hierarchy of Evidence from Studies</a:t>
            </a:r>
          </a:p>
        </p:txBody>
      </p:sp>
      <p:sp>
        <p:nvSpPr>
          <p:cNvPr id="4" name="Slide Number Placeholder 3">
            <a:extLst>
              <a:ext uri="{FF2B5EF4-FFF2-40B4-BE49-F238E27FC236}">
                <a16:creationId xmlns:a16="http://schemas.microsoft.com/office/drawing/2014/main" id="{BFF499A0-B6F0-0B32-6BB7-49ADC19887F8}"/>
              </a:ext>
            </a:extLst>
          </p:cNvPr>
          <p:cNvSpPr>
            <a:spLocks noGrp="1"/>
          </p:cNvSpPr>
          <p:nvPr>
            <p:ph type="sldNum" sz="quarter" idx="12"/>
          </p:nvPr>
        </p:nvSpPr>
        <p:spPr/>
        <p:txBody>
          <a:bodyPr/>
          <a:lstStyle/>
          <a:p>
            <a:fld id="{7783EEA8-8FFA-40B0-9CA2-B650207154BC}" type="slidenum">
              <a:rPr lang="en-US" smtClean="0"/>
              <a:t>18</a:t>
            </a:fld>
            <a:endParaRPr lang="en-US"/>
          </a:p>
        </p:txBody>
      </p:sp>
      <p:sp>
        <p:nvSpPr>
          <p:cNvPr id="5" name="TextBox 4">
            <a:extLst>
              <a:ext uri="{FF2B5EF4-FFF2-40B4-BE49-F238E27FC236}">
                <a16:creationId xmlns:a16="http://schemas.microsoft.com/office/drawing/2014/main" id="{4F750D07-853A-8385-CDDC-B4D3354AF9D9}"/>
              </a:ext>
            </a:extLst>
          </p:cNvPr>
          <p:cNvSpPr txBox="1"/>
          <p:nvPr/>
        </p:nvSpPr>
        <p:spPr>
          <a:xfrm>
            <a:off x="1350830" y="6377443"/>
            <a:ext cx="7912439" cy="276999"/>
          </a:xfrm>
          <a:prstGeom prst="rect">
            <a:avLst/>
          </a:prstGeom>
          <a:noFill/>
        </p:spPr>
        <p:txBody>
          <a:bodyPr wrap="square" rtlCol="0">
            <a:spAutoFit/>
          </a:bodyPr>
          <a:lstStyle/>
          <a:p>
            <a:r>
              <a:rPr lang="en-US" sz="1200" b="0" i="0" dirty="0" err="1">
                <a:solidFill>
                  <a:srgbClr val="212121"/>
                </a:solidFill>
                <a:effectLst/>
                <a:latin typeface="system-ui"/>
              </a:rPr>
              <a:t>Djulbegovic</a:t>
            </a:r>
            <a:r>
              <a:rPr lang="en-US" sz="1200" b="0" i="0" dirty="0">
                <a:solidFill>
                  <a:srgbClr val="212121"/>
                </a:solidFill>
                <a:effectLst/>
                <a:latin typeface="system-ui"/>
              </a:rPr>
              <a:t> B, </a:t>
            </a:r>
            <a:r>
              <a:rPr lang="en-US" sz="1200" b="0" i="0" dirty="0" err="1">
                <a:solidFill>
                  <a:srgbClr val="212121"/>
                </a:solidFill>
                <a:effectLst/>
                <a:latin typeface="system-ui"/>
              </a:rPr>
              <a:t>Guyatt</a:t>
            </a:r>
            <a:r>
              <a:rPr lang="en-US" sz="1200" b="0" i="0" dirty="0">
                <a:solidFill>
                  <a:srgbClr val="212121"/>
                </a:solidFill>
                <a:effectLst/>
                <a:latin typeface="system-ui"/>
              </a:rPr>
              <a:t> GH. Progress in evidence-based medicine: a quarter century on. Lancet. 2017 PMID: 28215660.</a:t>
            </a:r>
            <a:endParaRPr lang="en-US" sz="1200" dirty="0"/>
          </a:p>
        </p:txBody>
      </p:sp>
      <p:pic>
        <p:nvPicPr>
          <p:cNvPr id="3074" name="Picture 2">
            <a:extLst>
              <a:ext uri="{FF2B5EF4-FFF2-40B4-BE49-F238E27FC236}">
                <a16:creationId xmlns:a16="http://schemas.microsoft.com/office/drawing/2014/main" id="{7C5542EC-DEFB-A108-F4EB-69DCCB82579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52415" y="1133061"/>
            <a:ext cx="10740959" cy="45291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CCC8A9F-33D0-6FF5-8018-304B468A5D84}"/>
              </a:ext>
            </a:extLst>
          </p:cNvPr>
          <p:cNvSpPr txBox="1"/>
          <p:nvPr/>
        </p:nvSpPr>
        <p:spPr>
          <a:xfrm>
            <a:off x="7195935" y="5788972"/>
            <a:ext cx="1279517" cy="461665"/>
          </a:xfrm>
          <a:prstGeom prst="rect">
            <a:avLst/>
          </a:prstGeom>
          <a:noFill/>
        </p:spPr>
        <p:txBody>
          <a:bodyPr wrap="none" rtlCol="0">
            <a:spAutoFit/>
          </a:bodyPr>
          <a:lstStyle/>
          <a:p>
            <a:r>
              <a:rPr lang="en-US" sz="2400" dirty="0">
                <a:solidFill>
                  <a:schemeClr val="accent2"/>
                </a:solidFill>
                <a:latin typeface="+mj-lt"/>
              </a:rPr>
              <a:t>GRADE</a:t>
            </a:r>
          </a:p>
        </p:txBody>
      </p:sp>
      <p:sp>
        <p:nvSpPr>
          <p:cNvPr id="7" name="TextBox 6">
            <a:extLst>
              <a:ext uri="{FF2B5EF4-FFF2-40B4-BE49-F238E27FC236}">
                <a16:creationId xmlns:a16="http://schemas.microsoft.com/office/drawing/2014/main" id="{907EF074-1FC2-AF2C-97E6-4A9234BEE0D3}"/>
              </a:ext>
            </a:extLst>
          </p:cNvPr>
          <p:cNvSpPr txBox="1"/>
          <p:nvPr/>
        </p:nvSpPr>
        <p:spPr>
          <a:xfrm>
            <a:off x="1224116" y="5788972"/>
            <a:ext cx="2119491" cy="461665"/>
          </a:xfrm>
          <a:prstGeom prst="rect">
            <a:avLst/>
          </a:prstGeom>
          <a:noFill/>
        </p:spPr>
        <p:txBody>
          <a:bodyPr wrap="none" rtlCol="0">
            <a:spAutoFit/>
          </a:bodyPr>
          <a:lstStyle/>
          <a:p>
            <a:r>
              <a:rPr lang="en-US" sz="2400" dirty="0">
                <a:solidFill>
                  <a:schemeClr val="accent2"/>
                </a:solidFill>
                <a:latin typeface="+mj-lt"/>
              </a:rPr>
              <a:t>Initial Pyramid</a:t>
            </a:r>
          </a:p>
        </p:txBody>
      </p:sp>
    </p:spTree>
    <p:extLst>
      <p:ext uri="{BB962C8B-B14F-4D97-AF65-F5344CB8AC3E}">
        <p14:creationId xmlns:p14="http://schemas.microsoft.com/office/powerpoint/2010/main" val="3681694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3291" y="109196"/>
            <a:ext cx="11139053" cy="666056"/>
          </a:xfrm>
        </p:spPr>
        <p:txBody>
          <a:bodyPr>
            <a:normAutofit fontScale="90000"/>
          </a:bodyPr>
          <a:lstStyle/>
          <a:p>
            <a:r>
              <a:rPr lang="hr-HR" dirty="0"/>
              <a:t>HOW DO WE EXPRESS HOW CERTAIN WE ARE IN THE RESULTS?</a:t>
            </a:r>
            <a:br>
              <a:rPr lang="hr-HR" dirty="0"/>
            </a:br>
            <a:r>
              <a:rPr lang="hr-HR" dirty="0"/>
              <a:t>GRADE: </a:t>
            </a:r>
            <a:r>
              <a:rPr lang="hr-HR" dirty="0" err="1"/>
              <a:t>Four</a:t>
            </a:r>
            <a:r>
              <a:rPr lang="hr-HR" dirty="0"/>
              <a:t> </a:t>
            </a:r>
            <a:r>
              <a:rPr lang="hr-HR" dirty="0" err="1"/>
              <a:t>levels</a:t>
            </a:r>
            <a:r>
              <a:rPr lang="hr-HR" dirty="0"/>
              <a:t> </a:t>
            </a:r>
            <a:r>
              <a:rPr lang="hr-HR" dirty="0" err="1"/>
              <a:t>of</a:t>
            </a:r>
            <a:r>
              <a:rPr lang="hr-HR" dirty="0"/>
              <a:t> </a:t>
            </a:r>
            <a:r>
              <a:rPr lang="hr-HR" dirty="0" err="1"/>
              <a:t>certainty</a:t>
            </a:r>
            <a:endParaRPr lang="hr-HR" dirty="0"/>
          </a:p>
        </p:txBody>
      </p:sp>
      <p:graphicFrame>
        <p:nvGraphicFramePr>
          <p:cNvPr id="4" name="Table 3"/>
          <p:cNvGraphicFramePr>
            <a:graphicFrameLocks noGrp="1"/>
          </p:cNvGraphicFramePr>
          <p:nvPr>
            <p:extLst>
              <p:ext uri="{D42A27DB-BD31-4B8C-83A1-F6EECF244321}">
                <p14:modId xmlns:p14="http://schemas.microsoft.com/office/powerpoint/2010/main" val="3171250974"/>
              </p:ext>
            </p:extLst>
          </p:nvPr>
        </p:nvGraphicFramePr>
        <p:xfrm>
          <a:off x="353291" y="975737"/>
          <a:ext cx="11573666" cy="5561645"/>
        </p:xfrm>
        <a:graphic>
          <a:graphicData uri="http://schemas.openxmlformats.org/drawingml/2006/table">
            <a:tbl>
              <a:tblPr>
                <a:tableStyleId>{FABFCF23-3B69-468F-B69F-88F6DE6A72F2}</a:tableStyleId>
              </a:tblPr>
              <a:tblGrid>
                <a:gridCol w="2879766">
                  <a:extLst>
                    <a:ext uri="{9D8B030D-6E8A-4147-A177-3AD203B41FA5}">
                      <a16:colId xmlns:a16="http://schemas.microsoft.com/office/drawing/2014/main" val="20001"/>
                    </a:ext>
                  </a:extLst>
                </a:gridCol>
                <a:gridCol w="6501776">
                  <a:extLst>
                    <a:ext uri="{9D8B030D-6E8A-4147-A177-3AD203B41FA5}">
                      <a16:colId xmlns:a16="http://schemas.microsoft.com/office/drawing/2014/main" val="20002"/>
                    </a:ext>
                  </a:extLst>
                </a:gridCol>
                <a:gridCol w="2192124">
                  <a:extLst>
                    <a:ext uri="{9D8B030D-6E8A-4147-A177-3AD203B41FA5}">
                      <a16:colId xmlns:a16="http://schemas.microsoft.com/office/drawing/2014/main" val="20003"/>
                    </a:ext>
                  </a:extLst>
                </a:gridCol>
              </a:tblGrid>
              <a:tr h="641184">
                <a:tc>
                  <a:txBody>
                    <a:bodyPr/>
                    <a:lstStyle/>
                    <a:p>
                      <a:pPr algn="ctr">
                        <a:lnSpc>
                          <a:spcPct val="115000"/>
                        </a:lnSpc>
                        <a:spcAft>
                          <a:spcPts val="0"/>
                        </a:spcAft>
                      </a:pPr>
                      <a:r>
                        <a:rPr lang="hr-HR" sz="2800" b="1" dirty="0" err="1">
                          <a:solidFill>
                            <a:schemeClr val="accent2"/>
                          </a:solidFill>
                          <a:latin typeface="Aptos" panose="020B0004020202020204" pitchFamily="34" charset="0"/>
                        </a:rPr>
                        <a:t>Certainty</a:t>
                      </a:r>
                      <a:r>
                        <a:rPr lang="en-GB" sz="2800" b="1" dirty="0">
                          <a:solidFill>
                            <a:schemeClr val="accent2"/>
                          </a:solidFill>
                          <a:latin typeface="Aptos" panose="020B0004020202020204" pitchFamily="34" charset="0"/>
                        </a:rPr>
                        <a:t> level</a:t>
                      </a:r>
                      <a:endParaRPr lang="en-GB" sz="2800" b="1" dirty="0">
                        <a:solidFill>
                          <a:schemeClr val="accent2"/>
                        </a:solidFill>
                        <a:latin typeface="Aptos" panose="020B0004020202020204" pitchFamily="34" charset="0"/>
                        <a:ea typeface="SimSun"/>
                        <a:cs typeface="DokChampa"/>
                      </a:endParaRPr>
                    </a:p>
                  </a:txBody>
                  <a:tcPr marL="91443" marR="91443" marT="45722" marB="45722"/>
                </a:tc>
                <a:tc>
                  <a:txBody>
                    <a:bodyPr/>
                    <a:lstStyle/>
                    <a:p>
                      <a:pPr>
                        <a:lnSpc>
                          <a:spcPct val="115000"/>
                        </a:lnSpc>
                        <a:spcAft>
                          <a:spcPts val="0"/>
                        </a:spcAft>
                      </a:pPr>
                      <a:endParaRPr lang="en-GB" sz="2800" b="1" dirty="0">
                        <a:solidFill>
                          <a:schemeClr val="accent2"/>
                        </a:solidFill>
                        <a:latin typeface="Aptos" panose="020B0004020202020204" pitchFamily="34" charset="0"/>
                        <a:ea typeface="SimSun"/>
                        <a:cs typeface="DokChampa"/>
                      </a:endParaRPr>
                    </a:p>
                  </a:txBody>
                  <a:tcPr marL="91443" marR="91443" marT="45722" marB="45722"/>
                </a:tc>
                <a:tc>
                  <a:txBody>
                    <a:bodyPr/>
                    <a:lstStyle/>
                    <a:p>
                      <a:pPr algn="ctr">
                        <a:lnSpc>
                          <a:spcPct val="115000"/>
                        </a:lnSpc>
                        <a:spcAft>
                          <a:spcPts val="0"/>
                        </a:spcAft>
                      </a:pPr>
                      <a:r>
                        <a:rPr lang="en-GB" sz="2800" b="1" dirty="0">
                          <a:solidFill>
                            <a:schemeClr val="accent2"/>
                          </a:solidFill>
                          <a:latin typeface="Aptos" panose="020B0004020202020204" pitchFamily="34" charset="0"/>
                        </a:rPr>
                        <a:t>Grade</a:t>
                      </a:r>
                      <a:endParaRPr lang="en-GB" sz="2800" b="1" dirty="0">
                        <a:solidFill>
                          <a:schemeClr val="accent2"/>
                        </a:solidFill>
                        <a:latin typeface="Aptos" panose="020B0004020202020204" pitchFamily="34" charset="0"/>
                        <a:ea typeface="SimSun"/>
                        <a:cs typeface="DokChampa"/>
                      </a:endParaRPr>
                    </a:p>
                  </a:txBody>
                  <a:tcPr marL="91443" marR="91443" marT="45722" marB="45722"/>
                </a:tc>
                <a:extLst>
                  <a:ext uri="{0D108BD9-81ED-4DB2-BD59-A6C34878D82A}">
                    <a16:rowId xmlns:a16="http://schemas.microsoft.com/office/drawing/2014/main" val="10000"/>
                  </a:ext>
                </a:extLst>
              </a:tr>
              <a:tr h="847367">
                <a:tc>
                  <a:txBody>
                    <a:bodyPr/>
                    <a:lstStyle/>
                    <a:p>
                      <a:pPr algn="ctr">
                        <a:lnSpc>
                          <a:spcPct val="115000"/>
                        </a:lnSpc>
                        <a:spcAft>
                          <a:spcPts val="0"/>
                        </a:spcAft>
                      </a:pPr>
                      <a:r>
                        <a:rPr lang="en-GB" sz="2800" b="1" dirty="0">
                          <a:solidFill>
                            <a:schemeClr val="accent2"/>
                          </a:solidFill>
                          <a:latin typeface="Aptos" panose="020B0004020202020204" pitchFamily="34" charset="0"/>
                        </a:rPr>
                        <a:t>High </a:t>
                      </a:r>
                      <a:endParaRPr lang="en-GB" sz="2800" b="1" dirty="0">
                        <a:solidFill>
                          <a:schemeClr val="accent2"/>
                        </a:solidFill>
                        <a:latin typeface="Aptos" panose="020B0004020202020204" pitchFamily="34" charset="0"/>
                        <a:ea typeface="SimSun"/>
                        <a:cs typeface="DokChampa"/>
                      </a:endParaRPr>
                    </a:p>
                  </a:txBody>
                  <a:tcPr marL="91443" marR="91443" marT="45722" marB="45722"/>
                </a:tc>
                <a:tc>
                  <a:txBody>
                    <a:bodyPr/>
                    <a:lstStyle/>
                    <a:p>
                      <a:pPr>
                        <a:lnSpc>
                          <a:spcPct val="115000"/>
                        </a:lnSpc>
                        <a:spcAft>
                          <a:spcPts val="0"/>
                        </a:spcAft>
                      </a:pPr>
                      <a:r>
                        <a:rPr lang="en-GB" sz="2200" dirty="0">
                          <a:solidFill>
                            <a:schemeClr val="accent6"/>
                          </a:solidFill>
                          <a:latin typeface="Aptos" panose="020B0004020202020204" pitchFamily="34" charset="0"/>
                        </a:rPr>
                        <a:t>We are very confident that the true effect lies close to that of the estimate of the effect</a:t>
                      </a:r>
                      <a:endParaRPr lang="en-GB" sz="2200" dirty="0">
                        <a:solidFill>
                          <a:schemeClr val="accent6"/>
                        </a:solidFill>
                        <a:latin typeface="Aptos" panose="020B0004020202020204" pitchFamily="34" charset="0"/>
                        <a:ea typeface="SimSun"/>
                        <a:cs typeface="DokChampa"/>
                      </a:endParaRPr>
                    </a:p>
                  </a:txBody>
                  <a:tcPr marL="91443" marR="91443" marT="45722" marB="4572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latin typeface="Aptos" panose="020B0004020202020204" pitchFamily="34" charset="0"/>
                        </a:rPr>
                        <a:t>⊕⊕⊕⊕ </a:t>
                      </a:r>
                    </a:p>
                    <a:p>
                      <a:pPr algn="ctr">
                        <a:spcAft>
                          <a:spcPts val="0"/>
                        </a:spcAft>
                      </a:pPr>
                      <a:endParaRPr lang="en-GB" sz="1600" dirty="0">
                        <a:solidFill>
                          <a:srgbClr val="000000"/>
                        </a:solidFill>
                        <a:latin typeface="Aptos" panose="020B0004020202020204" pitchFamily="34" charset="0"/>
                        <a:ea typeface="SimSun"/>
                        <a:cs typeface="Cambria Math"/>
                      </a:endParaRPr>
                    </a:p>
                  </a:txBody>
                  <a:tcPr marL="91443" marR="91443" marT="45722" marB="45722"/>
                </a:tc>
                <a:extLst>
                  <a:ext uri="{0D108BD9-81ED-4DB2-BD59-A6C34878D82A}">
                    <a16:rowId xmlns:a16="http://schemas.microsoft.com/office/drawing/2014/main" val="10001"/>
                  </a:ext>
                </a:extLst>
              </a:tr>
              <a:tr h="1609337">
                <a:tc>
                  <a:txBody>
                    <a:bodyPr/>
                    <a:lstStyle/>
                    <a:p>
                      <a:pPr algn="ctr">
                        <a:lnSpc>
                          <a:spcPct val="115000"/>
                        </a:lnSpc>
                        <a:spcAft>
                          <a:spcPts val="0"/>
                        </a:spcAft>
                      </a:pPr>
                      <a:r>
                        <a:rPr lang="en-GB" sz="2800" b="1" dirty="0">
                          <a:solidFill>
                            <a:schemeClr val="accent2"/>
                          </a:solidFill>
                          <a:latin typeface="Aptos" panose="020B0004020202020204" pitchFamily="34" charset="0"/>
                        </a:rPr>
                        <a:t>Moderate</a:t>
                      </a:r>
                      <a:endParaRPr lang="en-GB" sz="2800" b="1" dirty="0">
                        <a:solidFill>
                          <a:schemeClr val="accent2"/>
                        </a:solidFill>
                        <a:latin typeface="Aptos" panose="020B0004020202020204" pitchFamily="34" charset="0"/>
                        <a:ea typeface="SimSun"/>
                        <a:cs typeface="DokChampa"/>
                      </a:endParaRPr>
                    </a:p>
                  </a:txBody>
                  <a:tcPr marL="91443" marR="91443" marT="45722" marB="45722"/>
                </a:tc>
                <a:tc>
                  <a:txBody>
                    <a:bodyPr/>
                    <a:lstStyle/>
                    <a:p>
                      <a:pPr>
                        <a:lnSpc>
                          <a:spcPct val="115000"/>
                        </a:lnSpc>
                        <a:spcAft>
                          <a:spcPts val="0"/>
                        </a:spcAft>
                      </a:pPr>
                      <a:r>
                        <a:rPr lang="en-GB" sz="2200" dirty="0">
                          <a:solidFill>
                            <a:schemeClr val="accent6"/>
                          </a:solidFill>
                          <a:latin typeface="Aptos" panose="020B0004020202020204" pitchFamily="34" charset="0"/>
                        </a:rPr>
                        <a:t>We are moderately confident in the effect estimate: The true effect is likely to be close to the estimate of the effect, but there is a</a:t>
                      </a:r>
                    </a:p>
                    <a:p>
                      <a:pPr>
                        <a:lnSpc>
                          <a:spcPct val="115000"/>
                        </a:lnSpc>
                        <a:spcAft>
                          <a:spcPts val="0"/>
                        </a:spcAft>
                      </a:pPr>
                      <a:r>
                        <a:rPr lang="en-GB" sz="2200" dirty="0">
                          <a:solidFill>
                            <a:schemeClr val="accent6"/>
                          </a:solidFill>
                          <a:latin typeface="Aptos" panose="020B0004020202020204" pitchFamily="34" charset="0"/>
                        </a:rPr>
                        <a:t>possibility that it is substantially different</a:t>
                      </a:r>
                      <a:endParaRPr lang="en-GB" sz="2200" dirty="0">
                        <a:solidFill>
                          <a:schemeClr val="accent6"/>
                        </a:solidFill>
                        <a:latin typeface="Aptos" panose="020B0004020202020204" pitchFamily="34" charset="0"/>
                        <a:ea typeface="SimSun"/>
                        <a:cs typeface="DokChampa"/>
                      </a:endParaRPr>
                    </a:p>
                  </a:txBody>
                  <a:tcPr marL="91443" marR="91443" marT="45722" marB="4572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latin typeface="Aptos" panose="020B0004020202020204" pitchFamily="34" charset="0"/>
                        </a:rPr>
                        <a:t>⊕⊕⊕⊝ </a:t>
                      </a:r>
                    </a:p>
                    <a:p>
                      <a:pPr algn="ctr">
                        <a:spcAft>
                          <a:spcPts val="0"/>
                        </a:spcAft>
                      </a:pPr>
                      <a:endParaRPr lang="en-GB" sz="1600" dirty="0">
                        <a:solidFill>
                          <a:srgbClr val="000000"/>
                        </a:solidFill>
                        <a:latin typeface="Aptos" panose="020B0004020202020204" pitchFamily="34" charset="0"/>
                        <a:ea typeface="SimSun"/>
                        <a:cs typeface="Cambria Math"/>
                      </a:endParaRPr>
                    </a:p>
                  </a:txBody>
                  <a:tcPr marL="91443" marR="91443" marT="45722" marB="45722"/>
                </a:tc>
                <a:extLst>
                  <a:ext uri="{0D108BD9-81ED-4DB2-BD59-A6C34878D82A}">
                    <a16:rowId xmlns:a16="http://schemas.microsoft.com/office/drawing/2014/main" val="10002"/>
                  </a:ext>
                </a:extLst>
              </a:tr>
              <a:tr h="1223223">
                <a:tc>
                  <a:txBody>
                    <a:bodyPr/>
                    <a:lstStyle/>
                    <a:p>
                      <a:pPr algn="ctr">
                        <a:lnSpc>
                          <a:spcPct val="115000"/>
                        </a:lnSpc>
                        <a:spcAft>
                          <a:spcPts val="0"/>
                        </a:spcAft>
                      </a:pPr>
                      <a:r>
                        <a:rPr lang="en-GB" sz="2800" b="1" dirty="0">
                          <a:solidFill>
                            <a:schemeClr val="accent2"/>
                          </a:solidFill>
                          <a:latin typeface="Aptos" panose="020B0004020202020204" pitchFamily="34" charset="0"/>
                        </a:rPr>
                        <a:t>Low</a:t>
                      </a:r>
                      <a:endParaRPr lang="en-GB" sz="2800" b="1" dirty="0">
                        <a:solidFill>
                          <a:schemeClr val="accent2"/>
                        </a:solidFill>
                        <a:latin typeface="Aptos" panose="020B0004020202020204" pitchFamily="34" charset="0"/>
                        <a:ea typeface="SimSun"/>
                        <a:cs typeface="DokChampa"/>
                      </a:endParaRPr>
                    </a:p>
                  </a:txBody>
                  <a:tcPr marL="91443" marR="91443" marT="45722" marB="45722"/>
                </a:tc>
                <a:tc>
                  <a:txBody>
                    <a:bodyPr/>
                    <a:lstStyle/>
                    <a:p>
                      <a:pPr>
                        <a:lnSpc>
                          <a:spcPct val="115000"/>
                        </a:lnSpc>
                        <a:spcAft>
                          <a:spcPts val="0"/>
                        </a:spcAft>
                      </a:pPr>
                      <a:r>
                        <a:rPr lang="en-GB" sz="2200" dirty="0">
                          <a:solidFill>
                            <a:schemeClr val="accent6"/>
                          </a:solidFill>
                          <a:latin typeface="Aptos" panose="020B0004020202020204" pitchFamily="34" charset="0"/>
                        </a:rPr>
                        <a:t>Our confidence in the effect estimate is limited: The true effect may be substantially different from the estimate of the effect</a:t>
                      </a:r>
                      <a:endParaRPr lang="en-GB" sz="2200" dirty="0">
                        <a:solidFill>
                          <a:schemeClr val="accent6"/>
                        </a:solidFill>
                        <a:latin typeface="Aptos" panose="020B0004020202020204" pitchFamily="34" charset="0"/>
                        <a:ea typeface="SimSun"/>
                        <a:cs typeface="DokChampa"/>
                      </a:endParaRPr>
                    </a:p>
                  </a:txBody>
                  <a:tcPr marL="91443" marR="91443" marT="45722" marB="4572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latin typeface="Aptos" panose="020B0004020202020204" pitchFamily="34" charset="0"/>
                        </a:rPr>
                        <a:t>⊕⊕⊝⊝ </a:t>
                      </a:r>
                    </a:p>
                    <a:p>
                      <a:pPr algn="ctr">
                        <a:spcAft>
                          <a:spcPts val="0"/>
                        </a:spcAft>
                      </a:pPr>
                      <a:endParaRPr lang="en-GB" sz="1600" dirty="0">
                        <a:solidFill>
                          <a:srgbClr val="000000"/>
                        </a:solidFill>
                        <a:latin typeface="Aptos" panose="020B0004020202020204" pitchFamily="34" charset="0"/>
                        <a:ea typeface="SimSun"/>
                        <a:cs typeface="Cambria Math"/>
                      </a:endParaRPr>
                    </a:p>
                  </a:txBody>
                  <a:tcPr marL="91443" marR="91443" marT="45722" marB="45722"/>
                </a:tc>
                <a:extLst>
                  <a:ext uri="{0D108BD9-81ED-4DB2-BD59-A6C34878D82A}">
                    <a16:rowId xmlns:a16="http://schemas.microsoft.com/office/drawing/2014/main" val="10003"/>
                  </a:ext>
                </a:extLst>
              </a:tr>
              <a:tr h="1223223">
                <a:tc>
                  <a:txBody>
                    <a:bodyPr/>
                    <a:lstStyle/>
                    <a:p>
                      <a:pPr algn="ctr">
                        <a:lnSpc>
                          <a:spcPct val="115000"/>
                        </a:lnSpc>
                        <a:spcAft>
                          <a:spcPts val="0"/>
                        </a:spcAft>
                      </a:pPr>
                      <a:r>
                        <a:rPr lang="en-GB" sz="2800" b="1" dirty="0">
                          <a:solidFill>
                            <a:schemeClr val="accent2"/>
                          </a:solidFill>
                          <a:latin typeface="Aptos" panose="020B0004020202020204" pitchFamily="34" charset="0"/>
                        </a:rPr>
                        <a:t>Very low</a:t>
                      </a:r>
                      <a:endParaRPr lang="en-GB" sz="2800" b="1" dirty="0">
                        <a:solidFill>
                          <a:schemeClr val="accent2"/>
                        </a:solidFill>
                        <a:latin typeface="Aptos" panose="020B0004020202020204" pitchFamily="34" charset="0"/>
                        <a:ea typeface="SimSun"/>
                        <a:cs typeface="DokChampa"/>
                      </a:endParaRPr>
                    </a:p>
                  </a:txBody>
                  <a:tcPr marL="91443" marR="91443" marT="45722" marB="45722"/>
                </a:tc>
                <a:tc>
                  <a:txBody>
                    <a:bodyPr/>
                    <a:lstStyle/>
                    <a:p>
                      <a:pPr>
                        <a:lnSpc>
                          <a:spcPct val="115000"/>
                        </a:lnSpc>
                        <a:spcAft>
                          <a:spcPts val="0"/>
                        </a:spcAft>
                      </a:pPr>
                      <a:r>
                        <a:rPr lang="en-GB" sz="2200" dirty="0">
                          <a:solidFill>
                            <a:schemeClr val="accent6"/>
                          </a:solidFill>
                          <a:latin typeface="Aptos" panose="020B0004020202020204" pitchFamily="34" charset="0"/>
                        </a:rPr>
                        <a:t>We have very little confidence in the effect estimate: The true effect is likely to be substantially different from the estimate of effect</a:t>
                      </a:r>
                      <a:endParaRPr lang="en-GB" sz="2200" dirty="0">
                        <a:solidFill>
                          <a:schemeClr val="accent6"/>
                        </a:solidFill>
                        <a:latin typeface="Aptos" panose="020B0004020202020204" pitchFamily="34" charset="0"/>
                        <a:ea typeface="SimSun"/>
                        <a:cs typeface="DokChampa"/>
                      </a:endParaRPr>
                    </a:p>
                  </a:txBody>
                  <a:tcPr marL="91443" marR="91443" marT="45722" marB="4572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1600" dirty="0">
                          <a:latin typeface="Aptos" panose="020B0004020202020204" pitchFamily="34" charset="0"/>
                        </a:rPr>
                        <a:t>⊕⊝⊝⊝ </a:t>
                      </a:r>
                    </a:p>
                    <a:p>
                      <a:pPr algn="ctr">
                        <a:spcAft>
                          <a:spcPts val="0"/>
                        </a:spcAft>
                      </a:pPr>
                      <a:endParaRPr lang="en-GB" sz="1600" dirty="0">
                        <a:solidFill>
                          <a:srgbClr val="000000"/>
                        </a:solidFill>
                        <a:latin typeface="Aptos" panose="020B0004020202020204" pitchFamily="34" charset="0"/>
                        <a:ea typeface="SimSun"/>
                        <a:cs typeface="Cambria Math"/>
                      </a:endParaRPr>
                    </a:p>
                  </a:txBody>
                  <a:tcPr marL="91443" marR="91443" marT="45722" marB="45722"/>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980534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346B6-E99A-D9AA-5111-0B5124BB41A0}"/>
              </a:ext>
            </a:extLst>
          </p:cNvPr>
          <p:cNvSpPr>
            <a:spLocks noGrp="1"/>
          </p:cNvSpPr>
          <p:nvPr>
            <p:ph type="title"/>
          </p:nvPr>
        </p:nvSpPr>
        <p:spPr>
          <a:xfrm>
            <a:off x="428788" y="-247650"/>
            <a:ext cx="11077249" cy="854075"/>
          </a:xfrm>
        </p:spPr>
        <p:txBody>
          <a:bodyPr/>
          <a:lstStyle/>
          <a:p>
            <a:r>
              <a:rPr lang="en-US" dirty="0"/>
              <a:t>Summary of Results</a:t>
            </a:r>
          </a:p>
        </p:txBody>
      </p:sp>
      <p:pic>
        <p:nvPicPr>
          <p:cNvPr id="7" name="Picture 6">
            <a:extLst>
              <a:ext uri="{FF2B5EF4-FFF2-40B4-BE49-F238E27FC236}">
                <a16:creationId xmlns:a16="http://schemas.microsoft.com/office/drawing/2014/main" id="{0140DE41-B050-CF51-B19D-A947EC558B6E}"/>
              </a:ext>
            </a:extLst>
          </p:cNvPr>
          <p:cNvPicPr>
            <a:picLocks noChangeAspect="1"/>
          </p:cNvPicPr>
          <p:nvPr/>
        </p:nvPicPr>
        <p:blipFill>
          <a:blip r:embed="rId2"/>
          <a:stretch>
            <a:fillRect/>
          </a:stretch>
        </p:blipFill>
        <p:spPr>
          <a:xfrm>
            <a:off x="1600199" y="1041661"/>
            <a:ext cx="8501063" cy="5067061"/>
          </a:xfrm>
          <a:prstGeom prst="rect">
            <a:avLst/>
          </a:prstGeom>
        </p:spPr>
      </p:pic>
      <p:sp>
        <p:nvSpPr>
          <p:cNvPr id="3" name="Oval 2">
            <a:extLst>
              <a:ext uri="{FF2B5EF4-FFF2-40B4-BE49-F238E27FC236}">
                <a16:creationId xmlns:a16="http://schemas.microsoft.com/office/drawing/2014/main" id="{3D52EAEA-7583-3421-3E0A-9532DA0DC120}"/>
              </a:ext>
            </a:extLst>
          </p:cNvPr>
          <p:cNvSpPr/>
          <p:nvPr/>
        </p:nvSpPr>
        <p:spPr>
          <a:xfrm>
            <a:off x="6845643" y="1041661"/>
            <a:ext cx="1097986" cy="3798008"/>
          </a:xfrm>
          <a:prstGeom prst="ellipse">
            <a:avLst/>
          </a:prstGeom>
          <a:noFill/>
          <a:ln w="34925">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5681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9A5F0-94EA-F775-1B76-DADF50400622}"/>
              </a:ext>
            </a:extLst>
          </p:cNvPr>
          <p:cNvSpPr>
            <a:spLocks noGrp="1"/>
          </p:cNvSpPr>
          <p:nvPr>
            <p:ph type="title"/>
          </p:nvPr>
        </p:nvSpPr>
        <p:spPr>
          <a:xfrm>
            <a:off x="557375" y="221974"/>
            <a:ext cx="11077249" cy="854075"/>
          </a:xfrm>
        </p:spPr>
        <p:txBody>
          <a:bodyPr/>
          <a:lstStyle/>
          <a:p>
            <a:r>
              <a:rPr lang="en-US" dirty="0"/>
              <a:t>Initial rating depends on study design for body of evidence</a:t>
            </a:r>
          </a:p>
        </p:txBody>
      </p:sp>
      <p:sp>
        <p:nvSpPr>
          <p:cNvPr id="6" name="TextBox 5">
            <a:extLst>
              <a:ext uri="{FF2B5EF4-FFF2-40B4-BE49-F238E27FC236}">
                <a16:creationId xmlns:a16="http://schemas.microsoft.com/office/drawing/2014/main" id="{2947F3F6-13EB-E740-1359-66FCC8B4BAB0}"/>
              </a:ext>
            </a:extLst>
          </p:cNvPr>
          <p:cNvSpPr txBox="1"/>
          <p:nvPr/>
        </p:nvSpPr>
        <p:spPr>
          <a:xfrm>
            <a:off x="4512365" y="1963518"/>
            <a:ext cx="3260035" cy="3572260"/>
          </a:xfrm>
          <a:prstGeom prst="rect">
            <a:avLst/>
          </a:prstGeom>
          <a:noFill/>
        </p:spPr>
        <p:txBody>
          <a:bodyPr wrap="square">
            <a:spAutoFit/>
          </a:bodyPr>
          <a:lstStyle/>
          <a:p>
            <a:pPr algn="l" rtl="0" fontAlgn="base">
              <a:lnSpc>
                <a:spcPts val="2700"/>
              </a:lnSpc>
              <a:buNone/>
            </a:pPr>
            <a:r>
              <a:rPr lang="hr-HR" sz="3200" b="0" i="0" u="none" strike="noStrike" dirty="0">
                <a:solidFill>
                  <a:schemeClr val="accent2"/>
                </a:solidFill>
                <a:effectLst/>
                <a:latin typeface="Source Sans Pro Semibold" panose="020F0502020204030204" pitchFamily="34" charset="0"/>
              </a:rPr>
              <a:t>4 – </a:t>
            </a:r>
            <a:r>
              <a:rPr lang="hr-HR" sz="3200" b="0" i="0" u="none" strike="noStrike" dirty="0" err="1">
                <a:solidFill>
                  <a:schemeClr val="accent2"/>
                </a:solidFill>
                <a:effectLst/>
                <a:latin typeface="Source Sans Pro Semibold" panose="020F0502020204030204" pitchFamily="34" charset="0"/>
              </a:rPr>
              <a:t>high</a:t>
            </a:r>
            <a:r>
              <a:rPr lang="hr-HR" sz="3200" b="0" i="0" dirty="0">
                <a:solidFill>
                  <a:schemeClr val="accent2"/>
                </a:solidFill>
                <a:effectLst/>
                <a:latin typeface="Source Sans Pro Semibold" panose="020F0502020204030204" pitchFamily="34" charset="0"/>
              </a:rPr>
              <a:t>​</a:t>
            </a:r>
            <a:endParaRPr lang="hr-HR" sz="3200" b="0" i="0" dirty="0">
              <a:solidFill>
                <a:schemeClr val="accent2"/>
              </a:solidFill>
              <a:effectLst/>
              <a:latin typeface="Segoe UI" panose="020B0502040204020203" pitchFamily="34" charset="0"/>
            </a:endParaRPr>
          </a:p>
          <a:p>
            <a:pPr algn="l" rtl="0" fontAlgn="base">
              <a:lnSpc>
                <a:spcPts val="2700"/>
              </a:lnSpc>
              <a:buNone/>
            </a:pPr>
            <a:r>
              <a:rPr lang="hr-HR" sz="3200" b="0" i="0" dirty="0">
                <a:solidFill>
                  <a:schemeClr val="accent2"/>
                </a:solidFill>
                <a:effectLst/>
                <a:latin typeface="Source Sans Pro Semibold" panose="020F0502020204030204" pitchFamily="34" charset="0"/>
              </a:rPr>
              <a:t>​</a:t>
            </a:r>
            <a:endParaRPr lang="hr-HR" sz="3200" b="0" i="0" dirty="0">
              <a:solidFill>
                <a:schemeClr val="accent2"/>
              </a:solidFill>
              <a:effectLst/>
              <a:latin typeface="Segoe UI" panose="020B0502040204020203" pitchFamily="34" charset="0"/>
            </a:endParaRPr>
          </a:p>
          <a:p>
            <a:pPr algn="l" rtl="0" fontAlgn="base">
              <a:lnSpc>
                <a:spcPts val="2700"/>
              </a:lnSpc>
              <a:buNone/>
            </a:pPr>
            <a:r>
              <a:rPr lang="hr-HR" sz="3200" b="0" i="0" dirty="0">
                <a:solidFill>
                  <a:schemeClr val="accent2"/>
                </a:solidFill>
                <a:effectLst/>
                <a:latin typeface="Source Sans Pro Semibold" panose="020F0502020204030204" pitchFamily="34" charset="0"/>
              </a:rPr>
              <a:t>​</a:t>
            </a:r>
            <a:endParaRPr lang="hr-HR" sz="3200" b="0" i="0" dirty="0">
              <a:solidFill>
                <a:schemeClr val="accent2"/>
              </a:solidFill>
              <a:effectLst/>
              <a:latin typeface="Segoe UI" panose="020B0502040204020203" pitchFamily="34" charset="0"/>
            </a:endParaRPr>
          </a:p>
          <a:p>
            <a:pPr algn="l" rtl="0" fontAlgn="base">
              <a:lnSpc>
                <a:spcPts val="2700"/>
              </a:lnSpc>
              <a:buNone/>
            </a:pPr>
            <a:r>
              <a:rPr lang="hr-HR" sz="3200" b="0" i="0" u="none" strike="noStrike" dirty="0">
                <a:solidFill>
                  <a:schemeClr val="accent2"/>
                </a:solidFill>
                <a:effectLst/>
                <a:latin typeface="Source Sans Pro Semibold" panose="020F0502020204030204" pitchFamily="34" charset="0"/>
              </a:rPr>
              <a:t>3 – </a:t>
            </a:r>
            <a:r>
              <a:rPr lang="hr-HR" sz="3200" b="0" i="0" u="none" strike="noStrike" dirty="0" err="1">
                <a:solidFill>
                  <a:schemeClr val="accent2"/>
                </a:solidFill>
                <a:effectLst/>
                <a:latin typeface="Source Sans Pro Semibold" panose="020F0502020204030204" pitchFamily="34" charset="0"/>
              </a:rPr>
              <a:t>moderate</a:t>
            </a:r>
            <a:r>
              <a:rPr lang="hr-HR" sz="3200" b="0" i="0" dirty="0">
                <a:solidFill>
                  <a:schemeClr val="accent2"/>
                </a:solidFill>
                <a:effectLst/>
                <a:latin typeface="Source Sans Pro Semibold" panose="020F0502020204030204" pitchFamily="34" charset="0"/>
              </a:rPr>
              <a:t>​</a:t>
            </a:r>
            <a:endParaRPr lang="hr-HR" sz="3200" b="0" i="0" dirty="0">
              <a:solidFill>
                <a:schemeClr val="accent2"/>
              </a:solidFill>
              <a:effectLst/>
              <a:latin typeface="Segoe UI" panose="020B0502040204020203" pitchFamily="34" charset="0"/>
            </a:endParaRPr>
          </a:p>
          <a:p>
            <a:pPr algn="l" rtl="0" fontAlgn="base">
              <a:lnSpc>
                <a:spcPts val="2700"/>
              </a:lnSpc>
              <a:buNone/>
            </a:pPr>
            <a:r>
              <a:rPr lang="hr-HR" sz="3200" b="0" i="0" dirty="0">
                <a:solidFill>
                  <a:schemeClr val="accent2"/>
                </a:solidFill>
                <a:effectLst/>
                <a:latin typeface="Source Sans Pro Semibold" panose="020F0502020204030204" pitchFamily="34" charset="0"/>
              </a:rPr>
              <a:t>​</a:t>
            </a:r>
            <a:endParaRPr lang="hr-HR" sz="3200" b="0" i="0" dirty="0">
              <a:solidFill>
                <a:schemeClr val="accent2"/>
              </a:solidFill>
              <a:effectLst/>
              <a:latin typeface="Segoe UI" panose="020B0502040204020203" pitchFamily="34" charset="0"/>
            </a:endParaRPr>
          </a:p>
          <a:p>
            <a:pPr algn="l" rtl="0" fontAlgn="base">
              <a:lnSpc>
                <a:spcPts val="2700"/>
              </a:lnSpc>
              <a:buNone/>
            </a:pPr>
            <a:r>
              <a:rPr lang="hr-HR" sz="3200" b="0" i="0" dirty="0">
                <a:solidFill>
                  <a:schemeClr val="accent2"/>
                </a:solidFill>
                <a:effectLst/>
                <a:latin typeface="Source Sans Pro Semibold" panose="020F0502020204030204" pitchFamily="34" charset="0"/>
              </a:rPr>
              <a:t>​</a:t>
            </a:r>
            <a:endParaRPr lang="hr-HR" sz="3200" b="0" i="0" dirty="0">
              <a:solidFill>
                <a:schemeClr val="accent2"/>
              </a:solidFill>
              <a:effectLst/>
              <a:latin typeface="Segoe UI" panose="020B0502040204020203" pitchFamily="34" charset="0"/>
            </a:endParaRPr>
          </a:p>
          <a:p>
            <a:pPr algn="l" rtl="0" fontAlgn="base">
              <a:lnSpc>
                <a:spcPts val="2700"/>
              </a:lnSpc>
              <a:buNone/>
            </a:pPr>
            <a:r>
              <a:rPr lang="hr-HR" sz="3200" b="0" i="0" u="none" strike="noStrike" dirty="0">
                <a:solidFill>
                  <a:schemeClr val="accent2"/>
                </a:solidFill>
                <a:effectLst/>
                <a:latin typeface="Source Sans Pro Semibold" panose="020F0502020204030204" pitchFamily="34" charset="0"/>
              </a:rPr>
              <a:t>2 – </a:t>
            </a:r>
            <a:r>
              <a:rPr lang="hr-HR" sz="3200" b="0" i="0" u="none" strike="noStrike" dirty="0" err="1">
                <a:solidFill>
                  <a:schemeClr val="accent2"/>
                </a:solidFill>
                <a:effectLst/>
                <a:latin typeface="Source Sans Pro Semibold" panose="020F0502020204030204" pitchFamily="34" charset="0"/>
              </a:rPr>
              <a:t>low</a:t>
            </a:r>
            <a:r>
              <a:rPr lang="hr-HR" sz="3200" b="0" i="0" dirty="0">
                <a:solidFill>
                  <a:schemeClr val="accent2"/>
                </a:solidFill>
                <a:effectLst/>
                <a:latin typeface="Source Sans Pro Semibold" panose="020F0502020204030204" pitchFamily="34" charset="0"/>
              </a:rPr>
              <a:t>​</a:t>
            </a:r>
            <a:endParaRPr lang="hr-HR" sz="3200" b="0" i="0" dirty="0">
              <a:solidFill>
                <a:schemeClr val="accent2"/>
              </a:solidFill>
              <a:effectLst/>
              <a:latin typeface="Segoe UI" panose="020B0502040204020203" pitchFamily="34" charset="0"/>
            </a:endParaRPr>
          </a:p>
          <a:p>
            <a:pPr algn="l" rtl="0" fontAlgn="base">
              <a:lnSpc>
                <a:spcPts val="2700"/>
              </a:lnSpc>
              <a:buNone/>
            </a:pPr>
            <a:r>
              <a:rPr lang="hr-HR" sz="3200" b="0" i="0" dirty="0">
                <a:solidFill>
                  <a:schemeClr val="accent2"/>
                </a:solidFill>
                <a:effectLst/>
                <a:latin typeface="Source Sans Pro Semibold" panose="020F0502020204030204" pitchFamily="34" charset="0"/>
              </a:rPr>
              <a:t>​</a:t>
            </a:r>
            <a:endParaRPr lang="hr-HR" sz="3200" b="0" i="0" dirty="0">
              <a:solidFill>
                <a:schemeClr val="accent2"/>
              </a:solidFill>
              <a:effectLst/>
              <a:latin typeface="Segoe UI" panose="020B0502040204020203" pitchFamily="34" charset="0"/>
            </a:endParaRPr>
          </a:p>
          <a:p>
            <a:pPr algn="l" rtl="0" fontAlgn="base">
              <a:lnSpc>
                <a:spcPts val="2700"/>
              </a:lnSpc>
              <a:buNone/>
            </a:pPr>
            <a:r>
              <a:rPr lang="hr-HR" sz="3200" b="0" i="0" dirty="0">
                <a:solidFill>
                  <a:schemeClr val="accent2"/>
                </a:solidFill>
                <a:effectLst/>
                <a:latin typeface="Source Sans Pro Semibold" panose="020F0502020204030204" pitchFamily="34" charset="0"/>
              </a:rPr>
              <a:t>​</a:t>
            </a:r>
            <a:endParaRPr lang="hr-HR" sz="3200" b="0" i="0" dirty="0">
              <a:solidFill>
                <a:schemeClr val="accent2"/>
              </a:solidFill>
              <a:effectLst/>
              <a:latin typeface="Segoe UI" panose="020B0502040204020203" pitchFamily="34" charset="0"/>
            </a:endParaRPr>
          </a:p>
          <a:p>
            <a:pPr algn="l" rtl="0" fontAlgn="base">
              <a:lnSpc>
                <a:spcPts val="2700"/>
              </a:lnSpc>
              <a:buNone/>
            </a:pPr>
            <a:r>
              <a:rPr lang="hr-HR" sz="3200" b="0" i="0" u="none" strike="noStrike" dirty="0">
                <a:solidFill>
                  <a:schemeClr val="accent2"/>
                </a:solidFill>
                <a:effectLst/>
                <a:latin typeface="Source Sans Pro Semibold" panose="020F0502020204030204" pitchFamily="34" charset="0"/>
              </a:rPr>
              <a:t>1 – </a:t>
            </a:r>
            <a:r>
              <a:rPr lang="hr-HR" sz="3200" b="0" i="0" u="none" strike="noStrike" dirty="0" err="1">
                <a:solidFill>
                  <a:schemeClr val="accent2"/>
                </a:solidFill>
                <a:effectLst/>
                <a:latin typeface="Source Sans Pro Semibold" panose="020F0502020204030204" pitchFamily="34" charset="0"/>
              </a:rPr>
              <a:t>very</a:t>
            </a:r>
            <a:r>
              <a:rPr lang="hr-HR" sz="3200" b="0" i="0" u="none" strike="noStrike" dirty="0">
                <a:solidFill>
                  <a:schemeClr val="accent2"/>
                </a:solidFill>
                <a:effectLst/>
                <a:latin typeface="Source Sans Pro Semibold" panose="020F0502020204030204" pitchFamily="34" charset="0"/>
              </a:rPr>
              <a:t> </a:t>
            </a:r>
            <a:r>
              <a:rPr lang="hr-HR" sz="3200" b="0" i="0" u="none" strike="noStrike" dirty="0" err="1">
                <a:solidFill>
                  <a:schemeClr val="accent2"/>
                </a:solidFill>
                <a:effectLst/>
                <a:latin typeface="Source Sans Pro Semibold" panose="020F0502020204030204" pitchFamily="34" charset="0"/>
              </a:rPr>
              <a:t>low</a:t>
            </a:r>
            <a:endParaRPr lang="hr-HR" sz="3200" b="0" i="0" dirty="0">
              <a:solidFill>
                <a:schemeClr val="accent2"/>
              </a:solidFill>
              <a:effectLst/>
              <a:latin typeface="Segoe UI" panose="020B0502040204020203" pitchFamily="34" charset="0"/>
            </a:endParaRPr>
          </a:p>
        </p:txBody>
      </p:sp>
      <p:sp>
        <p:nvSpPr>
          <p:cNvPr id="8" name="TextBox 7">
            <a:extLst>
              <a:ext uri="{FF2B5EF4-FFF2-40B4-BE49-F238E27FC236}">
                <a16:creationId xmlns:a16="http://schemas.microsoft.com/office/drawing/2014/main" id="{A64D185C-86FB-FB11-3D92-AB8212ACA564}"/>
              </a:ext>
            </a:extLst>
          </p:cNvPr>
          <p:cNvSpPr txBox="1"/>
          <p:nvPr/>
        </p:nvSpPr>
        <p:spPr>
          <a:xfrm>
            <a:off x="557375" y="1536480"/>
            <a:ext cx="3260035" cy="854075"/>
          </a:xfrm>
          <a:prstGeom prst="rect">
            <a:avLst/>
          </a:prstGeom>
          <a:noFill/>
        </p:spPr>
        <p:txBody>
          <a:bodyPr wrap="square">
            <a:spAutoFit/>
          </a:bodyPr>
          <a:lstStyle/>
          <a:p>
            <a:pPr algn="ctr"/>
            <a:r>
              <a:rPr lang="hr-HR" sz="2400" b="1" i="0" u="none" strike="noStrike" dirty="0">
                <a:solidFill>
                  <a:schemeClr val="tx2"/>
                </a:solidFill>
                <a:effectLst/>
                <a:latin typeface="Source Sans Pro Semibold" panose="020F0502020204030204" pitchFamily="34" charset="0"/>
              </a:rPr>
              <a:t>BODY OF EVIDENCE FROM RCT</a:t>
            </a:r>
            <a:endParaRPr lang="en-US" sz="2400" dirty="0">
              <a:solidFill>
                <a:schemeClr val="tx2"/>
              </a:solidFill>
            </a:endParaRPr>
          </a:p>
        </p:txBody>
      </p:sp>
      <p:sp>
        <p:nvSpPr>
          <p:cNvPr id="9" name="TextBox 8">
            <a:extLst>
              <a:ext uri="{FF2B5EF4-FFF2-40B4-BE49-F238E27FC236}">
                <a16:creationId xmlns:a16="http://schemas.microsoft.com/office/drawing/2014/main" id="{DD425C5A-C43C-541B-F928-4D5F55F6E573}"/>
              </a:ext>
            </a:extLst>
          </p:cNvPr>
          <p:cNvSpPr txBox="1"/>
          <p:nvPr/>
        </p:nvSpPr>
        <p:spPr>
          <a:xfrm>
            <a:off x="7772400" y="3682669"/>
            <a:ext cx="3260035" cy="1200329"/>
          </a:xfrm>
          <a:prstGeom prst="rect">
            <a:avLst/>
          </a:prstGeom>
          <a:noFill/>
        </p:spPr>
        <p:txBody>
          <a:bodyPr wrap="square">
            <a:spAutoFit/>
          </a:bodyPr>
          <a:lstStyle/>
          <a:p>
            <a:pPr algn="ctr"/>
            <a:r>
              <a:rPr lang="hr-HR" sz="2400" b="1" i="0" u="none" strike="noStrike" dirty="0">
                <a:solidFill>
                  <a:schemeClr val="tx2"/>
                </a:solidFill>
                <a:effectLst/>
                <a:latin typeface="Source Sans Pro Semibold" panose="020F0502020204030204" pitchFamily="34" charset="0"/>
              </a:rPr>
              <a:t>BODY OF EVIDENCE FROM NON –</a:t>
            </a:r>
            <a:r>
              <a:rPr lang="hr-HR" sz="2400" b="1" dirty="0">
                <a:solidFill>
                  <a:schemeClr val="tx2"/>
                </a:solidFill>
                <a:latin typeface="Source Sans Pro Semibold" panose="020F0502020204030204" pitchFamily="34" charset="0"/>
              </a:rPr>
              <a:t>RANDOMIZED STUDIES</a:t>
            </a:r>
            <a:endParaRPr lang="en-US" sz="2400" dirty="0">
              <a:solidFill>
                <a:schemeClr val="tx2"/>
              </a:solidFill>
            </a:endParaRPr>
          </a:p>
        </p:txBody>
      </p:sp>
      <p:sp>
        <p:nvSpPr>
          <p:cNvPr id="10" name="Right Arrow 9">
            <a:extLst>
              <a:ext uri="{FF2B5EF4-FFF2-40B4-BE49-F238E27FC236}">
                <a16:creationId xmlns:a16="http://schemas.microsoft.com/office/drawing/2014/main" id="{FE46EE18-0719-05B4-2D79-4F041FBB2A98}"/>
              </a:ext>
            </a:extLst>
          </p:cNvPr>
          <p:cNvSpPr/>
          <p:nvPr/>
        </p:nvSpPr>
        <p:spPr>
          <a:xfrm>
            <a:off x="3359427" y="2093507"/>
            <a:ext cx="1033719" cy="132857"/>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ight Arrow 10">
            <a:extLst>
              <a:ext uri="{FF2B5EF4-FFF2-40B4-BE49-F238E27FC236}">
                <a16:creationId xmlns:a16="http://schemas.microsoft.com/office/drawing/2014/main" id="{2C9D0FD4-99FB-7CE6-1C45-8CCFB466E9F3}"/>
              </a:ext>
            </a:extLst>
          </p:cNvPr>
          <p:cNvSpPr/>
          <p:nvPr/>
        </p:nvSpPr>
        <p:spPr>
          <a:xfrm rot="10800000">
            <a:off x="6241774" y="4174434"/>
            <a:ext cx="1696670" cy="108399"/>
          </a:xfrm>
          <a:prstGeom prst="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32343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491373" y="323669"/>
            <a:ext cx="7368948" cy="632838"/>
          </a:xfrm>
        </p:spPr>
        <p:txBody>
          <a:bodyPr/>
          <a:lstStyle/>
          <a:p>
            <a:pPr eaLnBrk="1" hangingPunct="1"/>
            <a:r>
              <a:rPr lang="hr-HR" altLang="en-US" sz="3200" dirty="0" err="1"/>
              <a:t>Certainty</a:t>
            </a:r>
            <a:r>
              <a:rPr lang="hr-HR" altLang="en-US" sz="3200" dirty="0"/>
              <a:t> </a:t>
            </a:r>
            <a:r>
              <a:rPr lang="hr-HR" altLang="en-US" sz="3200" dirty="0" err="1"/>
              <a:t>of</a:t>
            </a:r>
            <a:r>
              <a:rPr lang="hr-HR" altLang="en-US" sz="3200" dirty="0"/>
              <a:t> </a:t>
            </a:r>
            <a:r>
              <a:rPr lang="hr-HR" altLang="en-US" sz="3200" dirty="0" err="1"/>
              <a:t>evidence</a:t>
            </a:r>
            <a:r>
              <a:rPr lang="hr-HR" altLang="en-US" sz="3200" dirty="0"/>
              <a:t>: rating </a:t>
            </a:r>
            <a:r>
              <a:rPr lang="hr-HR" altLang="en-US" sz="3200" dirty="0" err="1"/>
              <a:t>down</a:t>
            </a:r>
            <a:endParaRPr lang="en-AU" altLang="en-US" sz="3200" dirty="0"/>
          </a:p>
        </p:txBody>
      </p:sp>
      <p:sp>
        <p:nvSpPr>
          <p:cNvPr id="9" name="Content Placeholder 2"/>
          <p:cNvSpPr>
            <a:spLocks noGrp="1"/>
          </p:cNvSpPr>
          <p:nvPr>
            <p:ph idx="1"/>
          </p:nvPr>
        </p:nvSpPr>
        <p:spPr>
          <a:xfrm>
            <a:off x="1343773" y="1546123"/>
            <a:ext cx="3912782" cy="2980914"/>
          </a:xfrm>
        </p:spPr>
        <p:txBody>
          <a:bodyPr>
            <a:normAutofit lnSpcReduction="10000"/>
          </a:bodyPr>
          <a:lstStyle/>
          <a:p>
            <a:pPr lvl="1" eaLnBrk="1" hangingPunct="1">
              <a:spcBef>
                <a:spcPts val="1600"/>
              </a:spcBef>
            </a:pPr>
            <a:r>
              <a:rPr lang="en-US" altLang="en-US" sz="3200" dirty="0">
                <a:solidFill>
                  <a:schemeClr val="accent1"/>
                </a:solidFill>
              </a:rPr>
              <a:t>risk of bias</a:t>
            </a:r>
            <a:endParaRPr lang="hr-HR" altLang="en-US" sz="3200" dirty="0">
              <a:solidFill>
                <a:schemeClr val="accent1"/>
              </a:solidFill>
            </a:endParaRPr>
          </a:p>
          <a:p>
            <a:pPr lvl="1">
              <a:spcBef>
                <a:spcPts val="1600"/>
              </a:spcBef>
            </a:pPr>
            <a:r>
              <a:rPr lang="en-US" altLang="en-US" sz="3200" dirty="0">
                <a:solidFill>
                  <a:schemeClr val="accent1"/>
                </a:solidFill>
              </a:rPr>
              <a:t>imprecision</a:t>
            </a:r>
          </a:p>
          <a:p>
            <a:pPr lvl="1" eaLnBrk="1" hangingPunct="1">
              <a:spcBef>
                <a:spcPts val="1600"/>
              </a:spcBef>
            </a:pPr>
            <a:r>
              <a:rPr lang="hr-HR" altLang="en-US" sz="3200" dirty="0" err="1">
                <a:solidFill>
                  <a:schemeClr val="accent1"/>
                </a:solidFill>
              </a:rPr>
              <a:t>inconsistency</a:t>
            </a:r>
            <a:endParaRPr lang="en-US" altLang="en-US" sz="3200" dirty="0">
              <a:solidFill>
                <a:schemeClr val="accent1"/>
              </a:solidFill>
            </a:endParaRPr>
          </a:p>
          <a:p>
            <a:pPr lvl="1" eaLnBrk="1" hangingPunct="1">
              <a:spcBef>
                <a:spcPts val="1600"/>
              </a:spcBef>
            </a:pPr>
            <a:r>
              <a:rPr lang="hr-HR" altLang="en-US" sz="3200" dirty="0" err="1">
                <a:solidFill>
                  <a:schemeClr val="accent1"/>
                </a:solidFill>
              </a:rPr>
              <a:t>indirectness</a:t>
            </a:r>
            <a:endParaRPr lang="hr-HR" altLang="en-US" sz="3200" dirty="0">
              <a:solidFill>
                <a:schemeClr val="accent1"/>
              </a:solidFill>
            </a:endParaRPr>
          </a:p>
          <a:p>
            <a:pPr lvl="1" eaLnBrk="1" hangingPunct="1">
              <a:spcBef>
                <a:spcPts val="1600"/>
              </a:spcBef>
            </a:pPr>
            <a:r>
              <a:rPr lang="en-US" altLang="en-US" sz="3200" dirty="0">
                <a:solidFill>
                  <a:schemeClr val="accent1"/>
                </a:solidFill>
              </a:rPr>
              <a:t>publication bias</a:t>
            </a:r>
          </a:p>
        </p:txBody>
      </p:sp>
      <p:sp>
        <p:nvSpPr>
          <p:cNvPr id="2" name="TextBox 1"/>
          <p:cNvSpPr txBox="1"/>
          <p:nvPr/>
        </p:nvSpPr>
        <p:spPr>
          <a:xfrm>
            <a:off x="7877611" y="1266865"/>
            <a:ext cx="3510044" cy="3539430"/>
          </a:xfrm>
          <a:prstGeom prst="rect">
            <a:avLst/>
          </a:prstGeom>
          <a:noFill/>
        </p:spPr>
        <p:txBody>
          <a:bodyPr wrap="square" rtlCol="0">
            <a:spAutoFit/>
          </a:bodyPr>
          <a:lstStyle/>
          <a:p>
            <a:r>
              <a:rPr lang="hr-HR" sz="3200" b="1" dirty="0">
                <a:solidFill>
                  <a:srgbClr val="0070C0"/>
                </a:solidFill>
                <a:latin typeface=""/>
              </a:rPr>
              <a:t>4 – </a:t>
            </a:r>
            <a:r>
              <a:rPr lang="hr-HR" sz="3200" b="1" dirty="0" err="1">
                <a:solidFill>
                  <a:srgbClr val="0070C0"/>
                </a:solidFill>
                <a:latin typeface=""/>
              </a:rPr>
              <a:t>high</a:t>
            </a:r>
            <a:r>
              <a:rPr lang="hr-HR" sz="3200" b="1" dirty="0">
                <a:solidFill>
                  <a:srgbClr val="0070C0"/>
                </a:solidFill>
                <a:latin typeface=""/>
              </a:rPr>
              <a:t>  </a:t>
            </a:r>
            <a:r>
              <a:rPr lang="hr-HR" sz="3200" b="1" dirty="0">
                <a:solidFill>
                  <a:schemeClr val="tx2"/>
                </a:solidFill>
                <a:latin typeface=""/>
              </a:rPr>
              <a:t>(RCT)</a:t>
            </a:r>
          </a:p>
          <a:p>
            <a:endParaRPr lang="hr-HR" sz="3200" b="1" dirty="0">
              <a:solidFill>
                <a:srgbClr val="0070C0"/>
              </a:solidFill>
              <a:latin typeface=""/>
            </a:endParaRPr>
          </a:p>
          <a:p>
            <a:r>
              <a:rPr lang="hr-HR" sz="3200" b="1" dirty="0">
                <a:solidFill>
                  <a:srgbClr val="0070C0"/>
                </a:solidFill>
                <a:latin typeface=""/>
              </a:rPr>
              <a:t>3 – </a:t>
            </a:r>
            <a:r>
              <a:rPr lang="hr-HR" sz="3200" b="1" dirty="0" err="1">
                <a:solidFill>
                  <a:srgbClr val="0070C0"/>
                </a:solidFill>
                <a:latin typeface=""/>
              </a:rPr>
              <a:t>moderate</a:t>
            </a:r>
            <a:endParaRPr lang="hr-HR" sz="3200" b="1" dirty="0">
              <a:solidFill>
                <a:srgbClr val="0070C0"/>
              </a:solidFill>
              <a:latin typeface=""/>
            </a:endParaRPr>
          </a:p>
          <a:p>
            <a:endParaRPr lang="hr-HR" sz="3200" b="1" dirty="0">
              <a:solidFill>
                <a:srgbClr val="0070C0"/>
              </a:solidFill>
              <a:latin typeface=""/>
            </a:endParaRPr>
          </a:p>
          <a:p>
            <a:r>
              <a:rPr lang="hr-HR" sz="3200" b="1" dirty="0">
                <a:solidFill>
                  <a:srgbClr val="0070C0"/>
                </a:solidFill>
                <a:latin typeface=""/>
              </a:rPr>
              <a:t>2 – </a:t>
            </a:r>
            <a:r>
              <a:rPr lang="hr-HR" sz="3200" b="1" dirty="0" err="1">
                <a:solidFill>
                  <a:srgbClr val="0070C0"/>
                </a:solidFill>
                <a:latin typeface=""/>
              </a:rPr>
              <a:t>low</a:t>
            </a:r>
            <a:endParaRPr lang="hr-HR" sz="3200" b="1" dirty="0">
              <a:solidFill>
                <a:srgbClr val="0070C0"/>
              </a:solidFill>
              <a:latin typeface=""/>
            </a:endParaRPr>
          </a:p>
          <a:p>
            <a:endParaRPr lang="hr-HR" sz="3200" b="1" dirty="0">
              <a:solidFill>
                <a:srgbClr val="0070C0"/>
              </a:solidFill>
              <a:latin typeface=""/>
            </a:endParaRPr>
          </a:p>
          <a:p>
            <a:r>
              <a:rPr lang="hr-HR" sz="3200" b="1" dirty="0">
                <a:solidFill>
                  <a:srgbClr val="0070C0"/>
                </a:solidFill>
                <a:latin typeface=""/>
              </a:rPr>
              <a:t>1 – </a:t>
            </a:r>
            <a:r>
              <a:rPr lang="hr-HR" sz="3200" b="1" dirty="0" err="1">
                <a:solidFill>
                  <a:srgbClr val="0070C0"/>
                </a:solidFill>
                <a:latin typeface=""/>
              </a:rPr>
              <a:t>very</a:t>
            </a:r>
            <a:r>
              <a:rPr lang="hr-HR" sz="3200" b="1" dirty="0">
                <a:solidFill>
                  <a:srgbClr val="0070C0"/>
                </a:solidFill>
                <a:latin typeface=""/>
              </a:rPr>
              <a:t> </a:t>
            </a:r>
            <a:r>
              <a:rPr lang="hr-HR" sz="3200" b="1" dirty="0" err="1">
                <a:solidFill>
                  <a:srgbClr val="0070C0"/>
                </a:solidFill>
                <a:latin typeface=""/>
              </a:rPr>
              <a:t>low</a:t>
            </a:r>
            <a:endParaRPr lang="hr-HR" sz="3200" b="1" dirty="0">
              <a:solidFill>
                <a:srgbClr val="0070C0"/>
              </a:solidFill>
              <a:latin typeface=""/>
            </a:endParaRPr>
          </a:p>
        </p:txBody>
      </p:sp>
      <p:sp>
        <p:nvSpPr>
          <p:cNvPr id="7" name="Down Arrow 6"/>
          <p:cNvSpPr/>
          <p:nvPr/>
        </p:nvSpPr>
        <p:spPr>
          <a:xfrm>
            <a:off x="6487672" y="1353940"/>
            <a:ext cx="452122" cy="3408217"/>
          </a:xfrm>
          <a:prstGeom prst="downArrow">
            <a:avLst>
              <a:gd name="adj1" fmla="val 46666"/>
              <a:gd name="adj2" fmla="val 50000"/>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5" name="TextBox 4">
            <a:extLst>
              <a:ext uri="{FF2B5EF4-FFF2-40B4-BE49-F238E27FC236}">
                <a16:creationId xmlns:a16="http://schemas.microsoft.com/office/drawing/2014/main" id="{75A7194D-18A9-A07F-33DF-A4F35A245EC8}"/>
              </a:ext>
            </a:extLst>
          </p:cNvPr>
          <p:cNvSpPr txBox="1"/>
          <p:nvPr/>
        </p:nvSpPr>
        <p:spPr>
          <a:xfrm>
            <a:off x="491373" y="4817899"/>
            <a:ext cx="7221392" cy="1716432"/>
          </a:xfrm>
          <a:prstGeom prst="rect">
            <a:avLst/>
          </a:prstGeom>
          <a:noFill/>
        </p:spPr>
        <p:txBody>
          <a:bodyPr wrap="square">
            <a:spAutoFit/>
          </a:bodyPr>
          <a:lstStyle/>
          <a:p>
            <a:pPr marL="285750" indent="-285750" algn="l" rtl="0" fontAlgn="base">
              <a:lnSpc>
                <a:spcPts val="3225"/>
              </a:lnSpc>
              <a:buFont typeface="Arial" panose="020B0604020202020204" pitchFamily="34" charset="0"/>
              <a:buChar char="•"/>
            </a:pPr>
            <a:r>
              <a:rPr lang="hr-HR" sz="2400" b="0" i="0" u="none" strike="noStrike" dirty="0">
                <a:solidFill>
                  <a:srgbClr val="002D64"/>
                </a:solidFill>
                <a:effectLst/>
                <a:latin typeface="Aptos" panose="020B0004020202020204" pitchFamily="34" charset="0"/>
              </a:rPr>
              <a:t>rating </a:t>
            </a:r>
            <a:r>
              <a:rPr lang="hr-HR" sz="2400" b="0" i="0" u="none" strike="noStrike" dirty="0" err="1">
                <a:solidFill>
                  <a:srgbClr val="002D64"/>
                </a:solidFill>
                <a:effectLst/>
                <a:latin typeface="Aptos" panose="020B0004020202020204" pitchFamily="34" charset="0"/>
              </a:rPr>
              <a:t>down</a:t>
            </a:r>
            <a:r>
              <a:rPr lang="hr-HR" sz="2400" b="0" i="0" u="none" strike="noStrike" dirty="0">
                <a:solidFill>
                  <a:srgbClr val="002D64"/>
                </a:solidFill>
                <a:effectLst/>
                <a:latin typeface="Aptos" panose="020B0004020202020204" pitchFamily="34" charset="0"/>
              </a:rPr>
              <a:t> 1 </a:t>
            </a:r>
            <a:r>
              <a:rPr lang="hr-HR" sz="2400" b="0" i="0" u="none" strike="noStrike" dirty="0" err="1">
                <a:solidFill>
                  <a:srgbClr val="002D64"/>
                </a:solidFill>
                <a:effectLst/>
                <a:latin typeface="Aptos" panose="020B0004020202020204" pitchFamily="34" charset="0"/>
              </a:rPr>
              <a:t>level</a:t>
            </a:r>
            <a:r>
              <a:rPr lang="hr-HR" sz="2400" b="0" i="0" u="none" strike="noStrike" dirty="0">
                <a:solidFill>
                  <a:srgbClr val="002D64"/>
                </a:solidFill>
                <a:effectLst/>
                <a:latin typeface="Aptos" panose="020B0004020202020204" pitchFamily="34" charset="0"/>
              </a:rPr>
              <a:t> for </a:t>
            </a:r>
            <a:r>
              <a:rPr lang="hr-HR" sz="2400" b="0" i="0" u="none" strike="noStrike" dirty="0" err="1">
                <a:solidFill>
                  <a:srgbClr val="002D64"/>
                </a:solidFill>
                <a:effectLst/>
                <a:latin typeface="Aptos" panose="020B0004020202020204" pitchFamily="34" charset="0"/>
              </a:rPr>
              <a:t>serious</a:t>
            </a:r>
            <a:r>
              <a:rPr lang="hr-HR" sz="2400" b="0" i="0" u="none" strike="noStrike" dirty="0">
                <a:solidFill>
                  <a:srgbClr val="002D64"/>
                </a:solidFill>
                <a:effectLst/>
                <a:latin typeface="Aptos" panose="020B0004020202020204" pitchFamily="34" charset="0"/>
              </a:rPr>
              <a:t> </a:t>
            </a:r>
            <a:r>
              <a:rPr lang="hr-HR" sz="2400" b="0" i="0" u="none" strike="noStrike" dirty="0" err="1">
                <a:solidFill>
                  <a:srgbClr val="002D64"/>
                </a:solidFill>
                <a:effectLst/>
                <a:latin typeface="Aptos" panose="020B0004020202020204" pitchFamily="34" charset="0"/>
              </a:rPr>
              <a:t>concerns</a:t>
            </a:r>
            <a:r>
              <a:rPr lang="hr-HR" sz="2400" b="0" i="0" dirty="0">
                <a:solidFill>
                  <a:srgbClr val="000000"/>
                </a:solidFill>
                <a:effectLst/>
                <a:latin typeface="Aptos" panose="020B0004020202020204" pitchFamily="34" charset="0"/>
              </a:rPr>
              <a:t>​</a:t>
            </a:r>
          </a:p>
          <a:p>
            <a:pPr marL="285750" indent="-285750" algn="l" rtl="0" fontAlgn="base">
              <a:lnSpc>
                <a:spcPts val="3225"/>
              </a:lnSpc>
              <a:buFont typeface="Arial" panose="020B0604020202020204" pitchFamily="34" charset="0"/>
              <a:buChar char="•"/>
            </a:pPr>
            <a:r>
              <a:rPr lang="hr-HR" sz="2400" b="0" i="0" u="none" strike="noStrike" dirty="0">
                <a:solidFill>
                  <a:srgbClr val="002D64"/>
                </a:solidFill>
                <a:effectLst/>
                <a:latin typeface="Aptos" panose="020B0004020202020204" pitchFamily="34" charset="0"/>
              </a:rPr>
              <a:t>rating </a:t>
            </a:r>
            <a:r>
              <a:rPr lang="hr-HR" sz="2400" b="0" i="0" u="none" strike="noStrike" dirty="0" err="1">
                <a:solidFill>
                  <a:srgbClr val="002D64"/>
                </a:solidFill>
                <a:effectLst/>
                <a:latin typeface="Aptos" panose="020B0004020202020204" pitchFamily="34" charset="0"/>
              </a:rPr>
              <a:t>down</a:t>
            </a:r>
            <a:r>
              <a:rPr lang="hr-HR" sz="2400" b="0" i="0" u="none" strike="noStrike" dirty="0">
                <a:solidFill>
                  <a:srgbClr val="002D64"/>
                </a:solidFill>
                <a:effectLst/>
                <a:latin typeface="Aptos" panose="020B0004020202020204" pitchFamily="34" charset="0"/>
              </a:rPr>
              <a:t> 2 </a:t>
            </a:r>
            <a:r>
              <a:rPr lang="hr-HR" sz="2400" b="0" i="0" u="none" strike="noStrike" dirty="0" err="1">
                <a:solidFill>
                  <a:srgbClr val="002D64"/>
                </a:solidFill>
                <a:effectLst/>
                <a:latin typeface="Aptos" panose="020B0004020202020204" pitchFamily="34" charset="0"/>
              </a:rPr>
              <a:t>levels</a:t>
            </a:r>
            <a:r>
              <a:rPr lang="hr-HR" sz="2400" b="0" i="0" u="none" strike="noStrike" dirty="0">
                <a:solidFill>
                  <a:srgbClr val="002D64"/>
                </a:solidFill>
                <a:effectLst/>
                <a:latin typeface="Aptos" panose="020B0004020202020204" pitchFamily="34" charset="0"/>
              </a:rPr>
              <a:t> for </a:t>
            </a:r>
            <a:r>
              <a:rPr lang="hr-HR" sz="2400" b="0" i="0" u="none" strike="noStrike" dirty="0" err="1">
                <a:solidFill>
                  <a:srgbClr val="002D64"/>
                </a:solidFill>
                <a:effectLst/>
                <a:latin typeface="Aptos" panose="020B0004020202020204" pitchFamily="34" charset="0"/>
              </a:rPr>
              <a:t>very</a:t>
            </a:r>
            <a:r>
              <a:rPr lang="hr-HR" sz="2400" b="0" i="0" u="none" strike="noStrike" dirty="0">
                <a:solidFill>
                  <a:srgbClr val="002D64"/>
                </a:solidFill>
                <a:effectLst/>
                <a:latin typeface="Aptos" panose="020B0004020202020204" pitchFamily="34" charset="0"/>
              </a:rPr>
              <a:t> </a:t>
            </a:r>
            <a:r>
              <a:rPr lang="hr-HR" sz="2400" b="0" i="0" u="none" strike="noStrike" dirty="0" err="1">
                <a:solidFill>
                  <a:srgbClr val="002D64"/>
                </a:solidFill>
                <a:effectLst/>
                <a:latin typeface="Aptos" panose="020B0004020202020204" pitchFamily="34" charset="0"/>
              </a:rPr>
              <a:t>serious</a:t>
            </a:r>
            <a:r>
              <a:rPr lang="hr-HR" sz="2400" b="0" i="0" u="none" strike="noStrike" dirty="0">
                <a:solidFill>
                  <a:srgbClr val="002D64"/>
                </a:solidFill>
                <a:effectLst/>
                <a:latin typeface="Aptos" panose="020B0004020202020204" pitchFamily="34" charset="0"/>
              </a:rPr>
              <a:t> </a:t>
            </a:r>
            <a:r>
              <a:rPr lang="hr-HR" sz="2400" b="0" i="0" u="none" strike="noStrike" dirty="0" err="1">
                <a:solidFill>
                  <a:srgbClr val="002D64"/>
                </a:solidFill>
                <a:effectLst/>
                <a:latin typeface="Aptos" panose="020B0004020202020204" pitchFamily="34" charset="0"/>
              </a:rPr>
              <a:t>concerns</a:t>
            </a:r>
            <a:r>
              <a:rPr lang="hr-HR" sz="2400" b="0" i="0" dirty="0">
                <a:solidFill>
                  <a:srgbClr val="000000"/>
                </a:solidFill>
                <a:effectLst/>
                <a:latin typeface="Aptos" panose="020B0004020202020204" pitchFamily="34" charset="0"/>
              </a:rPr>
              <a:t>​</a:t>
            </a:r>
          </a:p>
          <a:p>
            <a:pPr marL="285750" indent="-285750" algn="l" rtl="0" fontAlgn="base">
              <a:lnSpc>
                <a:spcPts val="3225"/>
              </a:lnSpc>
              <a:buFont typeface="Arial" panose="020B0604020202020204" pitchFamily="34" charset="0"/>
              <a:buChar char="•"/>
            </a:pPr>
            <a:r>
              <a:rPr lang="hr-HR" sz="2400" b="0" i="0" u="none" strike="noStrike" dirty="0">
                <a:solidFill>
                  <a:srgbClr val="002D64"/>
                </a:solidFill>
                <a:effectLst/>
                <a:latin typeface="Aptos" panose="020B0004020202020204" pitchFamily="34" charset="0"/>
              </a:rPr>
              <a:t>some (</a:t>
            </a:r>
            <a:r>
              <a:rPr lang="hr-HR" sz="2400" b="0" i="0" u="none" strike="noStrike" dirty="0" err="1">
                <a:solidFill>
                  <a:srgbClr val="002D64"/>
                </a:solidFill>
                <a:effectLst/>
                <a:latin typeface="Aptos" panose="020B0004020202020204" pitchFamily="34" charset="0"/>
              </a:rPr>
              <a:t>minor</a:t>
            </a:r>
            <a:r>
              <a:rPr lang="hr-HR" sz="2400" b="0" i="0" u="none" strike="noStrike" dirty="0">
                <a:solidFill>
                  <a:srgbClr val="002D64"/>
                </a:solidFill>
                <a:effectLst/>
                <a:latin typeface="Aptos" panose="020B0004020202020204" pitchFamily="34" charset="0"/>
              </a:rPr>
              <a:t>) </a:t>
            </a:r>
            <a:r>
              <a:rPr lang="hr-HR" sz="2400" b="0" i="0" u="none" strike="noStrike" dirty="0" err="1">
                <a:solidFill>
                  <a:srgbClr val="002D64"/>
                </a:solidFill>
                <a:effectLst/>
                <a:latin typeface="Aptos" panose="020B0004020202020204" pitchFamily="34" charset="0"/>
              </a:rPr>
              <a:t>concerns</a:t>
            </a:r>
            <a:r>
              <a:rPr lang="hr-HR" sz="2400" b="0" i="0" u="none" strike="noStrike" dirty="0">
                <a:solidFill>
                  <a:srgbClr val="002D64"/>
                </a:solidFill>
                <a:effectLst/>
                <a:latin typeface="Aptos" panose="020B0004020202020204" pitchFamily="34" charset="0"/>
              </a:rPr>
              <a:t> on more </a:t>
            </a:r>
            <a:r>
              <a:rPr lang="hr-HR" sz="2400" b="0" i="0" u="none" strike="noStrike" dirty="0" err="1">
                <a:solidFill>
                  <a:srgbClr val="002D64"/>
                </a:solidFill>
                <a:effectLst/>
                <a:latin typeface="Aptos" panose="020B0004020202020204" pitchFamily="34" charset="0"/>
              </a:rPr>
              <a:t>than</a:t>
            </a:r>
            <a:r>
              <a:rPr lang="hr-HR" sz="2400" b="0" i="0" u="none" strike="noStrike" dirty="0">
                <a:solidFill>
                  <a:srgbClr val="002D64"/>
                </a:solidFill>
                <a:effectLst/>
                <a:latin typeface="Aptos" panose="020B0004020202020204" pitchFamily="34" charset="0"/>
              </a:rPr>
              <a:t> one </a:t>
            </a:r>
            <a:r>
              <a:rPr lang="hr-HR" sz="2400" b="0" i="0" u="none" strike="noStrike" dirty="0" err="1">
                <a:solidFill>
                  <a:srgbClr val="002D64"/>
                </a:solidFill>
                <a:effectLst/>
                <a:latin typeface="Aptos" panose="020B0004020202020204" pitchFamily="34" charset="0"/>
              </a:rPr>
              <a:t>domain</a:t>
            </a:r>
            <a:r>
              <a:rPr lang="hr-HR" sz="2400" b="0" i="0" u="none" strike="noStrike" dirty="0">
                <a:solidFill>
                  <a:srgbClr val="002D64"/>
                </a:solidFill>
                <a:effectLst/>
                <a:latin typeface="Aptos" panose="020B0004020202020204" pitchFamily="34" charset="0"/>
              </a:rPr>
              <a:t> </a:t>
            </a:r>
            <a:r>
              <a:rPr lang="hr-HR" sz="2400" b="0" i="0" u="none" strike="noStrike" dirty="0" err="1">
                <a:solidFill>
                  <a:srgbClr val="002D64"/>
                </a:solidFill>
                <a:effectLst/>
                <a:latin typeface="Aptos" panose="020B0004020202020204" pitchFamily="34" charset="0"/>
              </a:rPr>
              <a:t>can</a:t>
            </a:r>
            <a:r>
              <a:rPr lang="hr-HR" sz="2400" b="0" i="0" u="none" strike="noStrike" dirty="0">
                <a:solidFill>
                  <a:srgbClr val="002D64"/>
                </a:solidFill>
                <a:effectLst/>
                <a:latin typeface="Aptos" panose="020B0004020202020204" pitchFamily="34" charset="0"/>
              </a:rPr>
              <a:t> </a:t>
            </a:r>
            <a:r>
              <a:rPr lang="hr-HR" sz="2400" b="0" i="0" u="none" strike="noStrike" dirty="0" err="1">
                <a:solidFill>
                  <a:srgbClr val="002D64"/>
                </a:solidFill>
                <a:effectLst/>
                <a:latin typeface="Aptos" panose="020B0004020202020204" pitchFamily="34" charset="0"/>
              </a:rPr>
              <a:t>amount</a:t>
            </a:r>
            <a:r>
              <a:rPr lang="hr-HR" sz="2400" b="0" i="0" u="none" strike="noStrike" dirty="0">
                <a:solidFill>
                  <a:srgbClr val="002D64"/>
                </a:solidFill>
                <a:effectLst/>
                <a:latin typeface="Aptos" panose="020B0004020202020204" pitchFamily="34" charset="0"/>
              </a:rPr>
              <a:t> to one </a:t>
            </a:r>
            <a:r>
              <a:rPr lang="hr-HR" sz="2400" b="0" i="0" u="none" strike="noStrike" dirty="0" err="1">
                <a:solidFill>
                  <a:srgbClr val="002D64"/>
                </a:solidFill>
                <a:effectLst/>
                <a:latin typeface="Aptos" panose="020B0004020202020204" pitchFamily="34" charset="0"/>
              </a:rPr>
              <a:t>full</a:t>
            </a:r>
            <a:r>
              <a:rPr lang="hr-HR" sz="2400" b="0" i="0" u="none" strike="noStrike" dirty="0">
                <a:solidFill>
                  <a:srgbClr val="002D64"/>
                </a:solidFill>
                <a:effectLst/>
                <a:latin typeface="Aptos" panose="020B0004020202020204" pitchFamily="34" charset="0"/>
              </a:rPr>
              <a:t> </a:t>
            </a:r>
            <a:r>
              <a:rPr lang="hr-HR" sz="2400" b="0" i="0" u="none" strike="noStrike" dirty="0" err="1">
                <a:solidFill>
                  <a:srgbClr val="002D64"/>
                </a:solidFill>
                <a:effectLst/>
                <a:latin typeface="Aptos" panose="020B0004020202020204" pitchFamily="34" charset="0"/>
              </a:rPr>
              <a:t>level</a:t>
            </a:r>
            <a:r>
              <a:rPr lang="hr-HR" sz="2400" b="0" i="0" u="none" strike="noStrike" dirty="0">
                <a:solidFill>
                  <a:srgbClr val="002D64"/>
                </a:solidFill>
                <a:effectLst/>
                <a:latin typeface="Aptos" panose="020B0004020202020204" pitchFamily="34" charset="0"/>
              </a:rPr>
              <a:t> </a:t>
            </a:r>
            <a:r>
              <a:rPr lang="hr-HR" sz="2400" b="0" i="0" u="none" strike="noStrike" dirty="0" err="1">
                <a:solidFill>
                  <a:srgbClr val="002D64"/>
                </a:solidFill>
                <a:effectLst/>
                <a:latin typeface="Aptos" panose="020B0004020202020204" pitchFamily="34" charset="0"/>
              </a:rPr>
              <a:t>rated</a:t>
            </a:r>
            <a:r>
              <a:rPr lang="hr-HR" sz="2400" b="0" i="0" u="none" strike="noStrike" dirty="0">
                <a:solidFill>
                  <a:srgbClr val="002D64"/>
                </a:solidFill>
                <a:effectLst/>
                <a:latin typeface="Aptos" panose="020B0004020202020204" pitchFamily="34" charset="0"/>
              </a:rPr>
              <a:t> </a:t>
            </a:r>
            <a:r>
              <a:rPr lang="hr-HR" sz="2400" b="0" i="0" u="none" strike="noStrike" dirty="0" err="1">
                <a:solidFill>
                  <a:srgbClr val="002D64"/>
                </a:solidFill>
                <a:effectLst/>
                <a:latin typeface="Aptos" panose="020B0004020202020204" pitchFamily="34" charset="0"/>
              </a:rPr>
              <a:t>down</a:t>
            </a:r>
            <a:endParaRPr lang="hr-HR" sz="2400" b="0" i="0" dirty="0">
              <a:solidFill>
                <a:srgbClr val="000000"/>
              </a:solidFill>
              <a:effectLst/>
              <a:latin typeface="Aptos" panose="020B0004020202020204" pitchFamily="34" charset="0"/>
            </a:endParaRPr>
          </a:p>
        </p:txBody>
      </p:sp>
    </p:spTree>
    <p:extLst>
      <p:ext uri="{BB962C8B-B14F-4D97-AF65-F5344CB8AC3E}">
        <p14:creationId xmlns:p14="http://schemas.microsoft.com/office/powerpoint/2010/main" val="23178956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9F277-CD52-6D24-EDF3-F6444C976305}"/>
              </a:ext>
            </a:extLst>
          </p:cNvPr>
          <p:cNvSpPr>
            <a:spLocks noGrp="1"/>
          </p:cNvSpPr>
          <p:nvPr>
            <p:ph type="title"/>
          </p:nvPr>
        </p:nvSpPr>
        <p:spPr/>
        <p:txBody>
          <a:bodyPr>
            <a:normAutofit/>
          </a:bodyPr>
          <a:lstStyle/>
          <a:p>
            <a:r>
              <a:rPr lang="en-US" sz="3600" dirty="0"/>
              <a:t>Indirect comparison</a:t>
            </a:r>
          </a:p>
        </p:txBody>
      </p:sp>
      <p:pic>
        <p:nvPicPr>
          <p:cNvPr id="2050" name="Picture 2" descr="Simple tool implementing Bucher's method for indirect treatment comparisons  in meta-analyses | BMJ Evidence-Based Medicine">
            <a:extLst>
              <a:ext uri="{FF2B5EF4-FFF2-40B4-BE49-F238E27FC236}">
                <a16:creationId xmlns:a16="http://schemas.microsoft.com/office/drawing/2014/main" id="{B6056B2C-4652-8F59-22E0-76AFDD4636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2723" y="1532432"/>
            <a:ext cx="6266553" cy="49445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6CB7A602-2EE8-A955-647D-E8BE5EB7BE10}"/>
              </a:ext>
            </a:extLst>
          </p:cNvPr>
          <p:cNvSpPr txBox="1"/>
          <p:nvPr/>
        </p:nvSpPr>
        <p:spPr>
          <a:xfrm>
            <a:off x="3419923" y="3357342"/>
            <a:ext cx="1578189" cy="646331"/>
          </a:xfrm>
          <a:prstGeom prst="rect">
            <a:avLst/>
          </a:prstGeom>
          <a:noFill/>
        </p:spPr>
        <p:txBody>
          <a:bodyPr wrap="none" rtlCol="0">
            <a:spAutoFit/>
          </a:bodyPr>
          <a:lstStyle/>
          <a:p>
            <a:r>
              <a:rPr lang="en-US" sz="3600" dirty="0">
                <a:solidFill>
                  <a:schemeClr val="tx2"/>
                </a:solidFill>
                <a:latin typeface="+mj-lt"/>
              </a:rPr>
              <a:t>Trial 1 </a:t>
            </a:r>
          </a:p>
        </p:txBody>
      </p:sp>
      <p:sp>
        <p:nvSpPr>
          <p:cNvPr id="5" name="TextBox 4">
            <a:extLst>
              <a:ext uri="{FF2B5EF4-FFF2-40B4-BE49-F238E27FC236}">
                <a16:creationId xmlns:a16="http://schemas.microsoft.com/office/drawing/2014/main" id="{63EA9F77-29C1-9542-AB55-7CCC9E5C4711}"/>
              </a:ext>
            </a:extLst>
          </p:cNvPr>
          <p:cNvSpPr txBox="1"/>
          <p:nvPr/>
        </p:nvSpPr>
        <p:spPr>
          <a:xfrm>
            <a:off x="7193890" y="3355258"/>
            <a:ext cx="1578189" cy="646331"/>
          </a:xfrm>
          <a:prstGeom prst="rect">
            <a:avLst/>
          </a:prstGeom>
          <a:noFill/>
        </p:spPr>
        <p:txBody>
          <a:bodyPr wrap="none" rtlCol="0">
            <a:spAutoFit/>
          </a:bodyPr>
          <a:lstStyle/>
          <a:p>
            <a:r>
              <a:rPr lang="en-US" sz="3600" dirty="0">
                <a:solidFill>
                  <a:schemeClr val="tx2"/>
                </a:solidFill>
                <a:latin typeface="+mj-lt"/>
              </a:rPr>
              <a:t>Trial 2 </a:t>
            </a:r>
          </a:p>
        </p:txBody>
      </p:sp>
    </p:spTree>
    <p:extLst>
      <p:ext uri="{BB962C8B-B14F-4D97-AF65-F5344CB8AC3E}">
        <p14:creationId xmlns:p14="http://schemas.microsoft.com/office/powerpoint/2010/main" val="9557132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343E3-793D-9321-9984-D81FD408714D}"/>
              </a:ext>
            </a:extLst>
          </p:cNvPr>
          <p:cNvSpPr>
            <a:spLocks noGrp="1"/>
          </p:cNvSpPr>
          <p:nvPr>
            <p:ph type="title"/>
          </p:nvPr>
        </p:nvSpPr>
        <p:spPr>
          <a:xfrm>
            <a:off x="6539121" y="1863005"/>
            <a:ext cx="4433679" cy="1565995"/>
          </a:xfrm>
        </p:spPr>
        <p:txBody>
          <a:bodyPr>
            <a:normAutofit/>
          </a:bodyPr>
          <a:lstStyle/>
          <a:p>
            <a:r>
              <a:rPr lang="en-US" sz="4000" dirty="0"/>
              <a:t>Publication bias: funnel plots</a:t>
            </a:r>
          </a:p>
        </p:txBody>
      </p:sp>
      <p:pic>
        <p:nvPicPr>
          <p:cNvPr id="3074" name="Picture 2" descr="Publication Bias: A Brief Review for Clinicians - Mayo Clinic Proceedings">
            <a:extLst>
              <a:ext uri="{FF2B5EF4-FFF2-40B4-BE49-F238E27FC236}">
                <a16:creationId xmlns:a16="http://schemas.microsoft.com/office/drawing/2014/main" id="{9E3D7586-CB07-0145-5B3D-E5A932CC53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4181" y="255104"/>
            <a:ext cx="4838700" cy="63246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9746254-0318-B081-ED7B-B929C6B5B63D}"/>
              </a:ext>
            </a:extLst>
          </p:cNvPr>
          <p:cNvSpPr txBox="1"/>
          <p:nvPr/>
        </p:nvSpPr>
        <p:spPr>
          <a:xfrm>
            <a:off x="5862857" y="6112268"/>
            <a:ext cx="6102626" cy="467436"/>
          </a:xfrm>
          <a:prstGeom prst="rect">
            <a:avLst/>
          </a:prstGeom>
          <a:noFill/>
        </p:spPr>
        <p:txBody>
          <a:bodyPr wrap="square">
            <a:spAutoFit/>
          </a:bodyPr>
          <a:lstStyle/>
          <a:p>
            <a:pPr>
              <a:lnSpc>
                <a:spcPts val="1350"/>
              </a:lnSpc>
            </a:pPr>
            <a:r>
              <a:rPr lang="en-US" sz="1400" dirty="0">
                <a:solidFill>
                  <a:srgbClr val="333333"/>
                </a:solidFill>
                <a:latin typeface="NexusSans"/>
              </a:rPr>
              <a:t>Montori, Victor M. et al. </a:t>
            </a:r>
            <a:r>
              <a:rPr lang="en-US" sz="1400" b="0" i="0" dirty="0">
                <a:solidFill>
                  <a:srgbClr val="333333"/>
                </a:solidFill>
                <a:effectLst/>
                <a:latin typeface="Elsevier Sans"/>
              </a:rPr>
              <a:t>Publication Bias: A Brief Review for Clinicians. </a:t>
            </a:r>
            <a:r>
              <a:rPr lang="en-US" sz="1400" b="0" i="0" dirty="0">
                <a:solidFill>
                  <a:srgbClr val="333333"/>
                </a:solidFill>
                <a:effectLst/>
                <a:latin typeface="NexusSans"/>
              </a:rPr>
              <a:t>Mayo Clinic Proceedings 2000: 75, 1284 - 1288</a:t>
            </a:r>
          </a:p>
        </p:txBody>
      </p:sp>
    </p:spTree>
    <p:extLst>
      <p:ext uri="{BB962C8B-B14F-4D97-AF65-F5344CB8AC3E}">
        <p14:creationId xmlns:p14="http://schemas.microsoft.com/office/powerpoint/2010/main" val="37256143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C4CD9E3-9A8F-4B62-EEB2-E8E1CA7F3081}"/>
              </a:ext>
            </a:extLst>
          </p:cNvPr>
          <p:cNvSpPr>
            <a:spLocks noGrp="1"/>
          </p:cNvSpPr>
          <p:nvPr>
            <p:ph type="title"/>
          </p:nvPr>
        </p:nvSpPr>
        <p:spPr/>
        <p:txBody>
          <a:bodyPr/>
          <a:lstStyle/>
          <a:p>
            <a:r>
              <a:rPr lang="en-US" dirty="0"/>
              <a:t>Decision Analysis Model</a:t>
            </a:r>
          </a:p>
        </p:txBody>
      </p:sp>
      <p:sp>
        <p:nvSpPr>
          <p:cNvPr id="4" name="Content Placeholder 3">
            <a:extLst>
              <a:ext uri="{FF2B5EF4-FFF2-40B4-BE49-F238E27FC236}">
                <a16:creationId xmlns:a16="http://schemas.microsoft.com/office/drawing/2014/main" id="{F3827495-FEE2-79CE-A66F-AC3FD1481A46}"/>
              </a:ext>
            </a:extLst>
          </p:cNvPr>
          <p:cNvSpPr>
            <a:spLocks noGrp="1"/>
          </p:cNvSpPr>
          <p:nvPr>
            <p:ph idx="1"/>
          </p:nvPr>
        </p:nvSpPr>
        <p:spPr/>
        <p:txBody>
          <a:bodyPr>
            <a:normAutofit/>
          </a:bodyPr>
          <a:lstStyle/>
          <a:p>
            <a:pPr marL="342900" indent="-342900">
              <a:buFont typeface="Arial" panose="020B0604020202020204" pitchFamily="34" charset="0"/>
              <a:buChar char="•"/>
            </a:pPr>
            <a:r>
              <a:rPr lang="en-US" sz="2800" dirty="0"/>
              <a:t>Quantitative approach that uses mathematical modeling to aid in decision-making by providing probabilities of events under different scenarios</a:t>
            </a:r>
          </a:p>
          <a:p>
            <a:pPr marL="342900" indent="-342900">
              <a:buFont typeface="Arial" panose="020B0604020202020204" pitchFamily="34" charset="0"/>
              <a:buChar char="•"/>
            </a:pPr>
            <a:r>
              <a:rPr lang="en-US" sz="2800" dirty="0"/>
              <a:t>Often used in cost-effectiveness evaluations to establish value</a:t>
            </a:r>
          </a:p>
          <a:p>
            <a:pPr marL="512763" lvl="1" indent="-342900"/>
            <a:r>
              <a:rPr lang="en-US" sz="2400" b="0" dirty="0"/>
              <a:t>How much it costs to attain a certain outcome</a:t>
            </a:r>
          </a:p>
          <a:p>
            <a:pPr marL="457200" indent="-457200">
              <a:buFont typeface="Arial" panose="020B0604020202020204" pitchFamily="34" charset="0"/>
              <a:buChar char="•"/>
            </a:pPr>
            <a:r>
              <a:rPr lang="en-US" sz="2800" dirty="0"/>
              <a:t>Can use data from different sources</a:t>
            </a:r>
          </a:p>
          <a:p>
            <a:pPr marL="457200" indent="-457200">
              <a:buFont typeface="Arial" panose="020B0604020202020204" pitchFamily="34" charset="0"/>
              <a:buChar char="•"/>
            </a:pPr>
            <a:r>
              <a:rPr lang="en-US" sz="2800" dirty="0"/>
              <a:t>Different methodologies</a:t>
            </a:r>
          </a:p>
          <a:p>
            <a:pPr marL="627063" lvl="1" indent="-457200"/>
            <a:r>
              <a:rPr lang="en-US" sz="2400" dirty="0"/>
              <a:t>Simple model is a decision tree</a:t>
            </a:r>
          </a:p>
        </p:txBody>
      </p:sp>
    </p:spTree>
    <p:extLst>
      <p:ext uri="{BB962C8B-B14F-4D97-AF65-F5344CB8AC3E}">
        <p14:creationId xmlns:p14="http://schemas.microsoft.com/office/powerpoint/2010/main" val="4185431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F71390D-17F7-5DB7-3A24-B3BD6138122F}"/>
              </a:ext>
            </a:extLst>
          </p:cNvPr>
          <p:cNvSpPr txBox="1"/>
          <p:nvPr/>
        </p:nvSpPr>
        <p:spPr>
          <a:xfrm>
            <a:off x="6731475" y="4763161"/>
            <a:ext cx="4792204" cy="1169551"/>
          </a:xfrm>
          <a:prstGeom prst="rect">
            <a:avLst/>
          </a:prstGeom>
          <a:noFill/>
        </p:spPr>
        <p:txBody>
          <a:bodyPr wrap="square">
            <a:spAutoFit/>
          </a:bodyPr>
          <a:lstStyle/>
          <a:p>
            <a:r>
              <a:rPr lang="en-US" sz="1400" b="0" i="0" dirty="0" err="1">
                <a:solidFill>
                  <a:srgbClr val="212121"/>
                </a:solidFill>
                <a:effectLst/>
                <a:latin typeface="system-ui"/>
              </a:rPr>
              <a:t>Te</a:t>
            </a:r>
            <a:r>
              <a:rPr lang="en-US" sz="1400" b="0" i="0" dirty="0">
                <a:solidFill>
                  <a:srgbClr val="212121"/>
                </a:solidFill>
                <a:effectLst/>
                <a:latin typeface="system-ui"/>
              </a:rPr>
              <a:t> Ao BJ, Brown PM, Feigin VL, Anderson CS. </a:t>
            </a:r>
            <a:r>
              <a:rPr lang="en-US" sz="1400" b="1" i="0" dirty="0">
                <a:solidFill>
                  <a:schemeClr val="accent2"/>
                </a:solidFill>
                <a:effectLst/>
                <a:latin typeface="system-ui"/>
              </a:rPr>
              <a:t>Are stroke units cost effective? </a:t>
            </a:r>
            <a:r>
              <a:rPr lang="en-US" sz="1400" b="0" i="0" dirty="0">
                <a:solidFill>
                  <a:srgbClr val="212121"/>
                </a:solidFill>
                <a:effectLst/>
                <a:latin typeface="system-ui"/>
              </a:rPr>
              <a:t>Evidence from a New Zealand stroke incidence and population-based study. Int J Stroke. 2012 Dec;7(8):623-30. </a:t>
            </a:r>
            <a:r>
              <a:rPr lang="en-US" sz="1400" b="0" i="0" dirty="0" err="1">
                <a:solidFill>
                  <a:srgbClr val="212121"/>
                </a:solidFill>
                <a:effectLst/>
                <a:latin typeface="system-ui"/>
              </a:rPr>
              <a:t>doi</a:t>
            </a:r>
            <a:r>
              <a:rPr lang="en-US" sz="1400" b="0" i="0" dirty="0">
                <a:solidFill>
                  <a:srgbClr val="212121"/>
                </a:solidFill>
                <a:effectLst/>
                <a:latin typeface="system-ui"/>
              </a:rPr>
              <a:t>: 10.1111/j.1747-4949.2011.00632.x. </a:t>
            </a:r>
            <a:r>
              <a:rPr lang="en-US" sz="1400" b="0" i="0" dirty="0" err="1">
                <a:solidFill>
                  <a:srgbClr val="212121"/>
                </a:solidFill>
                <a:effectLst/>
                <a:latin typeface="system-ui"/>
              </a:rPr>
              <a:t>Epub</a:t>
            </a:r>
            <a:r>
              <a:rPr lang="en-US" sz="1400" b="0" i="0" dirty="0">
                <a:solidFill>
                  <a:srgbClr val="212121"/>
                </a:solidFill>
                <a:effectLst/>
                <a:latin typeface="system-ui"/>
              </a:rPr>
              <a:t> 2011 Oct 20. PMID: 22010968.</a:t>
            </a:r>
            <a:endParaRPr lang="en-US" sz="1400" dirty="0"/>
          </a:p>
        </p:txBody>
      </p:sp>
      <p:pic>
        <p:nvPicPr>
          <p:cNvPr id="7" name="Picture 6">
            <a:extLst>
              <a:ext uri="{FF2B5EF4-FFF2-40B4-BE49-F238E27FC236}">
                <a16:creationId xmlns:a16="http://schemas.microsoft.com/office/drawing/2014/main" id="{179A212A-AF5E-0AE9-FF50-410681E29DA6}"/>
              </a:ext>
            </a:extLst>
          </p:cNvPr>
          <p:cNvPicPr>
            <a:picLocks noChangeAspect="1"/>
          </p:cNvPicPr>
          <p:nvPr/>
        </p:nvPicPr>
        <p:blipFill>
          <a:blip r:embed="rId2"/>
          <a:stretch>
            <a:fillRect/>
          </a:stretch>
        </p:blipFill>
        <p:spPr>
          <a:xfrm>
            <a:off x="409904" y="77079"/>
            <a:ext cx="5686096" cy="6703841"/>
          </a:xfrm>
          <a:prstGeom prst="rect">
            <a:avLst/>
          </a:prstGeom>
        </p:spPr>
      </p:pic>
      <p:cxnSp>
        <p:nvCxnSpPr>
          <p:cNvPr id="9" name="Straight Arrow Connector 8">
            <a:extLst>
              <a:ext uri="{FF2B5EF4-FFF2-40B4-BE49-F238E27FC236}">
                <a16:creationId xmlns:a16="http://schemas.microsoft.com/office/drawing/2014/main" id="{B6E7266B-0453-51E0-37C7-AB65334C38B5}"/>
              </a:ext>
            </a:extLst>
          </p:cNvPr>
          <p:cNvCxnSpPr>
            <a:cxnSpLocks/>
          </p:cNvCxnSpPr>
          <p:nvPr/>
        </p:nvCxnSpPr>
        <p:spPr>
          <a:xfrm>
            <a:off x="1261241" y="2522483"/>
            <a:ext cx="756744" cy="1267608"/>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33E533D2-ED63-0D57-F22B-CEF290111376}"/>
              </a:ext>
            </a:extLst>
          </p:cNvPr>
          <p:cNvCxnSpPr>
            <a:cxnSpLocks/>
          </p:cNvCxnSpPr>
          <p:nvPr/>
        </p:nvCxnSpPr>
        <p:spPr>
          <a:xfrm>
            <a:off x="2350018" y="1209066"/>
            <a:ext cx="614855" cy="1035269"/>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E6518501-6FD5-FE65-16F5-9B18C48B67F2}"/>
              </a:ext>
            </a:extLst>
          </p:cNvPr>
          <p:cNvSpPr txBox="1"/>
          <p:nvPr/>
        </p:nvSpPr>
        <p:spPr>
          <a:xfrm>
            <a:off x="1406783" y="781551"/>
            <a:ext cx="1250663" cy="338554"/>
          </a:xfrm>
          <a:prstGeom prst="rect">
            <a:avLst/>
          </a:prstGeom>
          <a:noFill/>
          <a:ln>
            <a:solidFill>
              <a:schemeClr val="tx2"/>
            </a:solidFill>
          </a:ln>
        </p:spPr>
        <p:txBody>
          <a:bodyPr wrap="none" rtlCol="0">
            <a:spAutoFit/>
          </a:bodyPr>
          <a:lstStyle/>
          <a:p>
            <a:r>
              <a:rPr lang="en-US" sz="1600" dirty="0">
                <a:solidFill>
                  <a:schemeClr val="tx2"/>
                </a:solidFill>
              </a:rPr>
              <a:t>Chance node</a:t>
            </a:r>
          </a:p>
        </p:txBody>
      </p:sp>
      <p:sp>
        <p:nvSpPr>
          <p:cNvPr id="14" name="TextBox 13">
            <a:extLst>
              <a:ext uri="{FF2B5EF4-FFF2-40B4-BE49-F238E27FC236}">
                <a16:creationId xmlns:a16="http://schemas.microsoft.com/office/drawing/2014/main" id="{142D3E22-B8F8-31CA-2402-C4EBC466EC43}"/>
              </a:ext>
            </a:extLst>
          </p:cNvPr>
          <p:cNvSpPr txBox="1"/>
          <p:nvPr/>
        </p:nvSpPr>
        <p:spPr>
          <a:xfrm>
            <a:off x="218354" y="2016875"/>
            <a:ext cx="1366080" cy="338554"/>
          </a:xfrm>
          <a:prstGeom prst="rect">
            <a:avLst/>
          </a:prstGeom>
          <a:noFill/>
          <a:ln>
            <a:solidFill>
              <a:schemeClr val="tx2"/>
            </a:solidFill>
          </a:ln>
        </p:spPr>
        <p:txBody>
          <a:bodyPr wrap="none" rtlCol="0">
            <a:spAutoFit/>
          </a:bodyPr>
          <a:lstStyle/>
          <a:p>
            <a:r>
              <a:rPr lang="en-US" sz="1600" dirty="0">
                <a:solidFill>
                  <a:schemeClr val="tx2"/>
                </a:solidFill>
              </a:rPr>
              <a:t>Decision node</a:t>
            </a:r>
          </a:p>
        </p:txBody>
      </p:sp>
    </p:spTree>
    <p:extLst>
      <p:ext uri="{BB962C8B-B14F-4D97-AF65-F5344CB8AC3E}">
        <p14:creationId xmlns:p14="http://schemas.microsoft.com/office/powerpoint/2010/main" val="10660735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C5011-98BD-5C57-B148-E609B6AE0A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37F769-FC20-BF5E-03ED-82F347A74596}"/>
              </a:ext>
            </a:extLst>
          </p:cNvPr>
          <p:cNvSpPr>
            <a:spLocks noGrp="1"/>
          </p:cNvSpPr>
          <p:nvPr>
            <p:ph type="title"/>
          </p:nvPr>
        </p:nvSpPr>
        <p:spPr/>
        <p:txBody>
          <a:bodyPr>
            <a:normAutofit/>
          </a:bodyPr>
          <a:lstStyle/>
          <a:p>
            <a:r>
              <a:rPr lang="en-US" sz="4000" dirty="0"/>
              <a:t>Observational Studies</a:t>
            </a:r>
          </a:p>
        </p:txBody>
      </p:sp>
      <p:sp>
        <p:nvSpPr>
          <p:cNvPr id="3" name="Text Placeholder 2">
            <a:extLst>
              <a:ext uri="{FF2B5EF4-FFF2-40B4-BE49-F238E27FC236}">
                <a16:creationId xmlns:a16="http://schemas.microsoft.com/office/drawing/2014/main" id="{ED952E06-ECA5-91B9-57E1-23546935662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64869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71A2447-7DD7-4FEC-8C0C-8A354B6DE591}"/>
              </a:ext>
            </a:extLst>
          </p:cNvPr>
          <p:cNvSpPr>
            <a:spLocks noGrp="1"/>
          </p:cNvSpPr>
          <p:nvPr>
            <p:ph type="title"/>
          </p:nvPr>
        </p:nvSpPr>
        <p:spPr/>
        <p:txBody>
          <a:bodyPr/>
          <a:lstStyle/>
          <a:p>
            <a:r>
              <a:rPr lang="en-US" dirty="0"/>
              <a:t>Observational Studies vs Clinical Trials</a:t>
            </a:r>
          </a:p>
        </p:txBody>
      </p:sp>
      <p:sp>
        <p:nvSpPr>
          <p:cNvPr id="8" name="Content Placeholder 7">
            <a:extLst>
              <a:ext uri="{FF2B5EF4-FFF2-40B4-BE49-F238E27FC236}">
                <a16:creationId xmlns:a16="http://schemas.microsoft.com/office/drawing/2014/main" id="{5BA62D5E-A036-42CF-8B1A-E5FF1C71B0CD}"/>
              </a:ext>
            </a:extLst>
          </p:cNvPr>
          <p:cNvSpPr>
            <a:spLocks noGrp="1"/>
          </p:cNvSpPr>
          <p:nvPr>
            <p:ph idx="1"/>
          </p:nvPr>
        </p:nvSpPr>
        <p:spPr/>
        <p:txBody>
          <a:bodyPr>
            <a:normAutofit fontScale="92500" lnSpcReduction="10000"/>
          </a:bodyPr>
          <a:lstStyle/>
          <a:p>
            <a:r>
              <a:rPr lang="en-US" sz="2800" dirty="0">
                <a:solidFill>
                  <a:schemeClr val="accent2"/>
                </a:solidFill>
              </a:rPr>
              <a:t>Observational Studies</a:t>
            </a:r>
          </a:p>
          <a:p>
            <a:r>
              <a:rPr lang="en-US" sz="2600" b="0" dirty="0">
                <a:solidFill>
                  <a:schemeClr val="accent2"/>
                </a:solidFill>
              </a:rPr>
              <a:t>R</a:t>
            </a:r>
            <a:r>
              <a:rPr lang="en-US" sz="2600" b="0" i="0" dirty="0">
                <a:solidFill>
                  <a:schemeClr val="accent2"/>
                </a:solidFill>
                <a:effectLst/>
              </a:rPr>
              <a:t>esearch studies in which researchers collect information from participants or look at data that was already collected</a:t>
            </a:r>
          </a:p>
          <a:p>
            <a:pPr marL="342900" indent="-342900">
              <a:buFont typeface="Arial" panose="020B0604020202020204" pitchFamily="34" charset="0"/>
              <a:buChar char="•"/>
            </a:pPr>
            <a:r>
              <a:rPr lang="en-US" sz="2400" b="0" dirty="0"/>
              <a:t>Cross-sectional</a:t>
            </a:r>
          </a:p>
          <a:p>
            <a:pPr marL="342900" indent="-342900">
              <a:buFont typeface="Arial" panose="020B0604020202020204" pitchFamily="34" charset="0"/>
              <a:buChar char="•"/>
            </a:pPr>
            <a:r>
              <a:rPr lang="en-US" sz="2400" b="0" i="0" dirty="0">
                <a:effectLst/>
              </a:rPr>
              <a:t>Case-control (always retrospective)</a:t>
            </a:r>
          </a:p>
          <a:p>
            <a:pPr marL="342900" indent="-342900">
              <a:buFont typeface="Arial" panose="020B0604020202020204" pitchFamily="34" charset="0"/>
              <a:buChar char="•"/>
            </a:pPr>
            <a:r>
              <a:rPr lang="en-US" sz="2400" b="0" dirty="0"/>
              <a:t>Cohort studies (prospective or retrospective)</a:t>
            </a:r>
          </a:p>
          <a:p>
            <a:endParaRPr lang="en-US" sz="2400" b="0" i="0" dirty="0">
              <a:effectLst/>
            </a:endParaRPr>
          </a:p>
          <a:p>
            <a:r>
              <a:rPr lang="en-US" sz="2800" dirty="0">
                <a:solidFill>
                  <a:schemeClr val="accent2"/>
                </a:solidFill>
              </a:rPr>
              <a:t>Clinical Trials (always experimental)</a:t>
            </a:r>
          </a:p>
          <a:p>
            <a:r>
              <a:rPr lang="en-US" sz="2600" b="0" dirty="0">
                <a:solidFill>
                  <a:schemeClr val="accent2"/>
                </a:solidFill>
              </a:rPr>
              <a:t>R</a:t>
            </a:r>
            <a:r>
              <a:rPr lang="en-US" sz="2600" b="0" i="0" dirty="0">
                <a:solidFill>
                  <a:schemeClr val="accent2"/>
                </a:solidFill>
                <a:effectLst/>
              </a:rPr>
              <a:t>esearch studies in which researchers test health-related interventions by assigning participants to receive intervention(s)</a:t>
            </a:r>
          </a:p>
          <a:p>
            <a:pPr marL="342900" indent="-342900">
              <a:buFont typeface="Arial" panose="020B0604020202020204" pitchFamily="34" charset="0"/>
              <a:buChar char="•"/>
            </a:pPr>
            <a:r>
              <a:rPr lang="en-US" sz="2400" b="0" dirty="0"/>
              <a:t>Explanatory (efficacy)			ideal conditions</a:t>
            </a:r>
          </a:p>
          <a:p>
            <a:pPr marL="342900" indent="-342900">
              <a:buFont typeface="Arial" panose="020B0604020202020204" pitchFamily="34" charset="0"/>
              <a:buChar char="•"/>
            </a:pPr>
            <a:r>
              <a:rPr lang="en-US" sz="2400" b="0" dirty="0"/>
              <a:t>Pragmatic (effectiveness) 			real-world</a:t>
            </a:r>
          </a:p>
          <a:p>
            <a:endParaRPr lang="en-US" sz="2800" dirty="0">
              <a:solidFill>
                <a:schemeClr val="accent2"/>
              </a:solidFill>
            </a:endParaRPr>
          </a:p>
        </p:txBody>
      </p:sp>
      <p:sp>
        <p:nvSpPr>
          <p:cNvPr id="9" name="Slide Number Placeholder 8">
            <a:extLst>
              <a:ext uri="{FF2B5EF4-FFF2-40B4-BE49-F238E27FC236}">
                <a16:creationId xmlns:a16="http://schemas.microsoft.com/office/drawing/2014/main" id="{A913AD3B-0706-4A3E-A322-E83955BDB415}"/>
              </a:ext>
            </a:extLst>
          </p:cNvPr>
          <p:cNvSpPr>
            <a:spLocks noGrp="1"/>
          </p:cNvSpPr>
          <p:nvPr>
            <p:ph type="sldNum" sz="quarter" idx="12"/>
          </p:nvPr>
        </p:nvSpPr>
        <p:spPr/>
        <p:txBody>
          <a:bodyPr/>
          <a:lstStyle/>
          <a:p>
            <a:fld id="{7783EEA8-8FFA-40B0-9CA2-B650207154BC}" type="slidenum">
              <a:rPr lang="en-US" smtClean="0"/>
              <a:t>28</a:t>
            </a:fld>
            <a:endParaRPr lang="en-US" dirty="0"/>
          </a:p>
        </p:txBody>
      </p:sp>
      <p:cxnSp>
        <p:nvCxnSpPr>
          <p:cNvPr id="3" name="Straight Arrow Connector 2">
            <a:extLst>
              <a:ext uri="{FF2B5EF4-FFF2-40B4-BE49-F238E27FC236}">
                <a16:creationId xmlns:a16="http://schemas.microsoft.com/office/drawing/2014/main" id="{08F8B6B5-44DB-1292-796C-C06BE265E275}"/>
              </a:ext>
            </a:extLst>
          </p:cNvPr>
          <p:cNvCxnSpPr>
            <a:cxnSpLocks/>
          </p:cNvCxnSpPr>
          <p:nvPr/>
        </p:nvCxnSpPr>
        <p:spPr>
          <a:xfrm>
            <a:off x="3856383" y="5486400"/>
            <a:ext cx="2213113" cy="0"/>
          </a:xfrm>
          <a:prstGeom prst="straightConnector1">
            <a:avLst/>
          </a:prstGeom>
          <a:ln w="508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78A0C074-3DC5-23EB-C546-016DD0953407}"/>
              </a:ext>
            </a:extLst>
          </p:cNvPr>
          <p:cNvCxnSpPr>
            <a:cxnSpLocks/>
          </p:cNvCxnSpPr>
          <p:nvPr/>
        </p:nvCxnSpPr>
        <p:spPr>
          <a:xfrm>
            <a:off x="4267200" y="5903842"/>
            <a:ext cx="1802296" cy="0"/>
          </a:xfrm>
          <a:prstGeom prst="straightConnector1">
            <a:avLst/>
          </a:prstGeom>
          <a:ln w="508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198458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C3A4D-6C57-C4E8-FD45-EFBC9F0A2CC1}"/>
              </a:ext>
            </a:extLst>
          </p:cNvPr>
          <p:cNvSpPr>
            <a:spLocks noGrp="1"/>
          </p:cNvSpPr>
          <p:nvPr>
            <p:ph type="title"/>
          </p:nvPr>
        </p:nvSpPr>
        <p:spPr/>
        <p:txBody>
          <a:bodyPr>
            <a:normAutofit/>
          </a:bodyPr>
          <a:lstStyle/>
          <a:p>
            <a:r>
              <a:rPr lang="en-US" sz="3600" dirty="0"/>
              <a:t>Sources of Data for Observational Studies in CER</a:t>
            </a:r>
          </a:p>
        </p:txBody>
      </p:sp>
      <p:sp>
        <p:nvSpPr>
          <p:cNvPr id="3" name="Content Placeholder 2">
            <a:extLst>
              <a:ext uri="{FF2B5EF4-FFF2-40B4-BE49-F238E27FC236}">
                <a16:creationId xmlns:a16="http://schemas.microsoft.com/office/drawing/2014/main" id="{A57BB0B6-E497-D223-1094-AAFF6A05A519}"/>
              </a:ext>
            </a:extLst>
          </p:cNvPr>
          <p:cNvSpPr>
            <a:spLocks noGrp="1"/>
          </p:cNvSpPr>
          <p:nvPr>
            <p:ph idx="1"/>
          </p:nvPr>
        </p:nvSpPr>
        <p:spPr>
          <a:xfrm>
            <a:off x="655093" y="1676709"/>
            <a:ext cx="11077248" cy="4646648"/>
          </a:xfrm>
        </p:spPr>
        <p:txBody>
          <a:bodyPr>
            <a:normAutofit/>
          </a:bodyPr>
          <a:lstStyle/>
          <a:p>
            <a:pPr marL="342900" indent="-342900">
              <a:buFont typeface="Arial" panose="020B0604020202020204" pitchFamily="34" charset="0"/>
              <a:buChar char="•"/>
            </a:pPr>
            <a:r>
              <a:rPr lang="en-US" sz="3600" dirty="0">
                <a:solidFill>
                  <a:schemeClr val="accent2"/>
                </a:solidFill>
              </a:rPr>
              <a:t>Large prospective population-based cohorts</a:t>
            </a:r>
          </a:p>
          <a:p>
            <a:pPr marL="342900" indent="-342900">
              <a:buFont typeface="Arial" panose="020B0604020202020204" pitchFamily="34" charset="0"/>
              <a:buChar char="•"/>
            </a:pPr>
            <a:r>
              <a:rPr lang="en-US" sz="3600" dirty="0">
                <a:solidFill>
                  <a:schemeClr val="accent2"/>
                </a:solidFill>
              </a:rPr>
              <a:t>Retrospective</a:t>
            </a:r>
          </a:p>
          <a:p>
            <a:pPr marL="512763" lvl="1" indent="-342900"/>
            <a:r>
              <a:rPr lang="en-US" sz="3200" dirty="0"/>
              <a:t>Existing cohort studies</a:t>
            </a:r>
          </a:p>
          <a:p>
            <a:pPr marL="512763" lvl="1" indent="-342900"/>
            <a:r>
              <a:rPr lang="en-US" sz="3200" dirty="0"/>
              <a:t>Registries (specific populations, health interventions)</a:t>
            </a:r>
          </a:p>
          <a:p>
            <a:pPr marL="512763" lvl="1" indent="-342900"/>
            <a:r>
              <a:rPr lang="en-US" sz="3200" dirty="0"/>
              <a:t>Claims data (Medicare, </a:t>
            </a:r>
            <a:r>
              <a:rPr lang="en-US" sz="3200" dirty="0" err="1"/>
              <a:t>MarketScan</a:t>
            </a:r>
            <a:r>
              <a:rPr lang="en-US" sz="3200" dirty="0"/>
              <a:t>, IQVIA, </a:t>
            </a:r>
            <a:r>
              <a:rPr lang="en-US" sz="3200" dirty="0" err="1"/>
              <a:t>etc</a:t>
            </a:r>
            <a:r>
              <a:rPr lang="en-US" sz="3200" dirty="0"/>
              <a:t>)</a:t>
            </a:r>
          </a:p>
          <a:p>
            <a:pPr marL="512763" lvl="1" indent="-342900"/>
            <a:r>
              <a:rPr lang="en-US" sz="3200" dirty="0"/>
              <a:t>Electronic Health Records (EHR)</a:t>
            </a:r>
          </a:p>
        </p:txBody>
      </p:sp>
    </p:spTree>
    <p:extLst>
      <p:ext uri="{BB962C8B-B14F-4D97-AF65-F5344CB8AC3E}">
        <p14:creationId xmlns:p14="http://schemas.microsoft.com/office/powerpoint/2010/main" val="32739211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06F6-BF4B-396C-254B-A03C5A372564}"/>
              </a:ext>
            </a:extLst>
          </p:cNvPr>
          <p:cNvSpPr>
            <a:spLocks noGrp="1"/>
          </p:cNvSpPr>
          <p:nvPr>
            <p:ph type="title"/>
          </p:nvPr>
        </p:nvSpPr>
        <p:spPr>
          <a:xfrm>
            <a:off x="655092" y="0"/>
            <a:ext cx="11077249" cy="854075"/>
          </a:xfrm>
        </p:spPr>
        <p:txBody>
          <a:bodyPr>
            <a:normAutofit/>
          </a:bodyPr>
          <a:lstStyle/>
          <a:p>
            <a:r>
              <a:rPr lang="en-US" sz="3600" dirty="0"/>
              <a:t>RWE: Real-World Evidence</a:t>
            </a:r>
          </a:p>
        </p:txBody>
      </p:sp>
      <p:sp>
        <p:nvSpPr>
          <p:cNvPr id="3" name="Content Placeholder 2">
            <a:extLst>
              <a:ext uri="{FF2B5EF4-FFF2-40B4-BE49-F238E27FC236}">
                <a16:creationId xmlns:a16="http://schemas.microsoft.com/office/drawing/2014/main" id="{D0C3E641-47E6-DE3F-197A-522AA4E26229}"/>
              </a:ext>
            </a:extLst>
          </p:cNvPr>
          <p:cNvSpPr>
            <a:spLocks noGrp="1"/>
          </p:cNvSpPr>
          <p:nvPr>
            <p:ph idx="1"/>
          </p:nvPr>
        </p:nvSpPr>
        <p:spPr>
          <a:xfrm>
            <a:off x="655092" y="1089377"/>
            <a:ext cx="11077248" cy="4646648"/>
          </a:xfrm>
        </p:spPr>
        <p:txBody>
          <a:bodyPr>
            <a:normAutofit/>
          </a:bodyPr>
          <a:lstStyle/>
          <a:p>
            <a:pPr marL="342900" indent="-342900">
              <a:buFont typeface="Arial" panose="020B0604020202020204" pitchFamily="34" charset="0"/>
              <a:buChar char="•"/>
            </a:pPr>
            <a:endParaRPr lang="en-US" sz="2800" b="1" i="0" dirty="0">
              <a:solidFill>
                <a:srgbClr val="333333"/>
              </a:solidFill>
              <a:effectLst/>
              <a:latin typeface="Helvetica" pitchFamily="2" charset="0"/>
            </a:endParaRPr>
          </a:p>
          <a:p>
            <a:pPr marL="342900" indent="-342900">
              <a:buFont typeface="Arial" panose="020B0604020202020204" pitchFamily="34" charset="0"/>
              <a:buChar char="•"/>
            </a:pPr>
            <a:r>
              <a:rPr lang="en-US" sz="2800" b="1" i="0" dirty="0">
                <a:solidFill>
                  <a:srgbClr val="333333"/>
                </a:solidFill>
                <a:effectLst/>
                <a:latin typeface="Helvetica" pitchFamily="2" charset="0"/>
              </a:rPr>
              <a:t>Real-world </a:t>
            </a:r>
            <a:r>
              <a:rPr lang="en-US" sz="2800" i="0" dirty="0">
                <a:solidFill>
                  <a:srgbClr val="333333"/>
                </a:solidFill>
                <a:effectLst/>
                <a:latin typeface="Helvetica" pitchFamily="2" charset="0"/>
              </a:rPr>
              <a:t>data (RWD) </a:t>
            </a:r>
            <a:r>
              <a:rPr lang="en-US" sz="2800" b="0" i="0" dirty="0">
                <a:solidFill>
                  <a:srgbClr val="333333"/>
                </a:solidFill>
                <a:effectLst/>
                <a:latin typeface="Helvetica" pitchFamily="2" charset="0"/>
              </a:rPr>
              <a:t>are data relating to patient health status and/or the delivery of health care routinely collected from a variety of sources. </a:t>
            </a:r>
          </a:p>
          <a:p>
            <a:pPr marL="342900" indent="-342900">
              <a:buFont typeface="Arial" panose="020B0604020202020204" pitchFamily="34" charset="0"/>
              <a:buChar char="•"/>
            </a:pPr>
            <a:r>
              <a:rPr lang="en-US" sz="2800" i="0" dirty="0">
                <a:solidFill>
                  <a:srgbClr val="333333"/>
                </a:solidFill>
                <a:effectLst/>
                <a:latin typeface="Helvetica" pitchFamily="2" charset="0"/>
              </a:rPr>
              <a:t>Examples of RWD</a:t>
            </a:r>
            <a:r>
              <a:rPr lang="en-US" sz="2800" b="0" i="0" dirty="0">
                <a:solidFill>
                  <a:srgbClr val="333333"/>
                </a:solidFill>
                <a:effectLst/>
                <a:latin typeface="Helvetica" pitchFamily="2" charset="0"/>
              </a:rPr>
              <a:t> include data derived from electronic health records, medical claims data, data from product or disease registries, and data gathered from other sources (such as digital health technologies). </a:t>
            </a:r>
          </a:p>
          <a:p>
            <a:pPr marL="342900" indent="-342900">
              <a:buFont typeface="Arial" panose="020B0604020202020204" pitchFamily="34" charset="0"/>
              <a:buChar char="•"/>
            </a:pPr>
            <a:r>
              <a:rPr lang="en-US" sz="2800" b="1" i="0" dirty="0">
                <a:solidFill>
                  <a:srgbClr val="333333"/>
                </a:solidFill>
                <a:effectLst/>
                <a:latin typeface="Helvetica" pitchFamily="2" charset="0"/>
              </a:rPr>
              <a:t>Real-world evidence</a:t>
            </a:r>
            <a:r>
              <a:rPr lang="en-US" sz="2800" i="0" dirty="0">
                <a:solidFill>
                  <a:srgbClr val="333333"/>
                </a:solidFill>
                <a:effectLst/>
                <a:latin typeface="Helvetica" pitchFamily="2" charset="0"/>
              </a:rPr>
              <a:t> (RWE)</a:t>
            </a:r>
            <a:r>
              <a:rPr lang="en-US" sz="2800" b="0" i="0" dirty="0">
                <a:solidFill>
                  <a:srgbClr val="333333"/>
                </a:solidFill>
                <a:effectLst/>
                <a:latin typeface="Helvetica" pitchFamily="2" charset="0"/>
              </a:rPr>
              <a:t> is the clinical derived from analysis of RWD.</a:t>
            </a:r>
            <a:endParaRPr lang="en-US" sz="2800" dirty="0"/>
          </a:p>
        </p:txBody>
      </p:sp>
      <p:sp>
        <p:nvSpPr>
          <p:cNvPr id="4" name="Slide Number Placeholder 3">
            <a:extLst>
              <a:ext uri="{FF2B5EF4-FFF2-40B4-BE49-F238E27FC236}">
                <a16:creationId xmlns:a16="http://schemas.microsoft.com/office/drawing/2014/main" id="{0D047681-755A-0CF9-1330-2FBC224EC4AF}"/>
              </a:ext>
            </a:extLst>
          </p:cNvPr>
          <p:cNvSpPr>
            <a:spLocks noGrp="1"/>
          </p:cNvSpPr>
          <p:nvPr>
            <p:ph type="sldNum" sz="quarter" idx="12"/>
          </p:nvPr>
        </p:nvSpPr>
        <p:spPr/>
        <p:txBody>
          <a:bodyPr/>
          <a:lstStyle/>
          <a:p>
            <a:fld id="{7783EEA8-8FFA-40B0-9CA2-B650207154BC}" type="slidenum">
              <a:rPr lang="en-US" smtClean="0"/>
              <a:t>30</a:t>
            </a:fld>
            <a:endParaRPr lang="en-US"/>
          </a:p>
        </p:txBody>
      </p:sp>
      <p:sp>
        <p:nvSpPr>
          <p:cNvPr id="6" name="TextBox 5">
            <a:extLst>
              <a:ext uri="{FF2B5EF4-FFF2-40B4-BE49-F238E27FC236}">
                <a16:creationId xmlns:a16="http://schemas.microsoft.com/office/drawing/2014/main" id="{714174CA-EB69-D5D4-F6BF-CEE0BD9C0AF1}"/>
              </a:ext>
            </a:extLst>
          </p:cNvPr>
          <p:cNvSpPr txBox="1"/>
          <p:nvPr/>
        </p:nvSpPr>
        <p:spPr>
          <a:xfrm>
            <a:off x="1093304" y="6015335"/>
            <a:ext cx="4892536" cy="461665"/>
          </a:xfrm>
          <a:prstGeom prst="rect">
            <a:avLst/>
          </a:prstGeom>
          <a:noFill/>
        </p:spPr>
        <p:txBody>
          <a:bodyPr wrap="square">
            <a:spAutoFit/>
          </a:bodyPr>
          <a:lstStyle/>
          <a:p>
            <a:r>
              <a:rPr lang="en-US" sz="1200" dirty="0">
                <a:latin typeface="+mj-lt"/>
              </a:rPr>
              <a:t>https://</a:t>
            </a:r>
            <a:r>
              <a:rPr lang="en-US" sz="1200" dirty="0" err="1">
                <a:latin typeface="+mj-lt"/>
              </a:rPr>
              <a:t>www.fda.gov</a:t>
            </a:r>
            <a:r>
              <a:rPr lang="en-US" sz="1200" dirty="0">
                <a:latin typeface="+mj-lt"/>
              </a:rPr>
              <a:t>/science-research/science-and-research-special-topics/real-world-evidence</a:t>
            </a:r>
          </a:p>
        </p:txBody>
      </p:sp>
    </p:spTree>
    <p:extLst>
      <p:ext uri="{BB962C8B-B14F-4D97-AF65-F5344CB8AC3E}">
        <p14:creationId xmlns:p14="http://schemas.microsoft.com/office/powerpoint/2010/main" val="40276756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C7C71-A04B-CF47-F4EF-A4443F8B80AC}"/>
              </a:ext>
            </a:extLst>
          </p:cNvPr>
          <p:cNvSpPr>
            <a:spLocks noGrp="1"/>
          </p:cNvSpPr>
          <p:nvPr>
            <p:ph type="title"/>
          </p:nvPr>
        </p:nvSpPr>
        <p:spPr>
          <a:xfrm>
            <a:off x="557375" y="0"/>
            <a:ext cx="11077249" cy="854075"/>
          </a:xfrm>
        </p:spPr>
        <p:txBody>
          <a:bodyPr>
            <a:normAutofit/>
          </a:bodyPr>
          <a:lstStyle/>
          <a:p>
            <a:r>
              <a:rPr lang="en-US" sz="3200" dirty="0"/>
              <a:t>Uses and Advantages of Observational Studies</a:t>
            </a:r>
          </a:p>
        </p:txBody>
      </p:sp>
      <p:sp>
        <p:nvSpPr>
          <p:cNvPr id="3" name="Content Placeholder 2">
            <a:extLst>
              <a:ext uri="{FF2B5EF4-FFF2-40B4-BE49-F238E27FC236}">
                <a16:creationId xmlns:a16="http://schemas.microsoft.com/office/drawing/2014/main" id="{ED20A6E3-9718-148B-C0AE-2A9F81DF57DC}"/>
              </a:ext>
            </a:extLst>
          </p:cNvPr>
          <p:cNvSpPr>
            <a:spLocks noGrp="1"/>
          </p:cNvSpPr>
          <p:nvPr>
            <p:ph idx="1"/>
          </p:nvPr>
        </p:nvSpPr>
        <p:spPr>
          <a:xfrm>
            <a:off x="557376" y="1280219"/>
            <a:ext cx="11077248" cy="4646648"/>
          </a:xfrm>
        </p:spPr>
        <p:txBody>
          <a:bodyPr>
            <a:normAutofit fontScale="92500" lnSpcReduction="10000"/>
          </a:bodyPr>
          <a:lstStyle/>
          <a:p>
            <a:pPr marL="342900" indent="-342900">
              <a:buFont typeface="Arial" panose="020B0604020202020204" pitchFamily="34" charset="0"/>
              <a:buChar char="•"/>
            </a:pPr>
            <a:r>
              <a:rPr lang="en-US" sz="3200" b="0" dirty="0"/>
              <a:t>Real-world</a:t>
            </a:r>
          </a:p>
          <a:p>
            <a:pPr marL="342900" indent="-342900">
              <a:buFont typeface="Arial" panose="020B0604020202020204" pitchFamily="34" charset="0"/>
              <a:buChar char="•"/>
            </a:pPr>
            <a:r>
              <a:rPr lang="en-US" sz="3200" b="0" dirty="0"/>
              <a:t>Large sample sizes</a:t>
            </a:r>
          </a:p>
          <a:p>
            <a:pPr marL="342900" indent="-342900">
              <a:buFont typeface="Arial" panose="020B0604020202020204" pitchFamily="34" charset="0"/>
              <a:buChar char="•"/>
            </a:pPr>
            <a:r>
              <a:rPr lang="en-US" sz="3200" b="0" dirty="0"/>
              <a:t>Multiple interventions can be compared</a:t>
            </a:r>
          </a:p>
          <a:p>
            <a:pPr marL="342900" indent="-342900">
              <a:buFont typeface="Arial" panose="020B0604020202020204" pitchFamily="34" charset="0"/>
              <a:buChar char="•"/>
            </a:pPr>
            <a:r>
              <a:rPr lang="en-US" sz="3200" b="0" dirty="0"/>
              <a:t>Longer follow-ups</a:t>
            </a:r>
          </a:p>
          <a:p>
            <a:pPr marL="342900" indent="-342900">
              <a:buFont typeface="Arial" panose="020B0604020202020204" pitchFamily="34" charset="0"/>
              <a:buChar char="•"/>
            </a:pPr>
            <a:r>
              <a:rPr lang="en-US" sz="3200" b="0" dirty="0"/>
              <a:t>Often needed for safety studies/rare outcomes (e.g. mortality)</a:t>
            </a:r>
          </a:p>
          <a:p>
            <a:pPr marL="342900" indent="-342900">
              <a:buFont typeface="Arial" panose="020B0604020202020204" pitchFamily="34" charset="0"/>
              <a:buChar char="•"/>
            </a:pPr>
            <a:r>
              <a:rPr lang="en-US" sz="3200" b="0" dirty="0"/>
              <a:t>Readily available data to answer research question (retrospective)</a:t>
            </a:r>
          </a:p>
          <a:p>
            <a:pPr marL="342900" indent="-342900">
              <a:buFont typeface="Arial" panose="020B0604020202020204" pitchFamily="34" charset="0"/>
              <a:buChar char="•"/>
            </a:pPr>
            <a:r>
              <a:rPr lang="en-US" sz="3200" b="0" dirty="0"/>
              <a:t>Less expensive </a:t>
            </a:r>
          </a:p>
          <a:p>
            <a:endParaRPr lang="en-US" sz="2400" dirty="0"/>
          </a:p>
          <a:p>
            <a:r>
              <a:rPr lang="en-US" sz="3200" dirty="0">
                <a:solidFill>
                  <a:schemeClr val="accent2"/>
                </a:solidFill>
              </a:rPr>
              <a:t>Major disadvantage: subject to bias and confounding</a:t>
            </a:r>
          </a:p>
        </p:txBody>
      </p:sp>
    </p:spTree>
    <p:extLst>
      <p:ext uri="{BB962C8B-B14F-4D97-AF65-F5344CB8AC3E}">
        <p14:creationId xmlns:p14="http://schemas.microsoft.com/office/powerpoint/2010/main" val="33506177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4C9D8-5D60-4CA1-ECA8-51CA3C5020A9}"/>
              </a:ext>
            </a:extLst>
          </p:cNvPr>
          <p:cNvSpPr>
            <a:spLocks noGrp="1"/>
          </p:cNvSpPr>
          <p:nvPr>
            <p:ph type="title"/>
          </p:nvPr>
        </p:nvSpPr>
        <p:spPr/>
        <p:txBody>
          <a:bodyPr>
            <a:normAutofit/>
          </a:bodyPr>
          <a:lstStyle/>
          <a:p>
            <a:r>
              <a:rPr lang="en-US" sz="3600" dirty="0"/>
              <a:t>Observational Studies in CER</a:t>
            </a:r>
          </a:p>
        </p:txBody>
      </p:sp>
      <p:sp>
        <p:nvSpPr>
          <p:cNvPr id="3" name="Content Placeholder 2">
            <a:extLst>
              <a:ext uri="{FF2B5EF4-FFF2-40B4-BE49-F238E27FC236}">
                <a16:creationId xmlns:a16="http://schemas.microsoft.com/office/drawing/2014/main" id="{69DC85D0-C2EF-E547-F6E4-7C81C2A0C2F2}"/>
              </a:ext>
            </a:extLst>
          </p:cNvPr>
          <p:cNvSpPr>
            <a:spLocks noGrp="1"/>
          </p:cNvSpPr>
          <p:nvPr>
            <p:ph idx="1"/>
          </p:nvPr>
        </p:nvSpPr>
        <p:spPr>
          <a:xfrm>
            <a:off x="557376" y="1656831"/>
            <a:ext cx="11077248" cy="4646648"/>
          </a:xfrm>
        </p:spPr>
        <p:txBody>
          <a:bodyPr>
            <a:normAutofit/>
          </a:bodyPr>
          <a:lstStyle/>
          <a:p>
            <a:pPr marL="342900" indent="-342900">
              <a:buFontTx/>
              <a:buChar char="-"/>
            </a:pPr>
            <a:r>
              <a:rPr lang="en-US" sz="3200" dirty="0"/>
              <a:t>Hypothesis-testing vs. descriptive</a:t>
            </a:r>
          </a:p>
          <a:p>
            <a:pPr marL="342900" indent="-342900">
              <a:buFontTx/>
              <a:buChar char="-"/>
            </a:pPr>
            <a:r>
              <a:rPr lang="en-US" sz="3200" dirty="0"/>
              <a:t>Broad population</a:t>
            </a:r>
          </a:p>
          <a:p>
            <a:pPr marL="342900" indent="-342900">
              <a:buFontTx/>
              <a:buChar char="-"/>
            </a:pPr>
            <a:r>
              <a:rPr lang="en-US" sz="3200" dirty="0"/>
              <a:t>Explicit protocol</a:t>
            </a:r>
          </a:p>
          <a:p>
            <a:pPr marL="512763" lvl="1" indent="-342900">
              <a:buFontTx/>
              <a:buChar char="-"/>
            </a:pPr>
            <a:r>
              <a:rPr lang="en-US" sz="2400" dirty="0"/>
              <a:t>Easy to go on fishing expedition</a:t>
            </a:r>
          </a:p>
          <a:p>
            <a:pPr marL="342900" indent="-342900">
              <a:buFontTx/>
              <a:buChar char="-"/>
            </a:pPr>
            <a:r>
              <a:rPr lang="en-US" sz="3200" dirty="0"/>
              <a:t>Use methodologies that control confounding and bias</a:t>
            </a:r>
          </a:p>
          <a:p>
            <a:pPr marL="512763" lvl="1" indent="-342900">
              <a:buFontTx/>
              <a:buChar char="-"/>
            </a:pPr>
            <a:r>
              <a:rPr lang="en-US" sz="2400" dirty="0"/>
              <a:t>Try to approach what a RCT would be</a:t>
            </a:r>
          </a:p>
        </p:txBody>
      </p:sp>
    </p:spTree>
    <p:extLst>
      <p:ext uri="{BB962C8B-B14F-4D97-AF65-F5344CB8AC3E}">
        <p14:creationId xmlns:p14="http://schemas.microsoft.com/office/powerpoint/2010/main" val="4575598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DD3A56C-89CD-992E-2525-913DE9B76C2E}"/>
              </a:ext>
            </a:extLst>
          </p:cNvPr>
          <p:cNvPicPr>
            <a:picLocks noChangeAspect="1"/>
          </p:cNvPicPr>
          <p:nvPr/>
        </p:nvPicPr>
        <p:blipFill>
          <a:blip r:embed="rId2"/>
          <a:stretch>
            <a:fillRect/>
          </a:stretch>
        </p:blipFill>
        <p:spPr>
          <a:xfrm>
            <a:off x="3241465" y="0"/>
            <a:ext cx="5709070" cy="6720677"/>
          </a:xfrm>
          <a:prstGeom prst="rect">
            <a:avLst/>
          </a:prstGeom>
        </p:spPr>
      </p:pic>
    </p:spTree>
    <p:extLst>
      <p:ext uri="{BB962C8B-B14F-4D97-AF65-F5344CB8AC3E}">
        <p14:creationId xmlns:p14="http://schemas.microsoft.com/office/powerpoint/2010/main" val="3941533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23884-F16E-27A0-5B29-ECEB7CBE098F}"/>
              </a:ext>
            </a:extLst>
          </p:cNvPr>
          <p:cNvSpPr>
            <a:spLocks noGrp="1"/>
          </p:cNvSpPr>
          <p:nvPr>
            <p:ph type="title"/>
          </p:nvPr>
        </p:nvSpPr>
        <p:spPr>
          <a:xfrm>
            <a:off x="655093" y="0"/>
            <a:ext cx="11077249" cy="854075"/>
          </a:xfrm>
        </p:spPr>
        <p:txBody>
          <a:bodyPr>
            <a:normAutofit/>
          </a:bodyPr>
          <a:lstStyle/>
          <a:p>
            <a:r>
              <a:rPr lang="en-US" sz="3200" dirty="0"/>
              <a:t>PCORI Methodology Standards for Use of Registries</a:t>
            </a:r>
          </a:p>
        </p:txBody>
      </p:sp>
      <p:sp>
        <p:nvSpPr>
          <p:cNvPr id="3" name="Content Placeholder 2">
            <a:extLst>
              <a:ext uri="{FF2B5EF4-FFF2-40B4-BE49-F238E27FC236}">
                <a16:creationId xmlns:a16="http://schemas.microsoft.com/office/drawing/2014/main" id="{B3657B76-1714-20B1-DFA8-25476702D661}"/>
              </a:ext>
            </a:extLst>
          </p:cNvPr>
          <p:cNvSpPr>
            <a:spLocks noGrp="1"/>
          </p:cNvSpPr>
          <p:nvPr>
            <p:ph idx="1"/>
          </p:nvPr>
        </p:nvSpPr>
        <p:spPr>
          <a:xfrm>
            <a:off x="655093" y="1105676"/>
            <a:ext cx="11077248" cy="4646648"/>
          </a:xfrm>
        </p:spPr>
        <p:txBody>
          <a:bodyPr>
            <a:normAutofit lnSpcReduction="10000"/>
          </a:bodyPr>
          <a:lstStyle/>
          <a:p>
            <a:r>
              <a:rPr lang="en-US" sz="3200" dirty="0">
                <a:solidFill>
                  <a:schemeClr val="accent2"/>
                </a:solidFill>
              </a:rPr>
              <a:t>Registries must have the following characteristics</a:t>
            </a:r>
          </a:p>
          <a:p>
            <a:pPr marL="457200" indent="-457200">
              <a:buAutoNum type="arabicPeriod"/>
            </a:pPr>
            <a:r>
              <a:rPr lang="en-US" sz="2800" dirty="0"/>
              <a:t>Documentation registry purpose and protocol</a:t>
            </a:r>
          </a:p>
          <a:p>
            <a:pPr marL="457200" indent="-457200">
              <a:buAutoNum type="arabicPeriod"/>
            </a:pPr>
            <a:r>
              <a:rPr lang="en-US" sz="2800" dirty="0"/>
              <a:t>Data safety and security</a:t>
            </a:r>
          </a:p>
          <a:p>
            <a:pPr marL="457200" indent="-457200">
              <a:buAutoNum type="arabicPeriod"/>
            </a:pPr>
            <a:r>
              <a:rPr lang="en-US" sz="2800" dirty="0"/>
              <a:t>Data elements and quality</a:t>
            </a:r>
          </a:p>
          <a:p>
            <a:pPr marL="627063" lvl="1" indent="-457200"/>
            <a:r>
              <a:rPr lang="en-US" sz="2800" dirty="0"/>
              <a:t>Standardized data elements</a:t>
            </a:r>
          </a:p>
          <a:p>
            <a:pPr marL="627063" lvl="1" indent="-457200"/>
            <a:r>
              <a:rPr lang="en-US" sz="2800" dirty="0"/>
              <a:t>Quality assurance plan</a:t>
            </a:r>
          </a:p>
          <a:p>
            <a:pPr marL="457200" indent="-457200">
              <a:buAutoNum type="arabicPeriod"/>
            </a:pPr>
            <a:r>
              <a:rPr lang="en-US" sz="2800" dirty="0"/>
              <a:t>Availability of data to control for confounding</a:t>
            </a:r>
          </a:p>
          <a:p>
            <a:pPr marL="457200" indent="-457200">
              <a:buAutoNum type="arabicPeriod"/>
            </a:pPr>
            <a:r>
              <a:rPr lang="en-US" sz="2800" dirty="0"/>
              <a:t>Systematic participant enrollment</a:t>
            </a:r>
          </a:p>
          <a:p>
            <a:pPr marL="457200" indent="-457200">
              <a:buAutoNum type="arabicPeriod"/>
            </a:pPr>
            <a:r>
              <a:rPr lang="en-US" sz="2800" dirty="0"/>
              <a:t>Explicit participant follow-up</a:t>
            </a:r>
          </a:p>
          <a:p>
            <a:pPr marL="457200" indent="-457200">
              <a:buAutoNum type="arabicPeriod"/>
            </a:pPr>
            <a:r>
              <a:rPr lang="en-US" sz="2800" dirty="0"/>
              <a:t>Clear documentation of registry materials and protocols</a:t>
            </a:r>
          </a:p>
        </p:txBody>
      </p:sp>
    </p:spTree>
    <p:extLst>
      <p:ext uri="{BB962C8B-B14F-4D97-AF65-F5344CB8AC3E}">
        <p14:creationId xmlns:p14="http://schemas.microsoft.com/office/powerpoint/2010/main" val="5762900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4C66EE5-C6F6-82D0-D5F8-B00908C9340A}"/>
              </a:ext>
            </a:extLst>
          </p:cNvPr>
          <p:cNvPicPr>
            <a:picLocks noChangeAspect="1"/>
          </p:cNvPicPr>
          <p:nvPr/>
        </p:nvPicPr>
        <p:blipFill>
          <a:blip r:embed="rId2"/>
          <a:stretch>
            <a:fillRect/>
          </a:stretch>
        </p:blipFill>
        <p:spPr>
          <a:xfrm>
            <a:off x="3234994" y="0"/>
            <a:ext cx="5722012" cy="6858000"/>
          </a:xfrm>
          <a:prstGeom prst="rect">
            <a:avLst/>
          </a:prstGeom>
        </p:spPr>
      </p:pic>
    </p:spTree>
    <p:extLst>
      <p:ext uri="{BB962C8B-B14F-4D97-AF65-F5344CB8AC3E}">
        <p14:creationId xmlns:p14="http://schemas.microsoft.com/office/powerpoint/2010/main" val="27732179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769CF-0DD3-F3B6-B1BF-7A9FDCDB00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65D7CF-1D88-6B24-1AF7-B1BC6E8DD46D}"/>
              </a:ext>
            </a:extLst>
          </p:cNvPr>
          <p:cNvSpPr>
            <a:spLocks noGrp="1"/>
          </p:cNvSpPr>
          <p:nvPr>
            <p:ph type="title"/>
          </p:nvPr>
        </p:nvSpPr>
        <p:spPr/>
        <p:txBody>
          <a:bodyPr>
            <a:normAutofit/>
          </a:bodyPr>
          <a:lstStyle/>
          <a:p>
            <a:r>
              <a:rPr lang="en-US" sz="4000" dirty="0"/>
              <a:t>Pragmatic Clinical Trials</a:t>
            </a:r>
          </a:p>
        </p:txBody>
      </p:sp>
      <p:sp>
        <p:nvSpPr>
          <p:cNvPr id="3" name="Text Placeholder 2">
            <a:extLst>
              <a:ext uri="{FF2B5EF4-FFF2-40B4-BE49-F238E27FC236}">
                <a16:creationId xmlns:a16="http://schemas.microsoft.com/office/drawing/2014/main" id="{B6A5179B-A7F0-9C81-5E9F-0C80B4128A09}"/>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505638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0F646B-8F4E-81C8-6BB3-1BCE3145F325}"/>
              </a:ext>
            </a:extLst>
          </p:cNvPr>
          <p:cNvSpPr>
            <a:spLocks noGrp="1"/>
          </p:cNvSpPr>
          <p:nvPr>
            <p:ph type="title"/>
          </p:nvPr>
        </p:nvSpPr>
        <p:spPr/>
        <p:txBody>
          <a:bodyPr>
            <a:normAutofit/>
          </a:bodyPr>
          <a:lstStyle/>
          <a:p>
            <a:r>
              <a:rPr lang="en-US" sz="3600" dirty="0">
                <a:solidFill>
                  <a:schemeClr val="accent6"/>
                </a:solidFill>
              </a:rPr>
              <a:t>Clinical Trials (always experimental)</a:t>
            </a:r>
          </a:p>
        </p:txBody>
      </p:sp>
      <p:sp>
        <p:nvSpPr>
          <p:cNvPr id="3" name="Content Placeholder 2">
            <a:extLst>
              <a:ext uri="{FF2B5EF4-FFF2-40B4-BE49-F238E27FC236}">
                <a16:creationId xmlns:a16="http://schemas.microsoft.com/office/drawing/2014/main" id="{A1B49AC5-99DC-42F4-1084-6E9255C74E14}"/>
              </a:ext>
            </a:extLst>
          </p:cNvPr>
          <p:cNvSpPr>
            <a:spLocks noGrp="1"/>
          </p:cNvSpPr>
          <p:nvPr>
            <p:ph idx="1"/>
          </p:nvPr>
        </p:nvSpPr>
        <p:spPr/>
        <p:txBody>
          <a:bodyPr>
            <a:normAutofit/>
          </a:bodyPr>
          <a:lstStyle/>
          <a:p>
            <a:r>
              <a:rPr lang="en-US" sz="3200" b="0" dirty="0">
                <a:solidFill>
                  <a:schemeClr val="accent2"/>
                </a:solidFill>
              </a:rPr>
              <a:t>Research studies in which researchers test health-related interventions by assigning participants to receive intervention(s)</a:t>
            </a:r>
          </a:p>
          <a:p>
            <a:endParaRPr lang="en-US" sz="3200" b="0" dirty="0">
              <a:solidFill>
                <a:schemeClr val="accent2"/>
              </a:solidFill>
            </a:endParaRPr>
          </a:p>
          <a:p>
            <a:pPr marL="342900" indent="-342900">
              <a:buFont typeface="Arial" panose="020B0604020202020204" pitchFamily="34" charset="0"/>
              <a:buChar char="•"/>
            </a:pPr>
            <a:r>
              <a:rPr lang="en-US" sz="2800" b="0" dirty="0"/>
              <a:t>Explanatory (efficacy)			ideal conditions</a:t>
            </a:r>
          </a:p>
          <a:p>
            <a:endParaRPr lang="en-US" sz="2800" b="0" dirty="0"/>
          </a:p>
          <a:p>
            <a:pPr marL="342900" indent="-342900">
              <a:buFont typeface="Arial" panose="020B0604020202020204" pitchFamily="34" charset="0"/>
              <a:buChar char="•"/>
            </a:pPr>
            <a:r>
              <a:rPr lang="en-US" sz="2800" b="0" dirty="0"/>
              <a:t>Pragmatic (effectiveness) 			real-world</a:t>
            </a:r>
          </a:p>
          <a:p>
            <a:endParaRPr lang="en-US" sz="3200" dirty="0"/>
          </a:p>
        </p:txBody>
      </p:sp>
    </p:spTree>
    <p:extLst>
      <p:ext uri="{BB962C8B-B14F-4D97-AF65-F5344CB8AC3E}">
        <p14:creationId xmlns:p14="http://schemas.microsoft.com/office/powerpoint/2010/main" val="26898843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99B04F-8179-988D-C8D2-EAEC6F686B94}"/>
              </a:ext>
            </a:extLst>
          </p:cNvPr>
          <p:cNvSpPr>
            <a:spLocks noGrp="1"/>
          </p:cNvSpPr>
          <p:nvPr>
            <p:ph type="title"/>
          </p:nvPr>
        </p:nvSpPr>
        <p:spPr/>
        <p:txBody>
          <a:bodyPr/>
          <a:lstStyle/>
          <a:p>
            <a:r>
              <a:rPr lang="en-US" dirty="0"/>
              <a:t>Pragmatic Clinical Trials</a:t>
            </a:r>
          </a:p>
        </p:txBody>
      </p:sp>
      <p:sp>
        <p:nvSpPr>
          <p:cNvPr id="3" name="Content Placeholder 2">
            <a:extLst>
              <a:ext uri="{FF2B5EF4-FFF2-40B4-BE49-F238E27FC236}">
                <a16:creationId xmlns:a16="http://schemas.microsoft.com/office/drawing/2014/main" id="{FBDBFECF-22E7-8F9C-7FC9-E70573688836}"/>
              </a:ext>
            </a:extLst>
          </p:cNvPr>
          <p:cNvSpPr>
            <a:spLocks noGrp="1"/>
          </p:cNvSpPr>
          <p:nvPr>
            <p:ph idx="1"/>
          </p:nvPr>
        </p:nvSpPr>
        <p:spPr/>
        <p:txBody>
          <a:bodyPr>
            <a:normAutofit/>
          </a:bodyPr>
          <a:lstStyle/>
          <a:p>
            <a:pPr marL="342900" indent="-342900">
              <a:buFont typeface="Arial" panose="020B0604020202020204" pitchFamily="34" charset="0"/>
              <a:buChar char="•"/>
            </a:pPr>
            <a:r>
              <a:rPr lang="en-US" sz="2800" b="0" dirty="0">
                <a:solidFill>
                  <a:schemeClr val="accent6">
                    <a:lumMod val="75000"/>
                  </a:schemeClr>
                </a:solidFill>
              </a:rPr>
              <a:t>Designed to study a health intervention in a real-world setting that is similar or identical to the one in which the intervention will be implemented</a:t>
            </a:r>
          </a:p>
          <a:p>
            <a:pPr marL="342900" indent="-342900">
              <a:buFont typeface="Arial" panose="020B0604020202020204" pitchFamily="34" charset="0"/>
              <a:buChar char="•"/>
            </a:pPr>
            <a:r>
              <a:rPr lang="en-US" sz="2800" b="0" dirty="0">
                <a:solidFill>
                  <a:schemeClr val="accent6">
                    <a:lumMod val="75000"/>
                  </a:schemeClr>
                </a:solidFill>
              </a:rPr>
              <a:t>In contrast to explanatory or traditional trials, which are designed to demonstrate the safety and efficacy of an intervention</a:t>
            </a:r>
          </a:p>
          <a:p>
            <a:pPr marL="684213" lvl="2" indent="-342900"/>
            <a:r>
              <a:rPr lang="en-US" sz="2800" b="0" dirty="0">
                <a:solidFill>
                  <a:schemeClr val="accent3"/>
                </a:solidFill>
              </a:rPr>
              <a:t>under highly controlled conditions </a:t>
            </a:r>
          </a:p>
          <a:p>
            <a:pPr marL="684213" lvl="2" indent="-342900"/>
            <a:r>
              <a:rPr lang="en-US" sz="2800" b="0" dirty="0">
                <a:solidFill>
                  <a:schemeClr val="accent3"/>
                </a:solidFill>
              </a:rPr>
              <a:t>in carefully selected groups of participants</a:t>
            </a:r>
          </a:p>
          <a:p>
            <a:pPr marL="342900" indent="-342900">
              <a:buFont typeface="Arial" panose="020B0604020202020204" pitchFamily="34" charset="0"/>
              <a:buChar char="•"/>
            </a:pPr>
            <a:r>
              <a:rPr lang="en-US" sz="2800" b="0" dirty="0">
                <a:solidFill>
                  <a:schemeClr val="accent6">
                    <a:lumMod val="75000"/>
                  </a:schemeClr>
                </a:solidFill>
              </a:rPr>
              <a:t>Most clinical trials are situated somewhere along the spectrum between pragmatic and explanatory</a:t>
            </a:r>
            <a:endParaRPr lang="en-US" sz="2800" dirty="0">
              <a:solidFill>
                <a:schemeClr val="accent6">
                  <a:lumMod val="75000"/>
                </a:schemeClr>
              </a:solidFill>
            </a:endParaRPr>
          </a:p>
        </p:txBody>
      </p:sp>
      <p:sp>
        <p:nvSpPr>
          <p:cNvPr id="4" name="TextBox 3">
            <a:extLst>
              <a:ext uri="{FF2B5EF4-FFF2-40B4-BE49-F238E27FC236}">
                <a16:creationId xmlns:a16="http://schemas.microsoft.com/office/drawing/2014/main" id="{307E2126-A221-28F7-86D1-65019B396DEB}"/>
              </a:ext>
            </a:extLst>
          </p:cNvPr>
          <p:cNvSpPr txBox="1"/>
          <p:nvPr/>
        </p:nvSpPr>
        <p:spPr>
          <a:xfrm>
            <a:off x="0" y="6213538"/>
            <a:ext cx="9322903" cy="307777"/>
          </a:xfrm>
          <a:prstGeom prst="rect">
            <a:avLst/>
          </a:prstGeom>
          <a:noFill/>
        </p:spPr>
        <p:txBody>
          <a:bodyPr wrap="square" rtlCol="0">
            <a:spAutoFit/>
          </a:bodyPr>
          <a:lstStyle/>
          <a:p>
            <a:r>
              <a:rPr lang="en-US" sz="1400" dirty="0"/>
              <a:t>https://</a:t>
            </a:r>
            <a:r>
              <a:rPr lang="en-US" sz="1400" dirty="0" err="1"/>
              <a:t>rethinkingclinicaltrials.org</a:t>
            </a:r>
            <a:r>
              <a:rPr lang="en-US" sz="1400" dirty="0"/>
              <a:t>/archived-what-is-a-pragmatic-clinical-trial/pragmatic-elements-an-introduction-to-precis-2/</a:t>
            </a:r>
          </a:p>
        </p:txBody>
      </p:sp>
    </p:spTree>
    <p:extLst>
      <p:ext uri="{BB962C8B-B14F-4D97-AF65-F5344CB8AC3E}">
        <p14:creationId xmlns:p14="http://schemas.microsoft.com/office/powerpoint/2010/main" val="1098628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9B050-2219-0A7D-85C6-E4A70180D519}"/>
              </a:ext>
            </a:extLst>
          </p:cNvPr>
          <p:cNvSpPr>
            <a:spLocks noGrp="1"/>
          </p:cNvSpPr>
          <p:nvPr>
            <p:ph type="title"/>
          </p:nvPr>
        </p:nvSpPr>
        <p:spPr>
          <a:xfrm>
            <a:off x="557375" y="142461"/>
            <a:ext cx="11077249" cy="854075"/>
          </a:xfrm>
        </p:spPr>
        <p:txBody>
          <a:bodyPr/>
          <a:lstStyle/>
          <a:p>
            <a:r>
              <a:rPr lang="en-US" dirty="0"/>
              <a:t>Explanatory vs Pragmatic Trials</a:t>
            </a:r>
          </a:p>
        </p:txBody>
      </p:sp>
      <p:graphicFrame>
        <p:nvGraphicFramePr>
          <p:cNvPr id="4" name="Content Placeholder 3">
            <a:extLst>
              <a:ext uri="{FF2B5EF4-FFF2-40B4-BE49-F238E27FC236}">
                <a16:creationId xmlns:a16="http://schemas.microsoft.com/office/drawing/2014/main" id="{55FC1061-F51B-1923-0318-44351460BCB8}"/>
              </a:ext>
            </a:extLst>
          </p:cNvPr>
          <p:cNvGraphicFramePr>
            <a:graphicFrameLocks noGrp="1"/>
          </p:cNvGraphicFramePr>
          <p:nvPr>
            <p:ph idx="1"/>
            <p:extLst>
              <p:ext uri="{D42A27DB-BD31-4B8C-83A1-F6EECF244321}">
                <p14:modId xmlns:p14="http://schemas.microsoft.com/office/powerpoint/2010/main" val="3175775606"/>
              </p:ext>
            </p:extLst>
          </p:nvPr>
        </p:nvGraphicFramePr>
        <p:xfrm>
          <a:off x="398199" y="1277509"/>
          <a:ext cx="11608271" cy="5074740"/>
        </p:xfrm>
        <a:graphic>
          <a:graphicData uri="http://schemas.openxmlformats.org/drawingml/2006/table">
            <a:tbl>
              <a:tblPr firstRow="1" bandRow="1">
                <a:tableStyleId>{5C22544A-7EE6-4342-B048-85BDC9FD1C3A}</a:tableStyleId>
              </a:tblPr>
              <a:tblGrid>
                <a:gridCol w="3299158">
                  <a:extLst>
                    <a:ext uri="{9D8B030D-6E8A-4147-A177-3AD203B41FA5}">
                      <a16:colId xmlns:a16="http://schemas.microsoft.com/office/drawing/2014/main" val="1025251074"/>
                    </a:ext>
                  </a:extLst>
                </a:gridCol>
                <a:gridCol w="4113715">
                  <a:extLst>
                    <a:ext uri="{9D8B030D-6E8A-4147-A177-3AD203B41FA5}">
                      <a16:colId xmlns:a16="http://schemas.microsoft.com/office/drawing/2014/main" val="3762562924"/>
                    </a:ext>
                  </a:extLst>
                </a:gridCol>
                <a:gridCol w="4195398">
                  <a:extLst>
                    <a:ext uri="{9D8B030D-6E8A-4147-A177-3AD203B41FA5}">
                      <a16:colId xmlns:a16="http://schemas.microsoft.com/office/drawing/2014/main" val="1164513922"/>
                    </a:ext>
                  </a:extLst>
                </a:gridCol>
              </a:tblGrid>
              <a:tr h="584180">
                <a:tc>
                  <a:txBody>
                    <a:bodyPr/>
                    <a:lstStyle/>
                    <a:p>
                      <a:endParaRPr lang="en-US" sz="2800">
                        <a:latin typeface="Aptos" panose="020B0004020202020204" pitchFamily="34" charset="0"/>
                      </a:endParaRPr>
                    </a:p>
                  </a:txBody>
                  <a:tcPr/>
                </a:tc>
                <a:tc>
                  <a:txBody>
                    <a:bodyPr/>
                    <a:lstStyle/>
                    <a:p>
                      <a:r>
                        <a:rPr lang="en-US" sz="2800" dirty="0">
                          <a:latin typeface="Aptos" panose="020B0004020202020204" pitchFamily="34" charset="0"/>
                        </a:rPr>
                        <a:t>Explanatory</a:t>
                      </a:r>
                    </a:p>
                  </a:txBody>
                  <a:tcPr/>
                </a:tc>
                <a:tc>
                  <a:txBody>
                    <a:bodyPr/>
                    <a:lstStyle/>
                    <a:p>
                      <a:r>
                        <a:rPr lang="en-US" sz="2800" dirty="0">
                          <a:latin typeface="Aptos" panose="020B0004020202020204" pitchFamily="34" charset="0"/>
                        </a:rPr>
                        <a:t>Pragmatic</a:t>
                      </a:r>
                    </a:p>
                  </a:txBody>
                  <a:tcPr/>
                </a:tc>
                <a:extLst>
                  <a:ext uri="{0D108BD9-81ED-4DB2-BD59-A6C34878D82A}">
                    <a16:rowId xmlns:a16="http://schemas.microsoft.com/office/drawing/2014/main" val="4235525646"/>
                  </a:ext>
                </a:extLst>
              </a:tr>
              <a:tr h="584180">
                <a:tc>
                  <a:txBody>
                    <a:bodyPr/>
                    <a:lstStyle/>
                    <a:p>
                      <a:r>
                        <a:rPr lang="en-US" sz="2800" dirty="0">
                          <a:solidFill>
                            <a:schemeClr val="accent2"/>
                          </a:solidFill>
                          <a:latin typeface="Aptos" panose="020B0004020202020204" pitchFamily="34" charset="0"/>
                        </a:rPr>
                        <a:t>Population</a:t>
                      </a:r>
                    </a:p>
                  </a:txBody>
                  <a:tcPr/>
                </a:tc>
                <a:tc>
                  <a:txBody>
                    <a:bodyPr/>
                    <a:lstStyle/>
                    <a:p>
                      <a:r>
                        <a:rPr lang="en-US" sz="2800" dirty="0">
                          <a:latin typeface="Aptos" panose="020B0004020202020204" pitchFamily="34" charset="0"/>
                        </a:rPr>
                        <a:t>Highly selected</a:t>
                      </a:r>
                    </a:p>
                  </a:txBody>
                  <a:tcPr/>
                </a:tc>
                <a:tc>
                  <a:txBody>
                    <a:bodyPr/>
                    <a:lstStyle/>
                    <a:p>
                      <a:r>
                        <a:rPr lang="en-US" sz="2800" dirty="0">
                          <a:latin typeface="Aptos" panose="020B0004020202020204" pitchFamily="34" charset="0"/>
                        </a:rPr>
                        <a:t>Little selection - Broad</a:t>
                      </a:r>
                    </a:p>
                  </a:txBody>
                  <a:tcPr/>
                </a:tc>
                <a:extLst>
                  <a:ext uri="{0D108BD9-81ED-4DB2-BD59-A6C34878D82A}">
                    <a16:rowId xmlns:a16="http://schemas.microsoft.com/office/drawing/2014/main" val="1305817053"/>
                  </a:ext>
                </a:extLst>
              </a:tr>
              <a:tr h="1008310">
                <a:tc>
                  <a:txBody>
                    <a:bodyPr/>
                    <a:lstStyle/>
                    <a:p>
                      <a:r>
                        <a:rPr lang="en-US" sz="2800" dirty="0">
                          <a:solidFill>
                            <a:schemeClr val="accent2"/>
                          </a:solidFill>
                          <a:latin typeface="Aptos" panose="020B0004020202020204" pitchFamily="34" charset="0"/>
                        </a:rPr>
                        <a:t>Interventions</a:t>
                      </a:r>
                    </a:p>
                  </a:txBody>
                  <a:tcPr/>
                </a:tc>
                <a:tc>
                  <a:txBody>
                    <a:bodyPr/>
                    <a:lstStyle/>
                    <a:p>
                      <a:r>
                        <a:rPr lang="en-US" sz="2800" dirty="0">
                          <a:latin typeface="Aptos" panose="020B0004020202020204" pitchFamily="34" charset="0"/>
                        </a:rPr>
                        <a:t>Strictly applied</a:t>
                      </a:r>
                    </a:p>
                  </a:txBody>
                  <a:tcPr/>
                </a:tc>
                <a:tc>
                  <a:txBody>
                    <a:bodyPr/>
                    <a:lstStyle/>
                    <a:p>
                      <a:r>
                        <a:rPr lang="en-US" sz="2800" dirty="0">
                          <a:latin typeface="Aptos" panose="020B0004020202020204" pitchFamily="34" charset="0"/>
                        </a:rPr>
                        <a:t>Flexibility in co-interventions, dosage, </a:t>
                      </a:r>
                      <a:r>
                        <a:rPr lang="en-US" sz="2800" dirty="0" err="1">
                          <a:latin typeface="Aptos" panose="020B0004020202020204" pitchFamily="34" charset="0"/>
                        </a:rPr>
                        <a:t>etc</a:t>
                      </a:r>
                      <a:endParaRPr lang="en-US" sz="2800" dirty="0">
                        <a:latin typeface="Aptos" panose="020B0004020202020204" pitchFamily="34" charset="0"/>
                      </a:endParaRPr>
                    </a:p>
                  </a:txBody>
                  <a:tcPr/>
                </a:tc>
                <a:extLst>
                  <a:ext uri="{0D108BD9-81ED-4DB2-BD59-A6C34878D82A}">
                    <a16:rowId xmlns:a16="http://schemas.microsoft.com/office/drawing/2014/main" val="1087623776"/>
                  </a:ext>
                </a:extLst>
              </a:tr>
              <a:tr h="584180">
                <a:tc>
                  <a:txBody>
                    <a:bodyPr/>
                    <a:lstStyle/>
                    <a:p>
                      <a:r>
                        <a:rPr lang="en-US" sz="2800" dirty="0">
                          <a:solidFill>
                            <a:schemeClr val="accent2"/>
                          </a:solidFill>
                          <a:latin typeface="Aptos" panose="020B0004020202020204" pitchFamily="34" charset="0"/>
                        </a:rPr>
                        <a:t>Comparator</a:t>
                      </a:r>
                    </a:p>
                  </a:txBody>
                  <a:tcPr/>
                </a:tc>
                <a:tc>
                  <a:txBody>
                    <a:bodyPr/>
                    <a:lstStyle/>
                    <a:p>
                      <a:r>
                        <a:rPr lang="en-US" sz="2800" dirty="0">
                          <a:latin typeface="Aptos" panose="020B0004020202020204" pitchFamily="34" charset="0"/>
                        </a:rPr>
                        <a:t>Placebo or another intervention</a:t>
                      </a:r>
                    </a:p>
                  </a:txBody>
                  <a:tcPr/>
                </a:tc>
                <a:tc>
                  <a:txBody>
                    <a:bodyPr/>
                    <a:lstStyle/>
                    <a:p>
                      <a:r>
                        <a:rPr lang="en-US" sz="2800" dirty="0">
                          <a:latin typeface="Aptos" panose="020B0004020202020204" pitchFamily="34" charset="0"/>
                        </a:rPr>
                        <a:t>Usual care</a:t>
                      </a:r>
                    </a:p>
                  </a:txBody>
                  <a:tcPr/>
                </a:tc>
                <a:extLst>
                  <a:ext uri="{0D108BD9-81ED-4DB2-BD59-A6C34878D82A}">
                    <a16:rowId xmlns:a16="http://schemas.microsoft.com/office/drawing/2014/main" val="4131371019"/>
                  </a:ext>
                </a:extLst>
              </a:tr>
              <a:tr h="584180">
                <a:tc>
                  <a:txBody>
                    <a:bodyPr/>
                    <a:lstStyle/>
                    <a:p>
                      <a:r>
                        <a:rPr lang="en-US" sz="2800" dirty="0">
                          <a:solidFill>
                            <a:schemeClr val="accent2"/>
                          </a:solidFill>
                          <a:latin typeface="Aptos" panose="020B0004020202020204" pitchFamily="34" charset="0"/>
                        </a:rPr>
                        <a:t>Outcome measures</a:t>
                      </a:r>
                    </a:p>
                  </a:txBody>
                  <a:tcPr/>
                </a:tc>
                <a:tc>
                  <a:txBody>
                    <a:bodyPr/>
                    <a:lstStyle/>
                    <a:p>
                      <a:r>
                        <a:rPr lang="en-US" sz="2800" dirty="0">
                          <a:latin typeface="Aptos" panose="020B0004020202020204" pitchFamily="34" charset="0"/>
                        </a:rPr>
                        <a:t>Sometimes surrogate or clinical only</a:t>
                      </a:r>
                    </a:p>
                  </a:txBody>
                  <a:tcPr/>
                </a:tc>
                <a:tc>
                  <a:txBody>
                    <a:bodyPr/>
                    <a:lstStyle/>
                    <a:p>
                      <a:r>
                        <a:rPr lang="en-US" sz="2800" dirty="0">
                          <a:latin typeface="Aptos" panose="020B0004020202020204" pitchFamily="34" charset="0"/>
                        </a:rPr>
                        <a:t>Patient-centered</a:t>
                      </a:r>
                    </a:p>
                  </a:txBody>
                  <a:tcPr/>
                </a:tc>
                <a:extLst>
                  <a:ext uri="{0D108BD9-81ED-4DB2-BD59-A6C34878D82A}">
                    <a16:rowId xmlns:a16="http://schemas.microsoft.com/office/drawing/2014/main" val="1007508470"/>
                  </a:ext>
                </a:extLst>
              </a:tr>
              <a:tr h="1008310">
                <a:tc>
                  <a:txBody>
                    <a:bodyPr/>
                    <a:lstStyle/>
                    <a:p>
                      <a:r>
                        <a:rPr lang="en-US" sz="2800" dirty="0">
                          <a:solidFill>
                            <a:schemeClr val="accent2"/>
                          </a:solidFill>
                          <a:latin typeface="Aptos" panose="020B0004020202020204" pitchFamily="34" charset="0"/>
                        </a:rPr>
                        <a:t>Data collection</a:t>
                      </a:r>
                    </a:p>
                  </a:txBody>
                  <a:tcPr/>
                </a:tc>
                <a:tc>
                  <a:txBody>
                    <a:bodyPr/>
                    <a:lstStyle/>
                    <a:p>
                      <a:r>
                        <a:rPr lang="en-US" sz="2800" dirty="0">
                          <a:latin typeface="Aptos" panose="020B0004020202020204" pitchFamily="34" charset="0"/>
                        </a:rPr>
                        <a:t>Additional procedures outside clinical care</a:t>
                      </a:r>
                    </a:p>
                  </a:txBody>
                  <a:tcPr/>
                </a:tc>
                <a:tc>
                  <a:txBody>
                    <a:bodyPr/>
                    <a:lstStyle/>
                    <a:p>
                      <a:r>
                        <a:rPr lang="en-US" sz="2800" dirty="0">
                          <a:latin typeface="Aptos" panose="020B0004020202020204" pitchFamily="34" charset="0"/>
                        </a:rPr>
                        <a:t>In clinical settings</a:t>
                      </a:r>
                    </a:p>
                  </a:txBody>
                  <a:tcPr/>
                </a:tc>
                <a:extLst>
                  <a:ext uri="{0D108BD9-81ED-4DB2-BD59-A6C34878D82A}">
                    <a16:rowId xmlns:a16="http://schemas.microsoft.com/office/drawing/2014/main" val="891130536"/>
                  </a:ext>
                </a:extLst>
              </a:tr>
            </a:tbl>
          </a:graphicData>
        </a:graphic>
      </p:graphicFrame>
    </p:spTree>
    <p:extLst>
      <p:ext uri="{BB962C8B-B14F-4D97-AF65-F5344CB8AC3E}">
        <p14:creationId xmlns:p14="http://schemas.microsoft.com/office/powerpoint/2010/main" val="6899045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1CE2B-F447-A1B5-42B3-D1849FAD1D02}"/>
              </a:ext>
            </a:extLst>
          </p:cNvPr>
          <p:cNvSpPr>
            <a:spLocks noGrp="1"/>
          </p:cNvSpPr>
          <p:nvPr>
            <p:ph type="title"/>
          </p:nvPr>
        </p:nvSpPr>
        <p:spPr/>
        <p:txBody>
          <a:bodyPr/>
          <a:lstStyle/>
          <a:p>
            <a:r>
              <a:rPr lang="en-US" dirty="0"/>
              <a:t>\</a:t>
            </a:r>
          </a:p>
        </p:txBody>
      </p:sp>
      <p:pic>
        <p:nvPicPr>
          <p:cNvPr id="3" name="Content Placeholder 2">
            <a:extLst>
              <a:ext uri="{FF2B5EF4-FFF2-40B4-BE49-F238E27FC236}">
                <a16:creationId xmlns:a16="http://schemas.microsoft.com/office/drawing/2014/main" id="{1C783504-94BA-0DD4-08DD-546E9EFB553D}"/>
              </a:ext>
            </a:extLst>
          </p:cNvPr>
          <p:cNvPicPr>
            <a:picLocks noChangeAspect="1"/>
          </p:cNvPicPr>
          <p:nvPr/>
        </p:nvPicPr>
        <p:blipFill>
          <a:blip r:embed="rId2"/>
          <a:stretch>
            <a:fillRect/>
          </a:stretch>
        </p:blipFill>
        <p:spPr>
          <a:xfrm>
            <a:off x="655092" y="381000"/>
            <a:ext cx="7338006" cy="5781460"/>
          </a:xfrm>
          <a:prstGeom prst="rect">
            <a:avLst/>
          </a:prstGeom>
        </p:spPr>
      </p:pic>
      <p:sp>
        <p:nvSpPr>
          <p:cNvPr id="4" name="TextBox 3">
            <a:extLst>
              <a:ext uri="{FF2B5EF4-FFF2-40B4-BE49-F238E27FC236}">
                <a16:creationId xmlns:a16="http://schemas.microsoft.com/office/drawing/2014/main" id="{7273230E-A70E-0E57-4F41-B6DCFAAEABC7}"/>
              </a:ext>
            </a:extLst>
          </p:cNvPr>
          <p:cNvSpPr txBox="1"/>
          <p:nvPr/>
        </p:nvSpPr>
        <p:spPr>
          <a:xfrm>
            <a:off x="8317877" y="2041124"/>
            <a:ext cx="3219031" cy="2123658"/>
          </a:xfrm>
          <a:prstGeom prst="rect">
            <a:avLst/>
          </a:prstGeom>
          <a:noFill/>
        </p:spPr>
        <p:txBody>
          <a:bodyPr wrap="square">
            <a:spAutoFit/>
          </a:bodyPr>
          <a:lstStyle/>
          <a:p>
            <a:pPr marL="342900" indent="-342900">
              <a:buFont typeface="+mj-lt"/>
              <a:buAutoNum type="arabicPeriod"/>
            </a:pPr>
            <a:r>
              <a:rPr lang="en-US" sz="2200" dirty="0">
                <a:solidFill>
                  <a:schemeClr val="accent2"/>
                </a:solidFill>
                <a:latin typeface="Aptos" panose="020B0004020202020204" pitchFamily="34" charset="0"/>
              </a:rPr>
              <a:t>Very explanatory</a:t>
            </a:r>
          </a:p>
          <a:p>
            <a:pPr marL="342900" indent="-342900">
              <a:buFont typeface="+mj-lt"/>
              <a:buAutoNum type="arabicPeriod"/>
            </a:pPr>
            <a:r>
              <a:rPr lang="en-US" sz="2200" dirty="0">
                <a:solidFill>
                  <a:schemeClr val="accent2"/>
                </a:solidFill>
                <a:latin typeface="Aptos" panose="020B0004020202020204" pitchFamily="34" charset="0"/>
              </a:rPr>
              <a:t>Rather explanatory</a:t>
            </a:r>
          </a:p>
          <a:p>
            <a:pPr marL="342900" indent="-342900">
              <a:buFont typeface="+mj-lt"/>
              <a:buAutoNum type="arabicPeriod"/>
            </a:pPr>
            <a:r>
              <a:rPr lang="en-US" sz="2200" dirty="0">
                <a:solidFill>
                  <a:schemeClr val="accent2"/>
                </a:solidFill>
                <a:latin typeface="Aptos" panose="020B0004020202020204" pitchFamily="34" charset="0"/>
              </a:rPr>
              <a:t>Equally pragmatic and explanatory</a:t>
            </a:r>
          </a:p>
          <a:p>
            <a:pPr marL="342900" indent="-342900">
              <a:buFont typeface="+mj-lt"/>
              <a:buAutoNum type="arabicPeriod"/>
            </a:pPr>
            <a:r>
              <a:rPr lang="en-US" sz="2200" dirty="0">
                <a:solidFill>
                  <a:schemeClr val="accent2"/>
                </a:solidFill>
                <a:latin typeface="Aptos" panose="020B0004020202020204" pitchFamily="34" charset="0"/>
              </a:rPr>
              <a:t>Rather pragmatic</a:t>
            </a:r>
          </a:p>
          <a:p>
            <a:pPr marL="342900" indent="-342900">
              <a:buFont typeface="+mj-lt"/>
              <a:buAutoNum type="arabicPeriod"/>
            </a:pPr>
            <a:r>
              <a:rPr lang="en-US" sz="2200" dirty="0">
                <a:solidFill>
                  <a:schemeClr val="accent2"/>
                </a:solidFill>
                <a:latin typeface="Aptos" panose="020B0004020202020204" pitchFamily="34" charset="0"/>
              </a:rPr>
              <a:t>Very pragmatic</a:t>
            </a:r>
          </a:p>
        </p:txBody>
      </p:sp>
    </p:spTree>
    <p:extLst>
      <p:ext uri="{BB962C8B-B14F-4D97-AF65-F5344CB8AC3E}">
        <p14:creationId xmlns:p14="http://schemas.microsoft.com/office/powerpoint/2010/main" val="26668528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B6070-7A51-868C-6EDB-AB483EFEEAAD}"/>
              </a:ext>
            </a:extLst>
          </p:cNvPr>
          <p:cNvSpPr>
            <a:spLocks noGrp="1"/>
          </p:cNvSpPr>
          <p:nvPr>
            <p:ph type="title"/>
          </p:nvPr>
        </p:nvSpPr>
        <p:spPr>
          <a:xfrm>
            <a:off x="420311" y="281609"/>
            <a:ext cx="11351378" cy="1109870"/>
          </a:xfrm>
        </p:spPr>
        <p:txBody>
          <a:bodyPr>
            <a:normAutofit fontScale="90000"/>
          </a:bodyPr>
          <a:lstStyle/>
          <a:p>
            <a:r>
              <a:rPr lang="en-US" dirty="0"/>
              <a:t>ISIS-2 trial – </a:t>
            </a:r>
            <a:r>
              <a:rPr lang="en-US" b="0" dirty="0"/>
              <a:t>17,187 cases of suspected acute myocardial infarction</a:t>
            </a:r>
            <a:br>
              <a:rPr lang="en-US" b="0" dirty="0"/>
            </a:br>
            <a:r>
              <a:rPr lang="en-US" b="0" dirty="0"/>
              <a:t>(Lancet 1988)</a:t>
            </a:r>
            <a:br>
              <a:rPr lang="en-US" b="0" dirty="0"/>
            </a:br>
            <a:endParaRPr lang="en-US" dirty="0"/>
          </a:p>
        </p:txBody>
      </p:sp>
      <p:pic>
        <p:nvPicPr>
          <p:cNvPr id="4098" name="Picture 2">
            <a:extLst>
              <a:ext uri="{FF2B5EF4-FFF2-40B4-BE49-F238E27FC236}">
                <a16:creationId xmlns:a16="http://schemas.microsoft.com/office/drawing/2014/main" id="{E787356C-D8EB-23E7-EE7F-28DBC22710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00" y="1705941"/>
            <a:ext cx="9652000" cy="455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600317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1EFE5-AC9F-7BE9-62C0-5B8A67641A9E}"/>
              </a:ext>
            </a:extLst>
          </p:cNvPr>
          <p:cNvSpPr>
            <a:spLocks noGrp="1"/>
          </p:cNvSpPr>
          <p:nvPr>
            <p:ph type="title"/>
          </p:nvPr>
        </p:nvSpPr>
        <p:spPr/>
        <p:txBody>
          <a:bodyPr>
            <a:normAutofit fontScale="90000"/>
          </a:bodyPr>
          <a:lstStyle/>
          <a:p>
            <a:r>
              <a:rPr lang="en-US" dirty="0"/>
              <a:t>ACP- PEACE. </a:t>
            </a:r>
            <a:r>
              <a:rPr lang="en-US" b="0" dirty="0"/>
              <a:t>Promoting Effective and Aligned Communication in the Elderly</a:t>
            </a:r>
            <a:br>
              <a:rPr lang="en-US" b="0" dirty="0"/>
            </a:br>
            <a:endParaRPr lang="en-US" dirty="0"/>
          </a:p>
        </p:txBody>
      </p:sp>
      <p:pic>
        <p:nvPicPr>
          <p:cNvPr id="3" name="Picture 2">
            <a:extLst>
              <a:ext uri="{FF2B5EF4-FFF2-40B4-BE49-F238E27FC236}">
                <a16:creationId xmlns:a16="http://schemas.microsoft.com/office/drawing/2014/main" id="{F0522EAB-BA29-C0DA-F2F9-9B6F204CAF73}"/>
              </a:ext>
            </a:extLst>
          </p:cNvPr>
          <p:cNvPicPr>
            <a:picLocks noChangeAspect="1"/>
          </p:cNvPicPr>
          <p:nvPr/>
        </p:nvPicPr>
        <p:blipFill>
          <a:blip r:embed="rId2"/>
          <a:stretch>
            <a:fillRect/>
          </a:stretch>
        </p:blipFill>
        <p:spPr>
          <a:xfrm>
            <a:off x="822913" y="1879875"/>
            <a:ext cx="10090251" cy="3694757"/>
          </a:xfrm>
          <a:prstGeom prst="rect">
            <a:avLst/>
          </a:prstGeom>
        </p:spPr>
      </p:pic>
    </p:spTree>
    <p:extLst>
      <p:ext uri="{BB962C8B-B14F-4D97-AF65-F5344CB8AC3E}">
        <p14:creationId xmlns:p14="http://schemas.microsoft.com/office/powerpoint/2010/main" val="147733684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B99F6-EABD-BD74-7992-F0A65A7F6E22}"/>
              </a:ext>
            </a:extLst>
          </p:cNvPr>
          <p:cNvSpPr>
            <a:spLocks noGrp="1"/>
          </p:cNvSpPr>
          <p:nvPr>
            <p:ph type="title"/>
          </p:nvPr>
        </p:nvSpPr>
        <p:spPr/>
        <p:txBody>
          <a:bodyPr/>
          <a:lstStyle/>
          <a:p>
            <a:endParaRPr lang="en-US"/>
          </a:p>
        </p:txBody>
      </p:sp>
      <p:pic>
        <p:nvPicPr>
          <p:cNvPr id="5122" name="Picture 2">
            <a:extLst>
              <a:ext uri="{FF2B5EF4-FFF2-40B4-BE49-F238E27FC236}">
                <a16:creationId xmlns:a16="http://schemas.microsoft.com/office/drawing/2014/main" id="{8D0AB43A-A0EA-A87E-9BB0-08BD6CE913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88" y="0"/>
            <a:ext cx="1216501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12490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86C998-AE10-B129-80B3-FA7588C695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E2F09-0494-7A75-4604-7D9E4C76827B}"/>
              </a:ext>
            </a:extLst>
          </p:cNvPr>
          <p:cNvSpPr>
            <a:spLocks noGrp="1"/>
          </p:cNvSpPr>
          <p:nvPr>
            <p:ph type="title"/>
          </p:nvPr>
        </p:nvSpPr>
        <p:spPr>
          <a:xfrm>
            <a:off x="647698" y="2635323"/>
            <a:ext cx="11084641" cy="1012337"/>
          </a:xfrm>
        </p:spPr>
        <p:txBody>
          <a:bodyPr>
            <a:normAutofit fontScale="90000"/>
          </a:bodyPr>
          <a:lstStyle/>
          <a:p>
            <a:r>
              <a:rPr lang="en-US" sz="4400" b="0" dirty="0"/>
              <a:t>“Far better an approximate answer to the right question, which is often vague, than an exact answer to the wrong question, which can always be made precise.”</a:t>
            </a:r>
            <a:br>
              <a:rPr lang="en-US" b="0" dirty="0"/>
            </a:br>
            <a:endParaRPr lang="en-US" sz="4000" dirty="0"/>
          </a:p>
        </p:txBody>
      </p:sp>
      <p:sp>
        <p:nvSpPr>
          <p:cNvPr id="3" name="Text Placeholder 2">
            <a:extLst>
              <a:ext uri="{FF2B5EF4-FFF2-40B4-BE49-F238E27FC236}">
                <a16:creationId xmlns:a16="http://schemas.microsoft.com/office/drawing/2014/main" id="{D7707E2F-0D34-CF05-5E22-F6565B6E275F}"/>
              </a:ext>
            </a:extLst>
          </p:cNvPr>
          <p:cNvSpPr>
            <a:spLocks noGrp="1"/>
          </p:cNvSpPr>
          <p:nvPr>
            <p:ph type="body" idx="1"/>
          </p:nvPr>
        </p:nvSpPr>
        <p:spPr>
          <a:xfrm>
            <a:off x="647699" y="3995810"/>
            <a:ext cx="11084641" cy="741399"/>
          </a:xfrm>
        </p:spPr>
        <p:txBody>
          <a:bodyPr>
            <a:normAutofit/>
          </a:bodyPr>
          <a:lstStyle/>
          <a:p>
            <a:r>
              <a:rPr lang="en-US" sz="4000" dirty="0"/>
              <a:t>John Tukey</a:t>
            </a:r>
          </a:p>
        </p:txBody>
      </p:sp>
    </p:spTree>
    <p:extLst>
      <p:ext uri="{BB962C8B-B14F-4D97-AF65-F5344CB8AC3E}">
        <p14:creationId xmlns:p14="http://schemas.microsoft.com/office/powerpoint/2010/main" val="2399316460"/>
      </p:ext>
    </p:extLst>
  </p:cSld>
  <p:clrMapOvr>
    <a:masterClrMapping/>
  </p:clrMapOvr>
</p:sld>
</file>

<file path=ppt/theme/theme1.xml><?xml version="1.0" encoding="utf-8"?>
<a:theme xmlns:a="http://schemas.openxmlformats.org/drawingml/2006/main" name="Office Theme">
  <a:themeElements>
    <a:clrScheme name="MD Anderson Basic">
      <a:dk1>
        <a:srgbClr val="413C38"/>
      </a:dk1>
      <a:lt1>
        <a:srgbClr val="FFFFFF"/>
      </a:lt1>
      <a:dk2>
        <a:srgbClr val="EE3124"/>
      </a:dk2>
      <a:lt2>
        <a:srgbClr val="FFFFFF"/>
      </a:lt2>
      <a:accent1>
        <a:srgbClr val="614B79"/>
      </a:accent1>
      <a:accent2>
        <a:srgbClr val="407EC9"/>
      </a:accent2>
      <a:accent3>
        <a:srgbClr val="789D4A"/>
      </a:accent3>
      <a:accent4>
        <a:srgbClr val="CB6015"/>
      </a:accent4>
      <a:accent5>
        <a:srgbClr val="D2CE9E"/>
      </a:accent5>
      <a:accent6>
        <a:srgbClr val="63666A"/>
      </a:accent6>
      <a:hlink>
        <a:srgbClr val="407EC9"/>
      </a:hlink>
      <a:folHlink>
        <a:srgbClr val="63666A"/>
      </a:folHlink>
    </a:clrScheme>
    <a:fontScheme name="MD Anderson">
      <a:majorFont>
        <a:latin typeface="Arial"/>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plate Obs St" id="{D6CC255C-C209-EF45-B217-529F71BB917A}" vid="{72726B60-9C0A-7644-88D2-1544A90D2BE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MD Anderson Basic">
    <a:dk1>
      <a:srgbClr val="413C38"/>
    </a:dk1>
    <a:lt1>
      <a:srgbClr val="FFFFFF"/>
    </a:lt1>
    <a:dk2>
      <a:srgbClr val="EE3124"/>
    </a:dk2>
    <a:lt2>
      <a:srgbClr val="FFFFFF"/>
    </a:lt2>
    <a:accent1>
      <a:srgbClr val="614B79"/>
    </a:accent1>
    <a:accent2>
      <a:srgbClr val="407EC9"/>
    </a:accent2>
    <a:accent3>
      <a:srgbClr val="789D4A"/>
    </a:accent3>
    <a:accent4>
      <a:srgbClr val="CB6015"/>
    </a:accent4>
    <a:accent5>
      <a:srgbClr val="D2CE9E"/>
    </a:accent5>
    <a:accent6>
      <a:srgbClr val="63666A"/>
    </a:accent6>
    <a:hlink>
      <a:srgbClr val="407EC9"/>
    </a:hlink>
    <a:folHlink>
      <a:srgbClr val="63666A"/>
    </a:folHlink>
  </a:clrScheme>
</a:themeOverride>
</file>

<file path=ppt/theme/themeOverride2.xml><?xml version="1.0" encoding="utf-8"?>
<a:themeOverride xmlns:a="http://schemas.openxmlformats.org/drawingml/2006/main">
  <a:clrScheme name="MD Anderson Basic">
    <a:dk1>
      <a:srgbClr val="413C38"/>
    </a:dk1>
    <a:lt1>
      <a:srgbClr val="FFFFFF"/>
    </a:lt1>
    <a:dk2>
      <a:srgbClr val="EE3124"/>
    </a:dk2>
    <a:lt2>
      <a:srgbClr val="FFFFFF"/>
    </a:lt2>
    <a:accent1>
      <a:srgbClr val="614B79"/>
    </a:accent1>
    <a:accent2>
      <a:srgbClr val="407EC9"/>
    </a:accent2>
    <a:accent3>
      <a:srgbClr val="789D4A"/>
    </a:accent3>
    <a:accent4>
      <a:srgbClr val="CB6015"/>
    </a:accent4>
    <a:accent5>
      <a:srgbClr val="D2CE9E"/>
    </a:accent5>
    <a:accent6>
      <a:srgbClr val="63666A"/>
    </a:accent6>
    <a:hlink>
      <a:srgbClr val="407EC9"/>
    </a:hlink>
    <a:folHlink>
      <a:srgbClr val="63666A"/>
    </a:folHlink>
  </a:clrScheme>
</a:themeOverride>
</file>

<file path=ppt/theme/themeOverride3.xml><?xml version="1.0" encoding="utf-8"?>
<a:themeOverride xmlns:a="http://schemas.openxmlformats.org/drawingml/2006/main">
  <a:clrScheme name="MD Anderson Basic">
    <a:dk1>
      <a:srgbClr val="413C38"/>
    </a:dk1>
    <a:lt1>
      <a:srgbClr val="FFFFFF"/>
    </a:lt1>
    <a:dk2>
      <a:srgbClr val="EE3124"/>
    </a:dk2>
    <a:lt2>
      <a:srgbClr val="FFFFFF"/>
    </a:lt2>
    <a:accent1>
      <a:srgbClr val="614B79"/>
    </a:accent1>
    <a:accent2>
      <a:srgbClr val="407EC9"/>
    </a:accent2>
    <a:accent3>
      <a:srgbClr val="789D4A"/>
    </a:accent3>
    <a:accent4>
      <a:srgbClr val="CB6015"/>
    </a:accent4>
    <a:accent5>
      <a:srgbClr val="D2CE9E"/>
    </a:accent5>
    <a:accent6>
      <a:srgbClr val="63666A"/>
    </a:accent6>
    <a:hlink>
      <a:srgbClr val="407EC9"/>
    </a:hlink>
    <a:folHlink>
      <a:srgbClr val="63666A"/>
    </a:folHlink>
  </a:clrScheme>
</a:themeOverride>
</file>

<file path=ppt/theme/themeOverride4.xml><?xml version="1.0" encoding="utf-8"?>
<a:themeOverride xmlns:a="http://schemas.openxmlformats.org/drawingml/2006/main">
  <a:clrScheme name="MD Anderson Basic">
    <a:dk1>
      <a:srgbClr val="413C38"/>
    </a:dk1>
    <a:lt1>
      <a:srgbClr val="FFFFFF"/>
    </a:lt1>
    <a:dk2>
      <a:srgbClr val="EE3124"/>
    </a:dk2>
    <a:lt2>
      <a:srgbClr val="FFFFFF"/>
    </a:lt2>
    <a:accent1>
      <a:srgbClr val="614B79"/>
    </a:accent1>
    <a:accent2>
      <a:srgbClr val="407EC9"/>
    </a:accent2>
    <a:accent3>
      <a:srgbClr val="789D4A"/>
    </a:accent3>
    <a:accent4>
      <a:srgbClr val="CB6015"/>
    </a:accent4>
    <a:accent5>
      <a:srgbClr val="D2CE9E"/>
    </a:accent5>
    <a:accent6>
      <a:srgbClr val="63666A"/>
    </a:accent6>
    <a:hlink>
      <a:srgbClr val="407EC9"/>
    </a:hlink>
    <a:folHlink>
      <a:srgbClr val="63666A"/>
    </a:folHlink>
  </a:clrScheme>
</a:themeOverride>
</file>

<file path=ppt/theme/themeOverride5.xml><?xml version="1.0" encoding="utf-8"?>
<a:themeOverride xmlns:a="http://schemas.openxmlformats.org/drawingml/2006/main">
  <a:clrScheme name="MD Anderson Basic">
    <a:dk1>
      <a:srgbClr val="413C38"/>
    </a:dk1>
    <a:lt1>
      <a:srgbClr val="FFFFFF"/>
    </a:lt1>
    <a:dk2>
      <a:srgbClr val="EE3124"/>
    </a:dk2>
    <a:lt2>
      <a:srgbClr val="FFFFFF"/>
    </a:lt2>
    <a:accent1>
      <a:srgbClr val="614B79"/>
    </a:accent1>
    <a:accent2>
      <a:srgbClr val="407EC9"/>
    </a:accent2>
    <a:accent3>
      <a:srgbClr val="789D4A"/>
    </a:accent3>
    <a:accent4>
      <a:srgbClr val="CB6015"/>
    </a:accent4>
    <a:accent5>
      <a:srgbClr val="D2CE9E"/>
    </a:accent5>
    <a:accent6>
      <a:srgbClr val="63666A"/>
    </a:accent6>
    <a:hlink>
      <a:srgbClr val="407EC9"/>
    </a:hlink>
    <a:folHlink>
      <a:srgbClr val="63666A"/>
    </a:folHlink>
  </a:clrScheme>
</a:themeOverride>
</file>

<file path=ppt/theme/themeOverride6.xml><?xml version="1.0" encoding="utf-8"?>
<a:themeOverride xmlns:a="http://schemas.openxmlformats.org/drawingml/2006/main">
  <a:clrScheme name="MD Anderson Basic">
    <a:dk1>
      <a:srgbClr val="413C38"/>
    </a:dk1>
    <a:lt1>
      <a:srgbClr val="FFFFFF"/>
    </a:lt1>
    <a:dk2>
      <a:srgbClr val="EE3124"/>
    </a:dk2>
    <a:lt2>
      <a:srgbClr val="FFFFFF"/>
    </a:lt2>
    <a:accent1>
      <a:srgbClr val="614B79"/>
    </a:accent1>
    <a:accent2>
      <a:srgbClr val="407EC9"/>
    </a:accent2>
    <a:accent3>
      <a:srgbClr val="789D4A"/>
    </a:accent3>
    <a:accent4>
      <a:srgbClr val="CB6015"/>
    </a:accent4>
    <a:accent5>
      <a:srgbClr val="D2CE9E"/>
    </a:accent5>
    <a:accent6>
      <a:srgbClr val="63666A"/>
    </a:accent6>
    <a:hlink>
      <a:srgbClr val="407EC9"/>
    </a:hlink>
    <a:folHlink>
      <a:srgbClr val="63666A"/>
    </a:folHlink>
  </a:clrScheme>
</a:themeOverride>
</file>

<file path=ppt/theme/themeOverride7.xml><?xml version="1.0" encoding="utf-8"?>
<a:themeOverride xmlns:a="http://schemas.openxmlformats.org/drawingml/2006/main">
  <a:clrScheme name="MD Anderson Basic">
    <a:dk1>
      <a:srgbClr val="413C38"/>
    </a:dk1>
    <a:lt1>
      <a:srgbClr val="FFFFFF"/>
    </a:lt1>
    <a:dk2>
      <a:srgbClr val="EE3124"/>
    </a:dk2>
    <a:lt2>
      <a:srgbClr val="FFFFFF"/>
    </a:lt2>
    <a:accent1>
      <a:srgbClr val="614B79"/>
    </a:accent1>
    <a:accent2>
      <a:srgbClr val="407EC9"/>
    </a:accent2>
    <a:accent3>
      <a:srgbClr val="789D4A"/>
    </a:accent3>
    <a:accent4>
      <a:srgbClr val="CB6015"/>
    </a:accent4>
    <a:accent5>
      <a:srgbClr val="D2CE9E"/>
    </a:accent5>
    <a:accent6>
      <a:srgbClr val="63666A"/>
    </a:accent6>
    <a:hlink>
      <a:srgbClr val="407EC9"/>
    </a:hlink>
    <a:folHlink>
      <a:srgbClr val="63666A"/>
    </a:folHlink>
  </a:clrScheme>
</a:themeOverride>
</file>

<file path=ppt/theme/themeOverride8.xml><?xml version="1.0" encoding="utf-8"?>
<a:themeOverride xmlns:a="http://schemas.openxmlformats.org/drawingml/2006/main">
  <a:clrScheme name="MD Anderson Basic">
    <a:dk1>
      <a:srgbClr val="413C38"/>
    </a:dk1>
    <a:lt1>
      <a:srgbClr val="FFFFFF"/>
    </a:lt1>
    <a:dk2>
      <a:srgbClr val="EE3124"/>
    </a:dk2>
    <a:lt2>
      <a:srgbClr val="FFFFFF"/>
    </a:lt2>
    <a:accent1>
      <a:srgbClr val="614B79"/>
    </a:accent1>
    <a:accent2>
      <a:srgbClr val="407EC9"/>
    </a:accent2>
    <a:accent3>
      <a:srgbClr val="789D4A"/>
    </a:accent3>
    <a:accent4>
      <a:srgbClr val="CB6015"/>
    </a:accent4>
    <a:accent5>
      <a:srgbClr val="D2CE9E"/>
    </a:accent5>
    <a:accent6>
      <a:srgbClr val="63666A"/>
    </a:accent6>
    <a:hlink>
      <a:srgbClr val="407EC9"/>
    </a:hlink>
    <a:folHlink>
      <a:srgbClr val="63666A"/>
    </a:folHlink>
  </a:clrScheme>
</a:themeOverride>
</file>

<file path=docProps/app.xml><?xml version="1.0" encoding="utf-8"?>
<Properties xmlns="http://schemas.openxmlformats.org/officeDocument/2006/extended-properties" xmlns:vt="http://schemas.openxmlformats.org/officeDocument/2006/docPropsVTypes">
  <Template>Office Theme</Template>
  <TotalTime>3377</TotalTime>
  <Words>1988</Words>
  <Application>Microsoft Office PowerPoint</Application>
  <PresentationFormat>Widescreen</PresentationFormat>
  <Paragraphs>286</Paragraphs>
  <Slides>44</Slides>
  <Notes>2</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PowerPoint Presentation</vt:lpstr>
      <vt:lpstr>Overview</vt:lpstr>
      <vt:lpstr>PowerPoint Presentation</vt:lpstr>
      <vt:lpstr>Key Elements of Comparative Effectiveness Research</vt:lpstr>
      <vt:lpstr>Major Methodologies in CER</vt:lpstr>
      <vt:lpstr>Evidence Synthesis</vt:lpstr>
      <vt:lpstr>Evidence synthesis</vt:lpstr>
      <vt:lpstr>Systematic Review</vt:lpstr>
      <vt:lpstr>A Systematic Review is Different from a Traditional Narrative Review</vt:lpstr>
      <vt:lpstr>Meta-analysis</vt:lpstr>
      <vt:lpstr>Steps in Systematic Reviews</vt:lpstr>
      <vt:lpstr>Steps</vt:lpstr>
      <vt:lpstr>How to Formulate a Good Research Question</vt:lpstr>
      <vt:lpstr>PICOTS Framework</vt:lpstr>
      <vt:lpstr>PRISMA flowchart</vt:lpstr>
      <vt:lpstr>PowerPoint Presentation</vt:lpstr>
      <vt:lpstr>Heterogeneity</vt:lpstr>
      <vt:lpstr>Evidence-Based Medicine (EBM) Hierarchy of Evidence from Studies</vt:lpstr>
      <vt:lpstr>HOW DO WE EXPRESS HOW CERTAIN WE ARE IN THE RESULTS? GRADE: Four levels of certainty</vt:lpstr>
      <vt:lpstr>Summary of Results</vt:lpstr>
      <vt:lpstr>Initial rating depends on study design for body of evidence</vt:lpstr>
      <vt:lpstr>Certainty of evidence: rating down</vt:lpstr>
      <vt:lpstr>Indirect comparison</vt:lpstr>
      <vt:lpstr>Publication bias: funnel plots</vt:lpstr>
      <vt:lpstr>Decision Analysis Model</vt:lpstr>
      <vt:lpstr>PowerPoint Presentation</vt:lpstr>
      <vt:lpstr>Observational Studies</vt:lpstr>
      <vt:lpstr>Observational Studies vs Clinical Trials</vt:lpstr>
      <vt:lpstr>Sources of Data for Observational Studies in CER</vt:lpstr>
      <vt:lpstr>RWE: Real-World Evidence</vt:lpstr>
      <vt:lpstr>Uses and Advantages of Observational Studies</vt:lpstr>
      <vt:lpstr>Observational Studies in CER</vt:lpstr>
      <vt:lpstr>PowerPoint Presentation</vt:lpstr>
      <vt:lpstr>PCORI Methodology Standards for Use of Registries</vt:lpstr>
      <vt:lpstr>PowerPoint Presentation</vt:lpstr>
      <vt:lpstr>Pragmatic Clinical Trials</vt:lpstr>
      <vt:lpstr>Clinical Trials (always experimental)</vt:lpstr>
      <vt:lpstr>Pragmatic Clinical Trials</vt:lpstr>
      <vt:lpstr>Explanatory vs Pragmatic Trials</vt:lpstr>
      <vt:lpstr>\</vt:lpstr>
      <vt:lpstr>ISIS-2 trial – 17,187 cases of suspected acute myocardial infarction (Lancet 1988) </vt:lpstr>
      <vt:lpstr>ACP- PEACE. Promoting Effective and Aligned Communication in the Elderly </vt:lpstr>
      <vt:lpstr>PowerPoint Presentation</vt:lpstr>
      <vt:lpstr>“Far better an approximate answer to the right question, which is often vague, than an exact answer to the wrong question, which can always be made precise.”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presentation</dc:title>
  <dc:creator>Suarez-Almazor,Maria</dc:creator>
  <cp:lastModifiedBy>Suarez-Almazor,Maria</cp:lastModifiedBy>
  <cp:revision>88</cp:revision>
  <dcterms:created xsi:type="dcterms:W3CDTF">2024-09-03T13:30:27Z</dcterms:created>
  <dcterms:modified xsi:type="dcterms:W3CDTF">2025-11-13T22:43:03Z</dcterms:modified>
</cp:coreProperties>
</file>